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01C42-9051-D277-A70E-B48F498BA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6FD1CC-695A-6A54-8364-671617CB86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11E3C-923C-18C5-5A6D-6C59AE84B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11C8E-6063-4129-BD22-C069975A38E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21628-89C4-93FC-1936-C60140A84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72637-2E75-F48C-D3B1-6495F6B3F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369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469A6-2BB1-4542-C368-BEB928607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22E6E-D49D-7CD0-B105-78DB7389F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DA56D-81FD-6110-076E-ED804573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11C8E-6063-4129-BD22-C069975A38E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BE029-DB1F-7C7B-081D-9EDECD76A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CFC28-041B-6728-64C7-A7CDC0CC3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305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0AA1F-A754-F9E2-C347-ABEF58E82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A16BD-A542-7C4E-9901-FB4A22116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45571-44DC-2198-E372-1427CBE38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11C8E-6063-4129-BD22-C069975A38E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4C251-5713-60E8-A9D7-3A7DA6A09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F2D57-F213-B586-7285-259FEA72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281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04CC2-E08B-47EE-4C29-FB141E17C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1C518-FDA3-5827-26B9-C0D319822B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D2CE2E-C08B-716C-F871-1E315BEB3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D7BF63-D793-21E3-12B2-AEFC4B90C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11C8E-6063-4129-BD22-C069975A38E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530B48-725E-5209-4E19-2B609AC13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FDD292-D298-20E4-965C-A0CD850A5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305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F068D-B1C5-1657-43EB-E94BD5992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A2BF6-AE75-2B4B-C670-9E348F2E0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CA2E2-B79A-7DD4-4CF8-E08A758F3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47E6F2-1FBE-F7CA-E995-03DC90D46A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66EBDD-5D87-5542-7973-03C5DE761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C2BD17-0CD8-AE4E-E01E-CF26A8A70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11C8E-6063-4129-BD22-C069975A38E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29E5F-7959-71AA-0BDE-650C945D6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B30D2-81B7-9266-4D84-3FD79B6A8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38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BCA2E-B213-2F1F-41AE-9FB3155F3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8E97AA-BD23-C149-2FAE-92476065F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11C8E-6063-4129-BD22-C069975A38E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1BD30B-B0B1-B77E-B149-E4E10FA8A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221539-EE21-9E36-C251-C72FE3FAE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158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692383-A50B-9711-6E52-618B19D75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11C8E-6063-4129-BD22-C069975A38E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E71A3-BF6F-062D-2F1A-3E871D8C7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54246-F278-29C4-3EB6-302DA1424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921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D01CB-5226-48EC-E15E-02376C832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33109-487F-B702-092B-B99E6F265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E4A705-5223-5B5A-2479-415E6346B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55456B-FEC6-A8A7-CCAD-717408FCB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11C8E-6063-4129-BD22-C069975A38E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92CAA-A12F-3BD1-B01C-D885D4252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A81860-A52B-85A3-24D9-1BCE45384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816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16027-2D34-1FAB-E6B0-F9A92A33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F73E9C-B29E-B842-7AF4-BF6690C5F5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7C9568-D6FF-A060-BC4A-1BCAF8E332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0B844-8980-CEE6-77AC-B4E78383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11C8E-6063-4129-BD22-C069975A38E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910A86-B436-17DC-55ED-4BE2A4FE5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B9DF8-8239-0DA0-776A-E1A5DAFDE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61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DF4DD-AC6E-4BA0-279F-0CA960E57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51C5F5-311A-C3F1-2401-DC61ED498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AA952-F198-8B1C-A8A3-3A598A3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11C8E-6063-4129-BD22-C069975A38E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09795-5F2F-10D1-1FF2-6CC9CC193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C593C-BE54-2E3B-7D5F-86AEBC131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2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4C2589-FB1D-6EA1-87AA-6398EE3C16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44E556-1781-F350-FE78-B3A0002E1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D8EEC-B002-E672-AC2E-F1977B432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11C8E-6063-4129-BD22-C069975A38E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5C241-A8AC-9302-C8EA-90DCB165B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B6C79-7851-DEB1-A090-7BA684E35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504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8FF0A2-783F-3EDB-0890-AE0F06CC5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6F911-60CC-3E28-B3F4-D88C1BA94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D06E4-F87D-7C75-1359-55F412D394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811C8E-6063-4129-BD22-C069975A38E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69466-4369-A56E-1E8D-9FA41FA97D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FC501-76B9-A361-5387-A4DB2BCA7E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006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0319E4-E57C-CF2A-D0D2-393D7B542DAF}"/>
              </a:ext>
            </a:extLst>
          </p:cNvPr>
          <p:cNvSpPr txBox="1"/>
          <p:nvPr/>
        </p:nvSpPr>
        <p:spPr>
          <a:xfrm>
            <a:off x="356527" y="290530"/>
            <a:ext cx="5484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A. </a:t>
            </a:r>
            <a:r>
              <a:rPr lang="en-US" sz="1600" dirty="0"/>
              <a:t>Data preprocessing</a:t>
            </a:r>
            <a:endParaRPr lang="en-US" sz="2001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385EF19-2C34-F5EC-27D7-CD1AE49EDE85}"/>
              </a:ext>
            </a:extLst>
          </p:cNvPr>
          <p:cNvGrpSpPr/>
          <p:nvPr/>
        </p:nvGrpSpPr>
        <p:grpSpPr>
          <a:xfrm>
            <a:off x="10146436" y="901708"/>
            <a:ext cx="1920219" cy="977846"/>
            <a:chOff x="4598924" y="4776369"/>
            <a:chExt cx="2972700" cy="1062282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C0BEB3EB-7C5E-CBFD-C861-54A7E879CA6E}"/>
                </a:ext>
              </a:extLst>
            </p:cNvPr>
            <p:cNvSpPr/>
            <p:nvPr/>
          </p:nvSpPr>
          <p:spPr>
            <a:xfrm>
              <a:off x="4598924" y="4776369"/>
              <a:ext cx="2935575" cy="1062282"/>
            </a:xfrm>
            <a:prstGeom prst="roundRect">
              <a:avLst/>
            </a:prstGeom>
            <a:solidFill>
              <a:srgbClr val="C7C7C7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73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3262B23-BF91-1C13-7FB3-A789A67F09A4}"/>
                </a:ext>
              </a:extLst>
            </p:cNvPr>
            <p:cNvSpPr txBox="1"/>
            <p:nvPr/>
          </p:nvSpPr>
          <p:spPr>
            <a:xfrm>
              <a:off x="4636049" y="4988698"/>
              <a:ext cx="2935575" cy="651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/>
                <a:t>Final evaluation set – 70 drug pair instances</a:t>
              </a:r>
              <a:br>
                <a:rPr lang="en-US" sz="1100" dirty="0"/>
              </a:br>
              <a:r>
                <a:rPr lang="en-US" sz="1100" dirty="0"/>
                <a:t> 17 antibacterials</a:t>
              </a:r>
            </a:p>
          </p:txBody>
        </p:sp>
      </p:grpSp>
      <p:pic>
        <p:nvPicPr>
          <p:cNvPr id="8" name="Graphic 7">
            <a:extLst>
              <a:ext uri="{FF2B5EF4-FFF2-40B4-BE49-F238E27FC236}">
                <a16:creationId xmlns:a16="http://schemas.microsoft.com/office/drawing/2014/main" id="{A371296E-163E-AF2B-B626-0489A222CC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99247" y="1718908"/>
            <a:ext cx="261050" cy="32129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4ACDC15-30E7-054A-CEEB-2C2161864CAF}"/>
              </a:ext>
            </a:extLst>
          </p:cNvPr>
          <p:cNvGrpSpPr/>
          <p:nvPr/>
        </p:nvGrpSpPr>
        <p:grpSpPr>
          <a:xfrm>
            <a:off x="5920465" y="921484"/>
            <a:ext cx="4281018" cy="944678"/>
            <a:chOff x="5625157" y="1430728"/>
            <a:chExt cx="4281018" cy="944678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6A309C1-2E52-481B-DC4A-1A9CF75C8870}"/>
                </a:ext>
              </a:extLst>
            </p:cNvPr>
            <p:cNvGrpSpPr/>
            <p:nvPr/>
          </p:nvGrpSpPr>
          <p:grpSpPr>
            <a:xfrm>
              <a:off x="6754672" y="1430728"/>
              <a:ext cx="3151503" cy="944678"/>
              <a:chOff x="7393507" y="1012899"/>
              <a:chExt cx="3151503" cy="944678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D865DF0-F9ED-FBA3-FBE2-D568656DE534}"/>
                  </a:ext>
                </a:extLst>
              </p:cNvPr>
              <p:cNvSpPr txBox="1"/>
              <p:nvPr/>
            </p:nvSpPr>
            <p:spPr>
              <a:xfrm>
                <a:off x="9328603" y="1020533"/>
                <a:ext cx="108578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Synergy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69F8229-3F6B-D414-9EF3-06987A327FF0}"/>
                  </a:ext>
                </a:extLst>
              </p:cNvPr>
              <p:cNvSpPr txBox="1"/>
              <p:nvPr/>
            </p:nvSpPr>
            <p:spPr>
              <a:xfrm>
                <a:off x="9340689" y="1368222"/>
                <a:ext cx="120432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Additivity </a:t>
                </a:r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74091AEF-A775-58C8-105F-97EF4D91914D}"/>
                  </a:ext>
                </a:extLst>
              </p:cNvPr>
              <p:cNvGrpSpPr/>
              <p:nvPr/>
            </p:nvGrpSpPr>
            <p:grpSpPr>
              <a:xfrm>
                <a:off x="7393507" y="1012899"/>
                <a:ext cx="3144418" cy="944678"/>
                <a:chOff x="7393507" y="1012899"/>
                <a:chExt cx="3144418" cy="944678"/>
              </a:xfrm>
            </p:grpSpPr>
            <p:grpSp>
              <p:nvGrpSpPr>
                <p:cNvPr id="34" name="Group 33">
                  <a:extLst>
                    <a:ext uri="{FF2B5EF4-FFF2-40B4-BE49-F238E27FC236}">
                      <a16:creationId xmlns:a16="http://schemas.microsoft.com/office/drawing/2014/main" id="{04B2FCB9-102D-DBC8-F6D4-E78194ECC9F6}"/>
                    </a:ext>
                  </a:extLst>
                </p:cNvPr>
                <p:cNvGrpSpPr/>
                <p:nvPr/>
              </p:nvGrpSpPr>
              <p:grpSpPr>
                <a:xfrm>
                  <a:off x="7393507" y="1085914"/>
                  <a:ext cx="1921092" cy="810631"/>
                  <a:chOff x="7413954" y="1077600"/>
                  <a:chExt cx="1921092" cy="810631"/>
                </a:xfrm>
              </p:grpSpPr>
              <p:pic>
                <p:nvPicPr>
                  <p:cNvPr id="40" name="Graphic 39">
                    <a:extLst>
                      <a:ext uri="{FF2B5EF4-FFF2-40B4-BE49-F238E27FC236}">
                        <a16:creationId xmlns:a16="http://schemas.microsoft.com/office/drawing/2014/main" id="{4ED82DA9-B0E8-A18C-D1A3-20B7B7A2EC9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413954" y="1077600"/>
                    <a:ext cx="668312" cy="810631"/>
                  </a:xfrm>
                  <a:prstGeom prst="rect">
                    <a:avLst/>
                  </a:prstGeom>
                </p:spPr>
              </p:pic>
              <p:grpSp>
                <p:nvGrpSpPr>
                  <p:cNvPr id="41" name="Group 40">
                    <a:extLst>
                      <a:ext uri="{FF2B5EF4-FFF2-40B4-BE49-F238E27FC236}">
                        <a16:creationId xmlns:a16="http://schemas.microsoft.com/office/drawing/2014/main" id="{C0928299-BBE2-894E-F041-45AAD2CF7860}"/>
                      </a:ext>
                    </a:extLst>
                  </p:cNvPr>
                  <p:cNvGrpSpPr/>
                  <p:nvPr/>
                </p:nvGrpSpPr>
                <p:grpSpPr>
                  <a:xfrm>
                    <a:off x="8059594" y="1355196"/>
                    <a:ext cx="1275452" cy="255762"/>
                    <a:chOff x="7924228" y="59196"/>
                    <a:chExt cx="1275452" cy="255762"/>
                  </a:xfrm>
                </p:grpSpPr>
                <p:sp>
                  <p:nvSpPr>
                    <p:cNvPr id="42" name="Rectangle: Rounded Corners 41">
                      <a:extLst>
                        <a:ext uri="{FF2B5EF4-FFF2-40B4-BE49-F238E27FC236}">
                          <a16:creationId xmlns:a16="http://schemas.microsoft.com/office/drawing/2014/main" id="{2BA8C0C0-AA8F-C368-FB38-2DE661201D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65904" y="59196"/>
                      <a:ext cx="1204321" cy="230414"/>
                    </a:xfrm>
                    <a:prstGeom prst="round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373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3" name="TextBox 42">
                          <a:extLst>
                            <a:ext uri="{FF2B5EF4-FFF2-40B4-BE49-F238E27FC236}">
                              <a16:creationId xmlns:a16="http://schemas.microsoft.com/office/drawing/2014/main" id="{F71D505C-FC76-C59E-E2C4-056074DE86E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924228" y="68865"/>
                          <a:ext cx="1275452" cy="246093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99" smtClean="0">
                                    <a:latin typeface="Cambria Math" panose="02040503050406030204" pitchFamily="18" charset="0"/>
                                  </a:rPr>
                                  <m:t>−0.</m:t>
                                </m:r>
                                <m:r>
                                  <a:rPr lang="en-US" sz="999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sz="99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m:rPr>
                                    <m:nor/>
                                  </m:rPr>
                                  <a:rPr lang="el-GR" sz="1000" dirty="0" smtClean="0"/>
                                  <m:t>α</m:t>
                                </m:r>
                                <m:r>
                                  <a:rPr lang="en-US" sz="999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999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999" b="0" i="0" smtClean="0">
                                    <a:latin typeface="Cambria Math" panose="02040503050406030204" pitchFamily="18" charset="0"/>
                                  </a:rPr>
                                  <m:t>1.0</m:t>
                                </m:r>
                              </m:oMath>
                            </m:oMathPara>
                          </a14:m>
                          <a:endParaRPr lang="en-US" sz="999" dirty="0"/>
                        </a:p>
                      </p:txBody>
                    </p:sp>
                  </mc:Choice>
                  <mc:Fallback xmlns="">
                    <p:sp>
                      <p:nvSpPr>
                        <p:cNvPr id="43" name="TextBox 42">
                          <a:extLst>
                            <a:ext uri="{FF2B5EF4-FFF2-40B4-BE49-F238E27FC236}">
                              <a16:creationId xmlns:a16="http://schemas.microsoft.com/office/drawing/2014/main" id="{F71D505C-FC76-C59E-E2C4-056074DE86E9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7924228" y="68865"/>
                          <a:ext cx="1275452" cy="246093"/>
                        </a:xfrm>
                        <a:prstGeom prst="rect">
                          <a:avLst/>
                        </a:prstGeom>
                        <a:blipFill>
                          <a:blip r:embed="rId6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</p:grpSp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251DAAB3-A1A8-02A9-7542-13D33373A8F2}"/>
                    </a:ext>
                  </a:extLst>
                </p:cNvPr>
                <p:cNvSpPr/>
                <p:nvPr/>
              </p:nvSpPr>
              <p:spPr>
                <a:xfrm>
                  <a:off x="8080823" y="1025452"/>
                  <a:ext cx="1174730" cy="230414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73"/>
                </a:p>
              </p:txBody>
            </p:sp>
            <p:sp>
              <p:nvSpPr>
                <p:cNvPr id="36" name="Rectangle: Rounded Corners 35">
                  <a:extLst>
                    <a:ext uri="{FF2B5EF4-FFF2-40B4-BE49-F238E27FC236}">
                      <a16:creationId xmlns:a16="http://schemas.microsoft.com/office/drawing/2014/main" id="{8F2381E4-AEA9-1953-83F0-30A82077700C}"/>
                    </a:ext>
                  </a:extLst>
                </p:cNvPr>
                <p:cNvSpPr/>
                <p:nvPr/>
              </p:nvSpPr>
              <p:spPr>
                <a:xfrm>
                  <a:off x="8087909" y="1696668"/>
                  <a:ext cx="1197235" cy="230414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73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7" name="TextBox 36">
                      <a:extLst>
                        <a:ext uri="{FF2B5EF4-FFF2-40B4-BE49-F238E27FC236}">
                          <a16:creationId xmlns:a16="http://schemas.microsoft.com/office/drawing/2014/main" id="{C582EE43-A696-DD80-EB1A-C8EDFF27AFD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235534" y="1012899"/>
                      <a:ext cx="845494" cy="246093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nor/>
                              </m:rPr>
                              <a:rPr lang="el-GR" sz="1000" dirty="0" smtClean="0"/>
                              <m:t>α</m:t>
                            </m:r>
                            <m:r>
                              <a:rPr lang="en-US" sz="999">
                                <a:latin typeface="Cambria Math" panose="02040503050406030204" pitchFamily="18" charset="0"/>
                              </a:rPr>
                              <m:t>&lt;−0.5</m:t>
                            </m:r>
                          </m:oMath>
                        </m:oMathPara>
                      </a14:m>
                      <a:endParaRPr lang="en-US" sz="999" dirty="0"/>
                    </a:p>
                  </p:txBody>
                </p:sp>
              </mc:Choice>
              <mc:Fallback xmlns="">
                <p:sp>
                  <p:nvSpPr>
                    <p:cNvPr id="37" name="TextBox 36">
                      <a:extLst>
                        <a:ext uri="{FF2B5EF4-FFF2-40B4-BE49-F238E27FC236}">
                          <a16:creationId xmlns:a16="http://schemas.microsoft.com/office/drawing/2014/main" id="{C582EE43-A696-DD80-EB1A-C8EDFF27AFD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235534" y="1012899"/>
                      <a:ext cx="845494" cy="246093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" name="TextBox 37">
                      <a:extLst>
                        <a:ext uri="{FF2B5EF4-FFF2-40B4-BE49-F238E27FC236}">
                          <a16:creationId xmlns:a16="http://schemas.microsoft.com/office/drawing/2014/main" id="{8363DBC1-B3FD-1D34-6A06-F5F80E46C6F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302489" y="1695033"/>
                      <a:ext cx="771439" cy="246093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nor/>
                              </m:rPr>
                              <a:rPr lang="el-GR" sz="1000" dirty="0" smtClean="0"/>
                              <m:t>α</m:t>
                            </m:r>
                            <m:r>
                              <a:rPr lang="en-US" sz="999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sz="999" b="0" i="1" smtClean="0">
                                <a:latin typeface="Cambria Math" panose="02040503050406030204" pitchFamily="18" charset="0"/>
                              </a:rPr>
                              <m:t>1.0</m:t>
                            </m:r>
                          </m:oMath>
                        </m:oMathPara>
                      </a14:m>
                      <a:endParaRPr lang="en-US" sz="999" dirty="0"/>
                    </a:p>
                  </p:txBody>
                </p:sp>
              </mc:Choice>
              <mc:Fallback xmlns="">
                <p:sp>
                  <p:nvSpPr>
                    <p:cNvPr id="38" name="TextBox 37">
                      <a:extLst>
                        <a:ext uri="{FF2B5EF4-FFF2-40B4-BE49-F238E27FC236}">
                          <a16:creationId xmlns:a16="http://schemas.microsoft.com/office/drawing/2014/main" id="{8363DBC1-B3FD-1D34-6A06-F5F80E46C6F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302489" y="1695033"/>
                      <a:ext cx="771439" cy="246093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8D53BBC0-9DA6-7043-C16B-AB1BBD2602C3}"/>
                    </a:ext>
                  </a:extLst>
                </p:cNvPr>
                <p:cNvSpPr txBox="1"/>
                <p:nvPr/>
              </p:nvSpPr>
              <p:spPr>
                <a:xfrm>
                  <a:off x="9340690" y="1680578"/>
                  <a:ext cx="119723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Antagonism</a:t>
                  </a:r>
                </a:p>
              </p:txBody>
            </p:sp>
          </p:grp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8C412CA-6F60-4120-B866-A8D7E5790654}"/>
                </a:ext>
              </a:extLst>
            </p:cNvPr>
            <p:cNvSpPr txBox="1"/>
            <p:nvPr/>
          </p:nvSpPr>
          <p:spPr>
            <a:xfrm>
              <a:off x="5625157" y="1679821"/>
              <a:ext cx="1245016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Using Loewe </a:t>
              </a:r>
              <a:r>
                <a:rPr lang="el-GR" sz="1100" dirty="0"/>
                <a:t>α </a:t>
              </a:r>
              <a:endParaRPr lang="en-US" sz="1100" dirty="0"/>
            </a:p>
            <a:p>
              <a:pPr algn="ctr"/>
              <a:r>
                <a:rPr lang="en-US" sz="1100" dirty="0"/>
                <a:t>to assign labels</a:t>
              </a:r>
            </a:p>
          </p:txBody>
        </p:sp>
      </p:grp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9D7D310-BC25-598A-E298-C6FCE98ED08A}"/>
              </a:ext>
            </a:extLst>
          </p:cNvPr>
          <p:cNvSpPr/>
          <p:nvPr/>
        </p:nvSpPr>
        <p:spPr>
          <a:xfrm>
            <a:off x="2936951" y="947399"/>
            <a:ext cx="2680650" cy="851442"/>
          </a:xfrm>
          <a:prstGeom prst="roundRect">
            <a:avLst/>
          </a:prstGeom>
          <a:solidFill>
            <a:srgbClr val="8DC5C1"/>
          </a:solidFill>
          <a:ln>
            <a:solidFill>
              <a:srgbClr val="8DC5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73" dirty="0"/>
          </a:p>
        </p:txBody>
      </p:sp>
      <p:grpSp>
        <p:nvGrpSpPr>
          <p:cNvPr id="47" name="Google Shape;5209;p65">
            <a:extLst>
              <a:ext uri="{FF2B5EF4-FFF2-40B4-BE49-F238E27FC236}">
                <a16:creationId xmlns:a16="http://schemas.microsoft.com/office/drawing/2014/main" id="{85749226-5E91-FD24-9521-7FE09C1ACECB}"/>
              </a:ext>
            </a:extLst>
          </p:cNvPr>
          <p:cNvGrpSpPr/>
          <p:nvPr/>
        </p:nvGrpSpPr>
        <p:grpSpPr>
          <a:xfrm>
            <a:off x="2936951" y="584658"/>
            <a:ext cx="456526" cy="511929"/>
            <a:chOff x="5985650" y="2860025"/>
            <a:chExt cx="1396075" cy="1539775"/>
          </a:xfrm>
          <a:solidFill>
            <a:schemeClr val="accent1">
              <a:lumMod val="75000"/>
            </a:schemeClr>
          </a:solidFill>
        </p:grpSpPr>
        <p:sp>
          <p:nvSpPr>
            <p:cNvPr id="49" name="Google Shape;5210;p65">
              <a:extLst>
                <a:ext uri="{FF2B5EF4-FFF2-40B4-BE49-F238E27FC236}">
                  <a16:creationId xmlns:a16="http://schemas.microsoft.com/office/drawing/2014/main" id="{7472B25B-9165-BE91-EB5E-C21E24F0C8B5}"/>
                </a:ext>
              </a:extLst>
            </p:cNvPr>
            <p:cNvSpPr/>
            <p:nvPr/>
          </p:nvSpPr>
          <p:spPr>
            <a:xfrm>
              <a:off x="6655300" y="3128850"/>
              <a:ext cx="637150" cy="631950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50" name="Google Shape;5211;p65">
              <a:extLst>
                <a:ext uri="{FF2B5EF4-FFF2-40B4-BE49-F238E27FC236}">
                  <a16:creationId xmlns:a16="http://schemas.microsoft.com/office/drawing/2014/main" id="{6437B250-258B-0C2F-C643-D436EF616414}"/>
                </a:ext>
              </a:extLst>
            </p:cNvPr>
            <p:cNvSpPr/>
            <p:nvPr/>
          </p:nvSpPr>
          <p:spPr>
            <a:xfrm>
              <a:off x="6673425" y="3771400"/>
              <a:ext cx="600850" cy="600800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51" name="Google Shape;5212;p65">
              <a:extLst>
                <a:ext uri="{FF2B5EF4-FFF2-40B4-BE49-F238E27FC236}">
                  <a16:creationId xmlns:a16="http://schemas.microsoft.com/office/drawing/2014/main" id="{03C10D88-2863-3A39-D5A8-0E8A76D8D6E2}"/>
                </a:ext>
              </a:extLst>
            </p:cNvPr>
            <p:cNvSpPr/>
            <p:nvPr/>
          </p:nvSpPr>
          <p:spPr>
            <a:xfrm>
              <a:off x="6073050" y="3509700"/>
              <a:ext cx="641725" cy="636800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52" name="Google Shape;5213;p65">
              <a:extLst>
                <a:ext uri="{FF2B5EF4-FFF2-40B4-BE49-F238E27FC236}">
                  <a16:creationId xmlns:a16="http://schemas.microsoft.com/office/drawing/2014/main" id="{240E2BEF-9634-17F5-806C-03E7128D56B2}"/>
                </a:ext>
              </a:extLst>
            </p:cNvPr>
            <p:cNvSpPr/>
            <p:nvPr/>
          </p:nvSpPr>
          <p:spPr>
            <a:xfrm>
              <a:off x="6124575" y="2917775"/>
              <a:ext cx="572575" cy="572525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53" name="Google Shape;5214;p65">
              <a:extLst>
                <a:ext uri="{FF2B5EF4-FFF2-40B4-BE49-F238E27FC236}">
                  <a16:creationId xmlns:a16="http://schemas.microsoft.com/office/drawing/2014/main" id="{81254515-B381-2F4B-CEBE-41786E52915B}"/>
                </a:ext>
              </a:extLst>
            </p:cNvPr>
            <p:cNvSpPr/>
            <p:nvPr/>
          </p:nvSpPr>
          <p:spPr>
            <a:xfrm>
              <a:off x="6459975" y="2867300"/>
              <a:ext cx="101300" cy="50500"/>
            </a:xfrm>
            <a:custGeom>
              <a:avLst/>
              <a:gdLst/>
              <a:ahLst/>
              <a:cxnLst/>
              <a:rect l="l" t="t" r="r" b="b"/>
              <a:pathLst>
                <a:path w="4052" h="2020" extrusionOk="0">
                  <a:moveTo>
                    <a:pt x="272" y="1"/>
                  </a:moveTo>
                  <a:cubicBezTo>
                    <a:pt x="157" y="1"/>
                    <a:pt x="54" y="82"/>
                    <a:pt x="29" y="200"/>
                  </a:cubicBezTo>
                  <a:cubicBezTo>
                    <a:pt x="0" y="338"/>
                    <a:pt x="87" y="474"/>
                    <a:pt x="225" y="507"/>
                  </a:cubicBezTo>
                  <a:cubicBezTo>
                    <a:pt x="1077" y="719"/>
                    <a:pt x="1895" y="1049"/>
                    <a:pt x="2657" y="1486"/>
                  </a:cubicBezTo>
                  <a:lnTo>
                    <a:pt x="2505" y="1740"/>
                  </a:lnTo>
                  <a:cubicBezTo>
                    <a:pt x="2459" y="1819"/>
                    <a:pt x="2511" y="1918"/>
                    <a:pt x="2603" y="1926"/>
                  </a:cubicBezTo>
                  <a:lnTo>
                    <a:pt x="3887" y="2019"/>
                  </a:lnTo>
                  <a:cubicBezTo>
                    <a:pt x="3890" y="2019"/>
                    <a:pt x="3893" y="2019"/>
                    <a:pt x="3895" y="2019"/>
                  </a:cubicBezTo>
                  <a:cubicBezTo>
                    <a:pt x="3991" y="2019"/>
                    <a:pt x="4052" y="1913"/>
                    <a:pt x="3999" y="1830"/>
                  </a:cubicBezTo>
                  <a:lnTo>
                    <a:pt x="3302" y="746"/>
                  </a:lnTo>
                  <a:cubicBezTo>
                    <a:pt x="3278" y="709"/>
                    <a:pt x="3239" y="690"/>
                    <a:pt x="3200" y="690"/>
                  </a:cubicBezTo>
                  <a:cubicBezTo>
                    <a:pt x="3159" y="690"/>
                    <a:pt x="3118" y="711"/>
                    <a:pt x="3094" y="751"/>
                  </a:cubicBezTo>
                  <a:lnTo>
                    <a:pt x="2917" y="1047"/>
                  </a:lnTo>
                  <a:cubicBezTo>
                    <a:pt x="2108" y="581"/>
                    <a:pt x="1237" y="230"/>
                    <a:pt x="330" y="8"/>
                  </a:cubicBezTo>
                  <a:cubicBezTo>
                    <a:pt x="311" y="3"/>
                    <a:pt x="291" y="1"/>
                    <a:pt x="2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54" name="Google Shape;5215;p65">
              <a:extLst>
                <a:ext uri="{FF2B5EF4-FFF2-40B4-BE49-F238E27FC236}">
                  <a16:creationId xmlns:a16="http://schemas.microsoft.com/office/drawing/2014/main" id="{DA88BB3A-CCEC-EB24-CEC7-24149603E31D}"/>
                </a:ext>
              </a:extLst>
            </p:cNvPr>
            <p:cNvSpPr/>
            <p:nvPr/>
          </p:nvSpPr>
          <p:spPr>
            <a:xfrm>
              <a:off x="6389025" y="2860025"/>
              <a:ext cx="63100" cy="15700"/>
            </a:xfrm>
            <a:custGeom>
              <a:avLst/>
              <a:gdLst/>
              <a:ahLst/>
              <a:cxnLst/>
              <a:rect l="l" t="t" r="r" b="b"/>
              <a:pathLst>
                <a:path w="2524" h="628" extrusionOk="0">
                  <a:moveTo>
                    <a:pt x="787" y="1"/>
                  </a:moveTo>
                  <a:cubicBezTo>
                    <a:pt x="605" y="1"/>
                    <a:pt x="424" y="7"/>
                    <a:pt x="241" y="19"/>
                  </a:cubicBezTo>
                  <a:cubicBezTo>
                    <a:pt x="103" y="31"/>
                    <a:pt x="1" y="153"/>
                    <a:pt x="11" y="291"/>
                  </a:cubicBezTo>
                  <a:cubicBezTo>
                    <a:pt x="20" y="425"/>
                    <a:pt x="132" y="528"/>
                    <a:pt x="263" y="528"/>
                  </a:cubicBezTo>
                  <a:cubicBezTo>
                    <a:pt x="268" y="528"/>
                    <a:pt x="273" y="528"/>
                    <a:pt x="278" y="528"/>
                  </a:cubicBezTo>
                  <a:cubicBezTo>
                    <a:pt x="448" y="518"/>
                    <a:pt x="617" y="512"/>
                    <a:pt x="787" y="512"/>
                  </a:cubicBezTo>
                  <a:cubicBezTo>
                    <a:pt x="1261" y="512"/>
                    <a:pt x="1734" y="550"/>
                    <a:pt x="2203" y="624"/>
                  </a:cubicBezTo>
                  <a:cubicBezTo>
                    <a:pt x="2217" y="626"/>
                    <a:pt x="2231" y="627"/>
                    <a:pt x="2245" y="627"/>
                  </a:cubicBezTo>
                  <a:cubicBezTo>
                    <a:pt x="2363" y="627"/>
                    <a:pt x="2470" y="544"/>
                    <a:pt x="2494" y="424"/>
                  </a:cubicBezTo>
                  <a:cubicBezTo>
                    <a:pt x="2523" y="283"/>
                    <a:pt x="2430" y="145"/>
                    <a:pt x="2288" y="121"/>
                  </a:cubicBezTo>
                  <a:cubicBezTo>
                    <a:pt x="1791" y="43"/>
                    <a:pt x="1288" y="3"/>
                    <a:pt x="7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55" name="Google Shape;5216;p65">
              <a:extLst>
                <a:ext uri="{FF2B5EF4-FFF2-40B4-BE49-F238E27FC236}">
                  <a16:creationId xmlns:a16="http://schemas.microsoft.com/office/drawing/2014/main" id="{E0F386CD-AA74-5975-4CB9-19ADFD4B9CD5}"/>
                </a:ext>
              </a:extLst>
            </p:cNvPr>
            <p:cNvSpPr/>
            <p:nvPr/>
          </p:nvSpPr>
          <p:spPr>
            <a:xfrm>
              <a:off x="6279750" y="2879875"/>
              <a:ext cx="39600" cy="26000"/>
            </a:xfrm>
            <a:custGeom>
              <a:avLst/>
              <a:gdLst/>
              <a:ahLst/>
              <a:cxnLst/>
              <a:rect l="l" t="t" r="r" b="b"/>
              <a:pathLst>
                <a:path w="1584" h="1040" extrusionOk="0">
                  <a:moveTo>
                    <a:pt x="1330" y="1"/>
                  </a:moveTo>
                  <a:cubicBezTo>
                    <a:pt x="1303" y="1"/>
                    <a:pt x="1276" y="6"/>
                    <a:pt x="1249" y="17"/>
                  </a:cubicBezTo>
                  <a:cubicBezTo>
                    <a:pt x="878" y="174"/>
                    <a:pt x="518" y="355"/>
                    <a:pt x="168" y="557"/>
                  </a:cubicBezTo>
                  <a:cubicBezTo>
                    <a:pt x="58" y="621"/>
                    <a:pt x="0" y="757"/>
                    <a:pt x="47" y="876"/>
                  </a:cubicBezTo>
                  <a:cubicBezTo>
                    <a:pt x="86" y="979"/>
                    <a:pt x="183" y="1040"/>
                    <a:pt x="284" y="1040"/>
                  </a:cubicBezTo>
                  <a:cubicBezTo>
                    <a:pt x="327" y="1040"/>
                    <a:pt x="371" y="1029"/>
                    <a:pt x="412" y="1005"/>
                  </a:cubicBezTo>
                  <a:cubicBezTo>
                    <a:pt x="727" y="823"/>
                    <a:pt x="1054" y="658"/>
                    <a:pt x="1389" y="512"/>
                  </a:cubicBezTo>
                  <a:cubicBezTo>
                    <a:pt x="1518" y="458"/>
                    <a:pt x="1584" y="312"/>
                    <a:pt x="1538" y="177"/>
                  </a:cubicBezTo>
                  <a:lnTo>
                    <a:pt x="1525" y="141"/>
                  </a:lnTo>
                  <a:cubicBezTo>
                    <a:pt x="1496" y="54"/>
                    <a:pt x="1415" y="1"/>
                    <a:pt x="13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56" name="Google Shape;5217;p65">
              <a:extLst>
                <a:ext uri="{FF2B5EF4-FFF2-40B4-BE49-F238E27FC236}">
                  <a16:creationId xmlns:a16="http://schemas.microsoft.com/office/drawing/2014/main" id="{7F6BD483-A120-9217-E388-CED781B529F0}"/>
                </a:ext>
              </a:extLst>
            </p:cNvPr>
            <p:cNvSpPr/>
            <p:nvPr/>
          </p:nvSpPr>
          <p:spPr>
            <a:xfrm>
              <a:off x="6325825" y="2862750"/>
              <a:ext cx="54425" cy="22400"/>
            </a:xfrm>
            <a:custGeom>
              <a:avLst/>
              <a:gdLst/>
              <a:ahLst/>
              <a:cxnLst/>
              <a:rect l="l" t="t" r="r" b="b"/>
              <a:pathLst>
                <a:path w="2177" h="896" extrusionOk="0">
                  <a:moveTo>
                    <a:pt x="1906" y="0"/>
                  </a:moveTo>
                  <a:cubicBezTo>
                    <a:pt x="1894" y="0"/>
                    <a:pt x="1883" y="1"/>
                    <a:pt x="1871" y="2"/>
                  </a:cubicBezTo>
                  <a:cubicBezTo>
                    <a:pt x="1306" y="87"/>
                    <a:pt x="748" y="220"/>
                    <a:pt x="205" y="400"/>
                  </a:cubicBezTo>
                  <a:cubicBezTo>
                    <a:pt x="71" y="444"/>
                    <a:pt x="0" y="590"/>
                    <a:pt x="47" y="725"/>
                  </a:cubicBezTo>
                  <a:cubicBezTo>
                    <a:pt x="84" y="829"/>
                    <a:pt x="183" y="895"/>
                    <a:pt x="288" y="895"/>
                  </a:cubicBezTo>
                  <a:cubicBezTo>
                    <a:pt x="316" y="895"/>
                    <a:pt x="343" y="891"/>
                    <a:pt x="370" y="882"/>
                  </a:cubicBezTo>
                  <a:cubicBezTo>
                    <a:pt x="883" y="712"/>
                    <a:pt x="1408" y="587"/>
                    <a:pt x="1941" y="507"/>
                  </a:cubicBezTo>
                  <a:cubicBezTo>
                    <a:pt x="2081" y="488"/>
                    <a:pt x="2177" y="360"/>
                    <a:pt x="2157" y="220"/>
                  </a:cubicBezTo>
                  <a:cubicBezTo>
                    <a:pt x="2140" y="93"/>
                    <a:pt x="2031" y="0"/>
                    <a:pt x="19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57" name="Google Shape;5218;p65">
              <a:extLst>
                <a:ext uri="{FF2B5EF4-FFF2-40B4-BE49-F238E27FC236}">
                  <a16:creationId xmlns:a16="http://schemas.microsoft.com/office/drawing/2014/main" id="{07980292-7E72-A5AD-5245-C810CA1E3242}"/>
                </a:ext>
              </a:extLst>
            </p:cNvPr>
            <p:cNvSpPr/>
            <p:nvPr/>
          </p:nvSpPr>
          <p:spPr>
            <a:xfrm>
              <a:off x="7023725" y="3061400"/>
              <a:ext cx="101300" cy="50475"/>
            </a:xfrm>
            <a:custGeom>
              <a:avLst/>
              <a:gdLst/>
              <a:ahLst/>
              <a:cxnLst/>
              <a:rect l="l" t="t" r="r" b="b"/>
              <a:pathLst>
                <a:path w="4052" h="2019" extrusionOk="0">
                  <a:moveTo>
                    <a:pt x="273" y="0"/>
                  </a:moveTo>
                  <a:cubicBezTo>
                    <a:pt x="158" y="0"/>
                    <a:pt x="53" y="81"/>
                    <a:pt x="29" y="199"/>
                  </a:cubicBezTo>
                  <a:cubicBezTo>
                    <a:pt x="0" y="339"/>
                    <a:pt x="87" y="475"/>
                    <a:pt x="225" y="507"/>
                  </a:cubicBezTo>
                  <a:cubicBezTo>
                    <a:pt x="1077" y="720"/>
                    <a:pt x="1895" y="1048"/>
                    <a:pt x="2655" y="1487"/>
                  </a:cubicBezTo>
                  <a:lnTo>
                    <a:pt x="2505" y="1740"/>
                  </a:lnTo>
                  <a:cubicBezTo>
                    <a:pt x="2459" y="1818"/>
                    <a:pt x="2511" y="1919"/>
                    <a:pt x="2603" y="1925"/>
                  </a:cubicBezTo>
                  <a:lnTo>
                    <a:pt x="3885" y="2018"/>
                  </a:lnTo>
                  <a:cubicBezTo>
                    <a:pt x="3889" y="2019"/>
                    <a:pt x="3892" y="2019"/>
                    <a:pt x="3896" y="2019"/>
                  </a:cubicBezTo>
                  <a:cubicBezTo>
                    <a:pt x="3991" y="2019"/>
                    <a:pt x="4052" y="1911"/>
                    <a:pt x="3999" y="1829"/>
                  </a:cubicBezTo>
                  <a:lnTo>
                    <a:pt x="3302" y="747"/>
                  </a:lnTo>
                  <a:cubicBezTo>
                    <a:pt x="3278" y="709"/>
                    <a:pt x="3238" y="690"/>
                    <a:pt x="3198" y="690"/>
                  </a:cubicBezTo>
                  <a:cubicBezTo>
                    <a:pt x="3157" y="690"/>
                    <a:pt x="3116" y="710"/>
                    <a:pt x="3093" y="750"/>
                  </a:cubicBezTo>
                  <a:lnTo>
                    <a:pt x="2917" y="1048"/>
                  </a:lnTo>
                  <a:cubicBezTo>
                    <a:pt x="2108" y="582"/>
                    <a:pt x="1237" y="231"/>
                    <a:pt x="330" y="7"/>
                  </a:cubicBezTo>
                  <a:cubicBezTo>
                    <a:pt x="311" y="3"/>
                    <a:pt x="292" y="0"/>
                    <a:pt x="2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58" name="Google Shape;5219;p65">
              <a:extLst>
                <a:ext uri="{FF2B5EF4-FFF2-40B4-BE49-F238E27FC236}">
                  <a16:creationId xmlns:a16="http://schemas.microsoft.com/office/drawing/2014/main" id="{6444B095-69E3-A958-BC23-770DF6E62E44}"/>
                </a:ext>
              </a:extLst>
            </p:cNvPr>
            <p:cNvSpPr/>
            <p:nvPr/>
          </p:nvSpPr>
          <p:spPr>
            <a:xfrm>
              <a:off x="6952750" y="3054150"/>
              <a:ext cx="63100" cy="15650"/>
            </a:xfrm>
            <a:custGeom>
              <a:avLst/>
              <a:gdLst/>
              <a:ahLst/>
              <a:cxnLst/>
              <a:rect l="l" t="t" r="r" b="b"/>
              <a:pathLst>
                <a:path w="2524" h="626" extrusionOk="0">
                  <a:moveTo>
                    <a:pt x="787" y="1"/>
                  </a:moveTo>
                  <a:cubicBezTo>
                    <a:pt x="606" y="1"/>
                    <a:pt x="423" y="7"/>
                    <a:pt x="242" y="18"/>
                  </a:cubicBezTo>
                  <a:cubicBezTo>
                    <a:pt x="104" y="31"/>
                    <a:pt x="0" y="151"/>
                    <a:pt x="10" y="291"/>
                  </a:cubicBezTo>
                  <a:cubicBezTo>
                    <a:pt x="21" y="425"/>
                    <a:pt x="131" y="526"/>
                    <a:pt x="264" y="526"/>
                  </a:cubicBezTo>
                  <a:cubicBezTo>
                    <a:pt x="269" y="526"/>
                    <a:pt x="274" y="526"/>
                    <a:pt x="279" y="526"/>
                  </a:cubicBezTo>
                  <a:cubicBezTo>
                    <a:pt x="447" y="516"/>
                    <a:pt x="617" y="510"/>
                    <a:pt x="787" y="510"/>
                  </a:cubicBezTo>
                  <a:cubicBezTo>
                    <a:pt x="1261" y="512"/>
                    <a:pt x="1735" y="548"/>
                    <a:pt x="2204" y="622"/>
                  </a:cubicBezTo>
                  <a:cubicBezTo>
                    <a:pt x="2218" y="624"/>
                    <a:pt x="2232" y="626"/>
                    <a:pt x="2246" y="626"/>
                  </a:cubicBezTo>
                  <a:cubicBezTo>
                    <a:pt x="2364" y="626"/>
                    <a:pt x="2469" y="542"/>
                    <a:pt x="2495" y="422"/>
                  </a:cubicBezTo>
                  <a:cubicBezTo>
                    <a:pt x="2524" y="281"/>
                    <a:pt x="2430" y="145"/>
                    <a:pt x="2289" y="121"/>
                  </a:cubicBezTo>
                  <a:cubicBezTo>
                    <a:pt x="1792" y="41"/>
                    <a:pt x="1289" y="1"/>
                    <a:pt x="7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59" name="Google Shape;5220;p65">
              <a:extLst>
                <a:ext uri="{FF2B5EF4-FFF2-40B4-BE49-F238E27FC236}">
                  <a16:creationId xmlns:a16="http://schemas.microsoft.com/office/drawing/2014/main" id="{D7853B18-623A-92F6-4BAA-7B8DD6DF257C}"/>
                </a:ext>
              </a:extLst>
            </p:cNvPr>
            <p:cNvSpPr/>
            <p:nvPr/>
          </p:nvSpPr>
          <p:spPr>
            <a:xfrm>
              <a:off x="6843450" y="3073975"/>
              <a:ext cx="39625" cy="26025"/>
            </a:xfrm>
            <a:custGeom>
              <a:avLst/>
              <a:gdLst/>
              <a:ahLst/>
              <a:cxnLst/>
              <a:rect l="l" t="t" r="r" b="b"/>
              <a:pathLst>
                <a:path w="1585" h="1041" extrusionOk="0">
                  <a:moveTo>
                    <a:pt x="1331" y="0"/>
                  </a:moveTo>
                  <a:cubicBezTo>
                    <a:pt x="1304" y="0"/>
                    <a:pt x="1277" y="6"/>
                    <a:pt x="1251" y="16"/>
                  </a:cubicBezTo>
                  <a:cubicBezTo>
                    <a:pt x="880" y="175"/>
                    <a:pt x="518" y="356"/>
                    <a:pt x="170" y="558"/>
                  </a:cubicBezTo>
                  <a:cubicBezTo>
                    <a:pt x="60" y="622"/>
                    <a:pt x="1" y="758"/>
                    <a:pt x="47" y="876"/>
                  </a:cubicBezTo>
                  <a:cubicBezTo>
                    <a:pt x="87" y="979"/>
                    <a:pt x="185" y="1040"/>
                    <a:pt x="287" y="1040"/>
                  </a:cubicBezTo>
                  <a:cubicBezTo>
                    <a:pt x="330" y="1040"/>
                    <a:pt x="373" y="1029"/>
                    <a:pt x="414" y="1006"/>
                  </a:cubicBezTo>
                  <a:cubicBezTo>
                    <a:pt x="729" y="822"/>
                    <a:pt x="1056" y="657"/>
                    <a:pt x="1391" y="513"/>
                  </a:cubicBezTo>
                  <a:cubicBezTo>
                    <a:pt x="1520" y="457"/>
                    <a:pt x="1584" y="311"/>
                    <a:pt x="1540" y="178"/>
                  </a:cubicBezTo>
                  <a:lnTo>
                    <a:pt x="1527" y="141"/>
                  </a:lnTo>
                  <a:cubicBezTo>
                    <a:pt x="1497" y="55"/>
                    <a:pt x="1417" y="0"/>
                    <a:pt x="13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60" name="Google Shape;5221;p65">
              <a:extLst>
                <a:ext uri="{FF2B5EF4-FFF2-40B4-BE49-F238E27FC236}">
                  <a16:creationId xmlns:a16="http://schemas.microsoft.com/office/drawing/2014/main" id="{1E0C3F1C-10A8-D044-BE7E-739FA3252EC9}"/>
                </a:ext>
              </a:extLst>
            </p:cNvPr>
            <p:cNvSpPr/>
            <p:nvPr/>
          </p:nvSpPr>
          <p:spPr>
            <a:xfrm>
              <a:off x="6889575" y="3056825"/>
              <a:ext cx="54425" cy="22400"/>
            </a:xfrm>
            <a:custGeom>
              <a:avLst/>
              <a:gdLst/>
              <a:ahLst/>
              <a:cxnLst/>
              <a:rect l="l" t="t" r="r" b="b"/>
              <a:pathLst>
                <a:path w="2177" h="896" extrusionOk="0">
                  <a:moveTo>
                    <a:pt x="1906" y="0"/>
                  </a:moveTo>
                  <a:cubicBezTo>
                    <a:pt x="1894" y="0"/>
                    <a:pt x="1883" y="1"/>
                    <a:pt x="1871" y="3"/>
                  </a:cubicBezTo>
                  <a:lnTo>
                    <a:pt x="1871" y="4"/>
                  </a:lnTo>
                  <a:cubicBezTo>
                    <a:pt x="1306" y="88"/>
                    <a:pt x="748" y="220"/>
                    <a:pt x="205" y="400"/>
                  </a:cubicBezTo>
                  <a:cubicBezTo>
                    <a:pt x="71" y="446"/>
                    <a:pt x="0" y="592"/>
                    <a:pt x="47" y="725"/>
                  </a:cubicBezTo>
                  <a:cubicBezTo>
                    <a:pt x="84" y="830"/>
                    <a:pt x="182" y="896"/>
                    <a:pt x="288" y="896"/>
                  </a:cubicBezTo>
                  <a:cubicBezTo>
                    <a:pt x="315" y="896"/>
                    <a:pt x="343" y="891"/>
                    <a:pt x="370" y="882"/>
                  </a:cubicBezTo>
                  <a:cubicBezTo>
                    <a:pt x="881" y="714"/>
                    <a:pt x="1406" y="587"/>
                    <a:pt x="1940" y="509"/>
                  </a:cubicBezTo>
                  <a:cubicBezTo>
                    <a:pt x="2079" y="490"/>
                    <a:pt x="2177" y="360"/>
                    <a:pt x="2157" y="220"/>
                  </a:cubicBezTo>
                  <a:cubicBezTo>
                    <a:pt x="2140" y="93"/>
                    <a:pt x="2031" y="0"/>
                    <a:pt x="19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61" name="Google Shape;5222;p65">
              <a:extLst>
                <a:ext uri="{FF2B5EF4-FFF2-40B4-BE49-F238E27FC236}">
                  <a16:creationId xmlns:a16="http://schemas.microsoft.com/office/drawing/2014/main" id="{24AB9D1C-E9B5-C5BB-1EEC-6F51092D3667}"/>
                </a:ext>
              </a:extLst>
            </p:cNvPr>
            <p:cNvSpPr/>
            <p:nvPr/>
          </p:nvSpPr>
          <p:spPr>
            <a:xfrm>
              <a:off x="6245350" y="4177200"/>
              <a:ext cx="101275" cy="50475"/>
            </a:xfrm>
            <a:custGeom>
              <a:avLst/>
              <a:gdLst/>
              <a:ahLst/>
              <a:cxnLst/>
              <a:rect l="l" t="t" r="r" b="b"/>
              <a:pathLst>
                <a:path w="4051" h="2019" extrusionOk="0">
                  <a:moveTo>
                    <a:pt x="157" y="1"/>
                  </a:moveTo>
                  <a:cubicBezTo>
                    <a:pt x="61" y="1"/>
                    <a:pt x="1" y="107"/>
                    <a:pt x="54" y="190"/>
                  </a:cubicBezTo>
                  <a:lnTo>
                    <a:pt x="750" y="1274"/>
                  </a:lnTo>
                  <a:cubicBezTo>
                    <a:pt x="774" y="1311"/>
                    <a:pt x="813" y="1330"/>
                    <a:pt x="852" y="1330"/>
                  </a:cubicBezTo>
                  <a:cubicBezTo>
                    <a:pt x="893" y="1330"/>
                    <a:pt x="935" y="1309"/>
                    <a:pt x="958" y="1269"/>
                  </a:cubicBezTo>
                  <a:lnTo>
                    <a:pt x="1136" y="973"/>
                  </a:lnTo>
                  <a:cubicBezTo>
                    <a:pt x="1945" y="1439"/>
                    <a:pt x="2816" y="1788"/>
                    <a:pt x="3722" y="2012"/>
                  </a:cubicBezTo>
                  <a:cubicBezTo>
                    <a:pt x="3741" y="2017"/>
                    <a:pt x="3761" y="2019"/>
                    <a:pt x="3779" y="2019"/>
                  </a:cubicBezTo>
                  <a:cubicBezTo>
                    <a:pt x="3895" y="2019"/>
                    <a:pt x="3999" y="1938"/>
                    <a:pt x="4023" y="1820"/>
                  </a:cubicBezTo>
                  <a:cubicBezTo>
                    <a:pt x="4051" y="1682"/>
                    <a:pt x="3964" y="1546"/>
                    <a:pt x="3828" y="1512"/>
                  </a:cubicBezTo>
                  <a:cubicBezTo>
                    <a:pt x="2976" y="1301"/>
                    <a:pt x="2158" y="971"/>
                    <a:pt x="1396" y="534"/>
                  </a:cubicBezTo>
                  <a:lnTo>
                    <a:pt x="1548" y="279"/>
                  </a:lnTo>
                  <a:cubicBezTo>
                    <a:pt x="1594" y="201"/>
                    <a:pt x="1541" y="100"/>
                    <a:pt x="1450" y="94"/>
                  </a:cubicBezTo>
                  <a:lnTo>
                    <a:pt x="166" y="1"/>
                  </a:lnTo>
                  <a:cubicBezTo>
                    <a:pt x="163" y="1"/>
                    <a:pt x="160" y="1"/>
                    <a:pt x="1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62" name="Google Shape;5223;p65">
              <a:extLst>
                <a:ext uri="{FF2B5EF4-FFF2-40B4-BE49-F238E27FC236}">
                  <a16:creationId xmlns:a16="http://schemas.microsoft.com/office/drawing/2014/main" id="{6E79B323-202F-3970-3571-580EF191F76F}"/>
                </a:ext>
              </a:extLst>
            </p:cNvPr>
            <p:cNvSpPr/>
            <p:nvPr/>
          </p:nvSpPr>
          <p:spPr>
            <a:xfrm>
              <a:off x="6354525" y="4219275"/>
              <a:ext cx="63075" cy="15675"/>
            </a:xfrm>
            <a:custGeom>
              <a:avLst/>
              <a:gdLst/>
              <a:ahLst/>
              <a:cxnLst/>
              <a:rect l="l" t="t" r="r" b="b"/>
              <a:pathLst>
                <a:path w="2523" h="627" extrusionOk="0">
                  <a:moveTo>
                    <a:pt x="279" y="1"/>
                  </a:moveTo>
                  <a:cubicBezTo>
                    <a:pt x="160" y="1"/>
                    <a:pt x="54" y="84"/>
                    <a:pt x="29" y="204"/>
                  </a:cubicBezTo>
                  <a:cubicBezTo>
                    <a:pt x="1" y="345"/>
                    <a:pt x="93" y="483"/>
                    <a:pt x="236" y="507"/>
                  </a:cubicBezTo>
                  <a:cubicBezTo>
                    <a:pt x="732" y="585"/>
                    <a:pt x="1235" y="625"/>
                    <a:pt x="1738" y="627"/>
                  </a:cubicBezTo>
                  <a:cubicBezTo>
                    <a:pt x="1919" y="627"/>
                    <a:pt x="2102" y="621"/>
                    <a:pt x="2282" y="609"/>
                  </a:cubicBezTo>
                  <a:cubicBezTo>
                    <a:pt x="2420" y="596"/>
                    <a:pt x="2523" y="475"/>
                    <a:pt x="2513" y="337"/>
                  </a:cubicBezTo>
                  <a:cubicBezTo>
                    <a:pt x="2504" y="203"/>
                    <a:pt x="2392" y="100"/>
                    <a:pt x="2260" y="100"/>
                  </a:cubicBezTo>
                  <a:cubicBezTo>
                    <a:pt x="2255" y="100"/>
                    <a:pt x="2251" y="100"/>
                    <a:pt x="2246" y="100"/>
                  </a:cubicBezTo>
                  <a:cubicBezTo>
                    <a:pt x="2076" y="110"/>
                    <a:pt x="1908" y="116"/>
                    <a:pt x="1738" y="116"/>
                  </a:cubicBezTo>
                  <a:cubicBezTo>
                    <a:pt x="1262" y="116"/>
                    <a:pt x="790" y="78"/>
                    <a:pt x="321" y="4"/>
                  </a:cubicBezTo>
                  <a:cubicBezTo>
                    <a:pt x="307" y="2"/>
                    <a:pt x="293" y="1"/>
                    <a:pt x="2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63" name="Google Shape;5224;p65">
              <a:extLst>
                <a:ext uri="{FF2B5EF4-FFF2-40B4-BE49-F238E27FC236}">
                  <a16:creationId xmlns:a16="http://schemas.microsoft.com/office/drawing/2014/main" id="{9E57C5A3-157E-5E4D-6A80-A174F0FB4D5C}"/>
                </a:ext>
              </a:extLst>
            </p:cNvPr>
            <p:cNvSpPr/>
            <p:nvPr/>
          </p:nvSpPr>
          <p:spPr>
            <a:xfrm>
              <a:off x="6487275" y="4189125"/>
              <a:ext cx="39625" cy="25975"/>
            </a:xfrm>
            <a:custGeom>
              <a:avLst/>
              <a:gdLst/>
              <a:ahLst/>
              <a:cxnLst/>
              <a:rect l="l" t="t" r="r" b="b"/>
              <a:pathLst>
                <a:path w="1585" h="1039" extrusionOk="0">
                  <a:moveTo>
                    <a:pt x="1300" y="0"/>
                  </a:moveTo>
                  <a:cubicBezTo>
                    <a:pt x="1257" y="0"/>
                    <a:pt x="1213" y="11"/>
                    <a:pt x="1173" y="35"/>
                  </a:cubicBezTo>
                  <a:cubicBezTo>
                    <a:pt x="857" y="217"/>
                    <a:pt x="531" y="382"/>
                    <a:pt x="196" y="528"/>
                  </a:cubicBezTo>
                  <a:cubicBezTo>
                    <a:pt x="66" y="582"/>
                    <a:pt x="1" y="728"/>
                    <a:pt x="47" y="863"/>
                  </a:cubicBezTo>
                  <a:lnTo>
                    <a:pt x="60" y="899"/>
                  </a:lnTo>
                  <a:cubicBezTo>
                    <a:pt x="89" y="986"/>
                    <a:pt x="169" y="1039"/>
                    <a:pt x="255" y="1039"/>
                  </a:cubicBezTo>
                  <a:cubicBezTo>
                    <a:pt x="282" y="1039"/>
                    <a:pt x="309" y="1034"/>
                    <a:pt x="335" y="1023"/>
                  </a:cubicBezTo>
                  <a:cubicBezTo>
                    <a:pt x="707" y="866"/>
                    <a:pt x="1067" y="685"/>
                    <a:pt x="1416" y="483"/>
                  </a:cubicBezTo>
                  <a:cubicBezTo>
                    <a:pt x="1527" y="419"/>
                    <a:pt x="1584" y="283"/>
                    <a:pt x="1538" y="164"/>
                  </a:cubicBezTo>
                  <a:cubicBezTo>
                    <a:pt x="1499" y="61"/>
                    <a:pt x="1401" y="0"/>
                    <a:pt x="13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64" name="Google Shape;5225;p65">
              <a:extLst>
                <a:ext uri="{FF2B5EF4-FFF2-40B4-BE49-F238E27FC236}">
                  <a16:creationId xmlns:a16="http://schemas.microsoft.com/office/drawing/2014/main" id="{9ACA8441-5841-AD21-5549-4EF78CBE403A}"/>
                </a:ext>
              </a:extLst>
            </p:cNvPr>
            <p:cNvSpPr/>
            <p:nvPr/>
          </p:nvSpPr>
          <p:spPr>
            <a:xfrm>
              <a:off x="6426350" y="4209850"/>
              <a:ext cx="54475" cy="22400"/>
            </a:xfrm>
            <a:custGeom>
              <a:avLst/>
              <a:gdLst/>
              <a:ahLst/>
              <a:cxnLst/>
              <a:rect l="l" t="t" r="r" b="b"/>
              <a:pathLst>
                <a:path w="2179" h="896" extrusionOk="0">
                  <a:moveTo>
                    <a:pt x="1890" y="1"/>
                  </a:moveTo>
                  <a:cubicBezTo>
                    <a:pt x="1863" y="1"/>
                    <a:pt x="1835" y="5"/>
                    <a:pt x="1808" y="14"/>
                  </a:cubicBezTo>
                  <a:cubicBezTo>
                    <a:pt x="1296" y="184"/>
                    <a:pt x="771" y="309"/>
                    <a:pt x="237" y="389"/>
                  </a:cubicBezTo>
                  <a:cubicBezTo>
                    <a:pt x="98" y="408"/>
                    <a:pt x="0" y="536"/>
                    <a:pt x="20" y="676"/>
                  </a:cubicBezTo>
                  <a:cubicBezTo>
                    <a:pt x="37" y="803"/>
                    <a:pt x="147" y="896"/>
                    <a:pt x="273" y="896"/>
                  </a:cubicBezTo>
                  <a:cubicBezTo>
                    <a:pt x="284" y="896"/>
                    <a:pt x="296" y="895"/>
                    <a:pt x="308" y="893"/>
                  </a:cubicBezTo>
                  <a:cubicBezTo>
                    <a:pt x="873" y="809"/>
                    <a:pt x="1430" y="676"/>
                    <a:pt x="1973" y="496"/>
                  </a:cubicBezTo>
                  <a:cubicBezTo>
                    <a:pt x="2106" y="451"/>
                    <a:pt x="2178" y="306"/>
                    <a:pt x="2132" y="171"/>
                  </a:cubicBezTo>
                  <a:cubicBezTo>
                    <a:pt x="2095" y="67"/>
                    <a:pt x="1996" y="1"/>
                    <a:pt x="189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65" name="Google Shape;5226;p65">
              <a:extLst>
                <a:ext uri="{FF2B5EF4-FFF2-40B4-BE49-F238E27FC236}">
                  <a16:creationId xmlns:a16="http://schemas.microsoft.com/office/drawing/2014/main" id="{B786A488-A732-4AF2-F512-59CC07E5BD17}"/>
                </a:ext>
              </a:extLst>
            </p:cNvPr>
            <p:cNvSpPr/>
            <p:nvPr/>
          </p:nvSpPr>
          <p:spPr>
            <a:xfrm>
              <a:off x="5992275" y="3674825"/>
              <a:ext cx="51250" cy="99900"/>
            </a:xfrm>
            <a:custGeom>
              <a:avLst/>
              <a:gdLst/>
              <a:ahLst/>
              <a:cxnLst/>
              <a:rect l="l" t="t" r="r" b="b"/>
              <a:pathLst>
                <a:path w="2050" h="3996" extrusionOk="0">
                  <a:moveTo>
                    <a:pt x="1920" y="0"/>
                  </a:moveTo>
                  <a:cubicBezTo>
                    <a:pt x="1898" y="0"/>
                    <a:pt x="1876" y="6"/>
                    <a:pt x="1854" y="20"/>
                  </a:cubicBezTo>
                  <a:lnTo>
                    <a:pt x="772" y="717"/>
                  </a:lnTo>
                  <a:cubicBezTo>
                    <a:pt x="695" y="766"/>
                    <a:pt x="697" y="878"/>
                    <a:pt x="775" y="926"/>
                  </a:cubicBezTo>
                  <a:lnTo>
                    <a:pt x="1073" y="1102"/>
                  </a:lnTo>
                  <a:cubicBezTo>
                    <a:pt x="607" y="1911"/>
                    <a:pt x="256" y="2782"/>
                    <a:pt x="32" y="3689"/>
                  </a:cubicBezTo>
                  <a:cubicBezTo>
                    <a:pt x="0" y="3825"/>
                    <a:pt x="87" y="3962"/>
                    <a:pt x="224" y="3990"/>
                  </a:cubicBezTo>
                  <a:cubicBezTo>
                    <a:pt x="242" y="3993"/>
                    <a:pt x="260" y="3995"/>
                    <a:pt x="278" y="3995"/>
                  </a:cubicBezTo>
                  <a:cubicBezTo>
                    <a:pt x="397" y="3995"/>
                    <a:pt x="502" y="3914"/>
                    <a:pt x="532" y="3794"/>
                  </a:cubicBezTo>
                  <a:cubicBezTo>
                    <a:pt x="743" y="2942"/>
                    <a:pt x="1073" y="2124"/>
                    <a:pt x="1512" y="1363"/>
                  </a:cubicBezTo>
                  <a:lnTo>
                    <a:pt x="1765" y="1514"/>
                  </a:lnTo>
                  <a:cubicBezTo>
                    <a:pt x="1785" y="1526"/>
                    <a:pt x="1806" y="1531"/>
                    <a:pt x="1827" y="1531"/>
                  </a:cubicBezTo>
                  <a:cubicBezTo>
                    <a:pt x="1888" y="1531"/>
                    <a:pt x="1946" y="1484"/>
                    <a:pt x="1951" y="1416"/>
                  </a:cubicBezTo>
                  <a:lnTo>
                    <a:pt x="2043" y="134"/>
                  </a:lnTo>
                  <a:cubicBezTo>
                    <a:pt x="2049" y="57"/>
                    <a:pt x="1988" y="0"/>
                    <a:pt x="19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66" name="Google Shape;5227;p65">
              <a:extLst>
                <a:ext uri="{FF2B5EF4-FFF2-40B4-BE49-F238E27FC236}">
                  <a16:creationId xmlns:a16="http://schemas.microsoft.com/office/drawing/2014/main" id="{317631FE-8156-1565-DEC1-1F24B05815F3}"/>
                </a:ext>
              </a:extLst>
            </p:cNvPr>
            <p:cNvSpPr/>
            <p:nvPr/>
          </p:nvSpPr>
          <p:spPr>
            <a:xfrm>
              <a:off x="5985650" y="3783750"/>
              <a:ext cx="16125" cy="62275"/>
            </a:xfrm>
            <a:custGeom>
              <a:avLst/>
              <a:gdLst/>
              <a:ahLst/>
              <a:cxnLst/>
              <a:rect l="l" t="t" r="r" b="b"/>
              <a:pathLst>
                <a:path w="645" h="2491" extrusionOk="0">
                  <a:moveTo>
                    <a:pt x="371" y="1"/>
                  </a:moveTo>
                  <a:cubicBezTo>
                    <a:pt x="249" y="1"/>
                    <a:pt x="141" y="89"/>
                    <a:pt x="121" y="212"/>
                  </a:cubicBezTo>
                  <a:cubicBezTo>
                    <a:pt x="41" y="709"/>
                    <a:pt x="1" y="1212"/>
                    <a:pt x="1" y="1714"/>
                  </a:cubicBezTo>
                  <a:cubicBezTo>
                    <a:pt x="1" y="1895"/>
                    <a:pt x="7" y="2078"/>
                    <a:pt x="19" y="2259"/>
                  </a:cubicBezTo>
                  <a:cubicBezTo>
                    <a:pt x="31" y="2390"/>
                    <a:pt x="140" y="2490"/>
                    <a:pt x="270" y="2490"/>
                  </a:cubicBezTo>
                  <a:cubicBezTo>
                    <a:pt x="277" y="2490"/>
                    <a:pt x="284" y="2490"/>
                    <a:pt x="291" y="2489"/>
                  </a:cubicBezTo>
                  <a:cubicBezTo>
                    <a:pt x="428" y="2480"/>
                    <a:pt x="534" y="2361"/>
                    <a:pt x="526" y="2222"/>
                  </a:cubicBezTo>
                  <a:cubicBezTo>
                    <a:pt x="517" y="2054"/>
                    <a:pt x="510" y="1884"/>
                    <a:pt x="510" y="1714"/>
                  </a:cubicBezTo>
                  <a:cubicBezTo>
                    <a:pt x="512" y="1240"/>
                    <a:pt x="549" y="766"/>
                    <a:pt x="622" y="297"/>
                  </a:cubicBezTo>
                  <a:cubicBezTo>
                    <a:pt x="645" y="163"/>
                    <a:pt x="557" y="35"/>
                    <a:pt x="422" y="6"/>
                  </a:cubicBezTo>
                  <a:cubicBezTo>
                    <a:pt x="405" y="2"/>
                    <a:pt x="388" y="1"/>
                    <a:pt x="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67" name="Google Shape;5228;p65">
              <a:extLst>
                <a:ext uri="{FF2B5EF4-FFF2-40B4-BE49-F238E27FC236}">
                  <a16:creationId xmlns:a16="http://schemas.microsoft.com/office/drawing/2014/main" id="{9C07ECA3-F3D9-DCD8-F458-D25515D15177}"/>
                </a:ext>
              </a:extLst>
            </p:cNvPr>
            <p:cNvSpPr/>
            <p:nvPr/>
          </p:nvSpPr>
          <p:spPr>
            <a:xfrm>
              <a:off x="6004725" y="3916700"/>
              <a:ext cx="27875" cy="38100"/>
            </a:xfrm>
            <a:custGeom>
              <a:avLst/>
              <a:gdLst/>
              <a:ahLst/>
              <a:cxnLst/>
              <a:rect l="l" t="t" r="r" b="b"/>
              <a:pathLst>
                <a:path w="1115" h="1524" extrusionOk="0">
                  <a:moveTo>
                    <a:pt x="296" y="1"/>
                  </a:moveTo>
                  <a:cubicBezTo>
                    <a:pt x="267" y="1"/>
                    <a:pt x="237" y="5"/>
                    <a:pt x="208" y="15"/>
                  </a:cubicBezTo>
                  <a:lnTo>
                    <a:pt x="171" y="28"/>
                  </a:lnTo>
                  <a:cubicBezTo>
                    <a:pt x="58" y="67"/>
                    <a:pt x="0" y="193"/>
                    <a:pt x="47" y="304"/>
                  </a:cubicBezTo>
                  <a:cubicBezTo>
                    <a:pt x="205" y="675"/>
                    <a:pt x="384" y="1035"/>
                    <a:pt x="588" y="1385"/>
                  </a:cubicBezTo>
                  <a:cubicBezTo>
                    <a:pt x="637" y="1469"/>
                    <a:pt x="728" y="1524"/>
                    <a:pt x="822" y="1524"/>
                  </a:cubicBezTo>
                  <a:cubicBezTo>
                    <a:pt x="850" y="1524"/>
                    <a:pt x="879" y="1519"/>
                    <a:pt x="906" y="1508"/>
                  </a:cubicBezTo>
                  <a:cubicBezTo>
                    <a:pt x="1052" y="1450"/>
                    <a:pt x="1115" y="1277"/>
                    <a:pt x="1036" y="1141"/>
                  </a:cubicBezTo>
                  <a:cubicBezTo>
                    <a:pt x="852" y="826"/>
                    <a:pt x="687" y="499"/>
                    <a:pt x="543" y="164"/>
                  </a:cubicBezTo>
                  <a:cubicBezTo>
                    <a:pt x="499" y="63"/>
                    <a:pt x="400" y="1"/>
                    <a:pt x="29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68" name="Google Shape;5229;p65">
              <a:extLst>
                <a:ext uri="{FF2B5EF4-FFF2-40B4-BE49-F238E27FC236}">
                  <a16:creationId xmlns:a16="http://schemas.microsoft.com/office/drawing/2014/main" id="{47A09748-C5D4-627F-DCEF-D92BDFDDED78}"/>
                </a:ext>
              </a:extLst>
            </p:cNvPr>
            <p:cNvSpPr/>
            <p:nvPr/>
          </p:nvSpPr>
          <p:spPr>
            <a:xfrm>
              <a:off x="5987900" y="3855450"/>
              <a:ext cx="23600" cy="53200"/>
            </a:xfrm>
            <a:custGeom>
              <a:avLst/>
              <a:gdLst/>
              <a:ahLst/>
              <a:cxnLst/>
              <a:rect l="l" t="t" r="r" b="b"/>
              <a:pathLst>
                <a:path w="944" h="2128" extrusionOk="0">
                  <a:moveTo>
                    <a:pt x="273" y="0"/>
                  </a:moveTo>
                  <a:cubicBezTo>
                    <a:pt x="261" y="0"/>
                    <a:pt x="249" y="1"/>
                    <a:pt x="238" y="3"/>
                  </a:cubicBezTo>
                  <a:cubicBezTo>
                    <a:pt x="98" y="22"/>
                    <a:pt x="1" y="150"/>
                    <a:pt x="20" y="289"/>
                  </a:cubicBezTo>
                  <a:lnTo>
                    <a:pt x="21" y="289"/>
                  </a:lnTo>
                  <a:cubicBezTo>
                    <a:pt x="105" y="854"/>
                    <a:pt x="238" y="1412"/>
                    <a:pt x="417" y="1955"/>
                  </a:cubicBezTo>
                  <a:cubicBezTo>
                    <a:pt x="454" y="2061"/>
                    <a:pt x="553" y="2127"/>
                    <a:pt x="658" y="2127"/>
                  </a:cubicBezTo>
                  <a:cubicBezTo>
                    <a:pt x="686" y="2127"/>
                    <a:pt x="714" y="2123"/>
                    <a:pt x="742" y="2113"/>
                  </a:cubicBezTo>
                  <a:cubicBezTo>
                    <a:pt x="875" y="2067"/>
                    <a:pt x="944" y="1923"/>
                    <a:pt x="899" y="1790"/>
                  </a:cubicBezTo>
                  <a:cubicBezTo>
                    <a:pt x="731" y="1279"/>
                    <a:pt x="604" y="754"/>
                    <a:pt x="526" y="220"/>
                  </a:cubicBezTo>
                  <a:cubicBezTo>
                    <a:pt x="508" y="93"/>
                    <a:pt x="398" y="0"/>
                    <a:pt x="2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69" name="Google Shape;5230;p65">
              <a:extLst>
                <a:ext uri="{FF2B5EF4-FFF2-40B4-BE49-F238E27FC236}">
                  <a16:creationId xmlns:a16="http://schemas.microsoft.com/office/drawing/2014/main" id="{EB21D5C8-AAB1-4F5E-E3CA-36FF501EBD6C}"/>
                </a:ext>
              </a:extLst>
            </p:cNvPr>
            <p:cNvSpPr/>
            <p:nvPr/>
          </p:nvSpPr>
          <p:spPr>
            <a:xfrm>
              <a:off x="6071975" y="3300325"/>
              <a:ext cx="52475" cy="102475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70" name="Google Shape;5231;p65">
              <a:extLst>
                <a:ext uri="{FF2B5EF4-FFF2-40B4-BE49-F238E27FC236}">
                  <a16:creationId xmlns:a16="http://schemas.microsoft.com/office/drawing/2014/main" id="{21554019-0A44-BEC1-4243-C4DB8CA7763F}"/>
                </a:ext>
              </a:extLst>
            </p:cNvPr>
            <p:cNvSpPr/>
            <p:nvPr/>
          </p:nvSpPr>
          <p:spPr>
            <a:xfrm>
              <a:off x="6122225" y="3408475"/>
              <a:ext cx="47725" cy="4955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71" name="Google Shape;5232;p65">
              <a:extLst>
                <a:ext uri="{FF2B5EF4-FFF2-40B4-BE49-F238E27FC236}">
                  <a16:creationId xmlns:a16="http://schemas.microsoft.com/office/drawing/2014/main" id="{720D041A-1E07-7C1E-3A0A-3FB8633D5D87}"/>
                </a:ext>
              </a:extLst>
            </p:cNvPr>
            <p:cNvSpPr/>
            <p:nvPr/>
          </p:nvSpPr>
          <p:spPr>
            <a:xfrm>
              <a:off x="6228150" y="3490275"/>
              <a:ext cx="42050" cy="21525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72" name="Google Shape;5233;p65">
              <a:extLst>
                <a:ext uri="{FF2B5EF4-FFF2-40B4-BE49-F238E27FC236}">
                  <a16:creationId xmlns:a16="http://schemas.microsoft.com/office/drawing/2014/main" id="{95C66479-BEEF-9DCE-F7C6-2599E7E09D3F}"/>
                </a:ext>
              </a:extLst>
            </p:cNvPr>
            <p:cNvSpPr/>
            <p:nvPr/>
          </p:nvSpPr>
          <p:spPr>
            <a:xfrm>
              <a:off x="6172850" y="3459275"/>
              <a:ext cx="49900" cy="34575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73" name="Google Shape;5234;p65">
              <a:extLst>
                <a:ext uri="{FF2B5EF4-FFF2-40B4-BE49-F238E27FC236}">
                  <a16:creationId xmlns:a16="http://schemas.microsoft.com/office/drawing/2014/main" id="{A08D6E5E-07C4-2294-4A93-4893CC44C7F3}"/>
                </a:ext>
              </a:extLst>
            </p:cNvPr>
            <p:cNvSpPr/>
            <p:nvPr/>
          </p:nvSpPr>
          <p:spPr>
            <a:xfrm>
              <a:off x="7323825" y="3495225"/>
              <a:ext cx="51250" cy="99900"/>
            </a:xfrm>
            <a:custGeom>
              <a:avLst/>
              <a:gdLst/>
              <a:ahLst/>
              <a:cxnLst/>
              <a:rect l="l" t="t" r="r" b="b"/>
              <a:pathLst>
                <a:path w="2050" h="3996" extrusionOk="0">
                  <a:moveTo>
                    <a:pt x="1772" y="0"/>
                  </a:moveTo>
                  <a:cubicBezTo>
                    <a:pt x="1653" y="0"/>
                    <a:pt x="1547" y="82"/>
                    <a:pt x="1518" y="201"/>
                  </a:cubicBezTo>
                  <a:cubicBezTo>
                    <a:pt x="1307" y="1053"/>
                    <a:pt x="977" y="1872"/>
                    <a:pt x="540" y="2634"/>
                  </a:cubicBezTo>
                  <a:lnTo>
                    <a:pt x="285" y="2482"/>
                  </a:lnTo>
                  <a:cubicBezTo>
                    <a:pt x="265" y="2470"/>
                    <a:pt x="244" y="2465"/>
                    <a:pt x="223" y="2465"/>
                  </a:cubicBezTo>
                  <a:cubicBezTo>
                    <a:pt x="162" y="2465"/>
                    <a:pt x="104" y="2511"/>
                    <a:pt x="99" y="2579"/>
                  </a:cubicBezTo>
                  <a:lnTo>
                    <a:pt x="6" y="3864"/>
                  </a:lnTo>
                  <a:cubicBezTo>
                    <a:pt x="0" y="3939"/>
                    <a:pt x="62" y="3995"/>
                    <a:pt x="129" y="3995"/>
                  </a:cubicBezTo>
                  <a:cubicBezTo>
                    <a:pt x="152" y="3995"/>
                    <a:pt x="174" y="3989"/>
                    <a:pt x="195" y="3976"/>
                  </a:cubicBezTo>
                  <a:lnTo>
                    <a:pt x="1278" y="3279"/>
                  </a:lnTo>
                  <a:cubicBezTo>
                    <a:pt x="1355" y="3229"/>
                    <a:pt x="1353" y="3117"/>
                    <a:pt x="1275" y="3071"/>
                  </a:cubicBezTo>
                  <a:lnTo>
                    <a:pt x="978" y="2893"/>
                  </a:lnTo>
                  <a:cubicBezTo>
                    <a:pt x="1444" y="2085"/>
                    <a:pt x="1794" y="1213"/>
                    <a:pt x="2018" y="307"/>
                  </a:cubicBezTo>
                  <a:cubicBezTo>
                    <a:pt x="2050" y="171"/>
                    <a:pt x="1963" y="35"/>
                    <a:pt x="1826" y="6"/>
                  </a:cubicBezTo>
                  <a:cubicBezTo>
                    <a:pt x="1808" y="2"/>
                    <a:pt x="1790" y="0"/>
                    <a:pt x="17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74" name="Google Shape;5235;p65">
              <a:extLst>
                <a:ext uri="{FF2B5EF4-FFF2-40B4-BE49-F238E27FC236}">
                  <a16:creationId xmlns:a16="http://schemas.microsoft.com/office/drawing/2014/main" id="{AECC9F72-E300-3686-8A67-DC766B62C825}"/>
                </a:ext>
              </a:extLst>
            </p:cNvPr>
            <p:cNvSpPr/>
            <p:nvPr/>
          </p:nvSpPr>
          <p:spPr>
            <a:xfrm>
              <a:off x="7365575" y="3423925"/>
              <a:ext cx="16150" cy="62275"/>
            </a:xfrm>
            <a:custGeom>
              <a:avLst/>
              <a:gdLst/>
              <a:ahLst/>
              <a:cxnLst/>
              <a:rect l="l" t="t" r="r" b="b"/>
              <a:pathLst>
                <a:path w="646" h="2491" extrusionOk="0">
                  <a:moveTo>
                    <a:pt x="375" y="0"/>
                  </a:moveTo>
                  <a:cubicBezTo>
                    <a:pt x="368" y="0"/>
                    <a:pt x="361" y="1"/>
                    <a:pt x="354" y="1"/>
                  </a:cubicBezTo>
                  <a:cubicBezTo>
                    <a:pt x="216" y="11"/>
                    <a:pt x="111" y="129"/>
                    <a:pt x="119" y="269"/>
                  </a:cubicBezTo>
                  <a:cubicBezTo>
                    <a:pt x="128" y="438"/>
                    <a:pt x="135" y="607"/>
                    <a:pt x="135" y="776"/>
                  </a:cubicBezTo>
                  <a:cubicBezTo>
                    <a:pt x="135" y="1252"/>
                    <a:pt x="96" y="1724"/>
                    <a:pt x="23" y="2193"/>
                  </a:cubicBezTo>
                  <a:cubicBezTo>
                    <a:pt x="0" y="2328"/>
                    <a:pt x="88" y="2458"/>
                    <a:pt x="223" y="2485"/>
                  </a:cubicBezTo>
                  <a:cubicBezTo>
                    <a:pt x="240" y="2488"/>
                    <a:pt x="257" y="2490"/>
                    <a:pt x="274" y="2490"/>
                  </a:cubicBezTo>
                  <a:cubicBezTo>
                    <a:pt x="396" y="2490"/>
                    <a:pt x="504" y="2403"/>
                    <a:pt x="526" y="2278"/>
                  </a:cubicBezTo>
                  <a:cubicBezTo>
                    <a:pt x="604" y="1782"/>
                    <a:pt x="644" y="1279"/>
                    <a:pt x="646" y="776"/>
                  </a:cubicBezTo>
                  <a:cubicBezTo>
                    <a:pt x="646" y="595"/>
                    <a:pt x="638" y="413"/>
                    <a:pt x="626" y="232"/>
                  </a:cubicBezTo>
                  <a:cubicBezTo>
                    <a:pt x="616" y="101"/>
                    <a:pt x="505" y="0"/>
                    <a:pt x="3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75" name="Google Shape;5236;p65">
              <a:extLst>
                <a:ext uri="{FF2B5EF4-FFF2-40B4-BE49-F238E27FC236}">
                  <a16:creationId xmlns:a16="http://schemas.microsoft.com/office/drawing/2014/main" id="{D29B2D0C-D3A4-CA5F-08F1-062B34B5B7EA}"/>
                </a:ext>
              </a:extLst>
            </p:cNvPr>
            <p:cNvSpPr/>
            <p:nvPr/>
          </p:nvSpPr>
          <p:spPr>
            <a:xfrm>
              <a:off x="7334775" y="3315150"/>
              <a:ext cx="27850" cy="38100"/>
            </a:xfrm>
            <a:custGeom>
              <a:avLst/>
              <a:gdLst/>
              <a:ahLst/>
              <a:cxnLst/>
              <a:rect l="l" t="t" r="r" b="b"/>
              <a:pathLst>
                <a:path w="1114" h="1524" extrusionOk="0">
                  <a:moveTo>
                    <a:pt x="293" y="1"/>
                  </a:moveTo>
                  <a:cubicBezTo>
                    <a:pt x="265" y="1"/>
                    <a:pt x="236" y="5"/>
                    <a:pt x="209" y="16"/>
                  </a:cubicBezTo>
                  <a:cubicBezTo>
                    <a:pt x="62" y="74"/>
                    <a:pt x="1" y="246"/>
                    <a:pt x="79" y="383"/>
                  </a:cubicBezTo>
                  <a:cubicBezTo>
                    <a:pt x="262" y="698"/>
                    <a:pt x="427" y="1025"/>
                    <a:pt x="573" y="1359"/>
                  </a:cubicBezTo>
                  <a:cubicBezTo>
                    <a:pt x="615" y="1461"/>
                    <a:pt x="714" y="1523"/>
                    <a:pt x="819" y="1523"/>
                  </a:cubicBezTo>
                  <a:cubicBezTo>
                    <a:pt x="848" y="1523"/>
                    <a:pt x="878" y="1518"/>
                    <a:pt x="907" y="1508"/>
                  </a:cubicBezTo>
                  <a:lnTo>
                    <a:pt x="942" y="1495"/>
                  </a:lnTo>
                  <a:cubicBezTo>
                    <a:pt x="1056" y="1457"/>
                    <a:pt x="1114" y="1331"/>
                    <a:pt x="1067" y="1220"/>
                  </a:cubicBezTo>
                  <a:cubicBezTo>
                    <a:pt x="910" y="849"/>
                    <a:pt x="729" y="488"/>
                    <a:pt x="528" y="139"/>
                  </a:cubicBezTo>
                  <a:cubicBezTo>
                    <a:pt x="478" y="54"/>
                    <a:pt x="387" y="1"/>
                    <a:pt x="2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76" name="Google Shape;5237;p65">
              <a:extLst>
                <a:ext uri="{FF2B5EF4-FFF2-40B4-BE49-F238E27FC236}">
                  <a16:creationId xmlns:a16="http://schemas.microsoft.com/office/drawing/2014/main" id="{8F79BBB8-8A07-48AC-6F1D-90423BFD058D}"/>
                </a:ext>
              </a:extLst>
            </p:cNvPr>
            <p:cNvSpPr/>
            <p:nvPr/>
          </p:nvSpPr>
          <p:spPr>
            <a:xfrm>
              <a:off x="7355800" y="3361300"/>
              <a:ext cx="23650" cy="53200"/>
            </a:xfrm>
            <a:custGeom>
              <a:avLst/>
              <a:gdLst/>
              <a:ahLst/>
              <a:cxnLst/>
              <a:rect l="l" t="t" r="r" b="b"/>
              <a:pathLst>
                <a:path w="946" h="2128" extrusionOk="0">
                  <a:moveTo>
                    <a:pt x="288" y="0"/>
                  </a:moveTo>
                  <a:cubicBezTo>
                    <a:pt x="260" y="0"/>
                    <a:pt x="232" y="5"/>
                    <a:pt x="204" y="15"/>
                  </a:cubicBezTo>
                  <a:cubicBezTo>
                    <a:pt x="71" y="61"/>
                    <a:pt x="1" y="205"/>
                    <a:pt x="47" y="338"/>
                  </a:cubicBezTo>
                  <a:cubicBezTo>
                    <a:pt x="215" y="850"/>
                    <a:pt x="342" y="1376"/>
                    <a:pt x="420" y="1909"/>
                  </a:cubicBezTo>
                  <a:cubicBezTo>
                    <a:pt x="438" y="2036"/>
                    <a:pt x="548" y="2128"/>
                    <a:pt x="673" y="2128"/>
                  </a:cubicBezTo>
                  <a:cubicBezTo>
                    <a:pt x="685" y="2128"/>
                    <a:pt x="696" y="2127"/>
                    <a:pt x="708" y="2125"/>
                  </a:cubicBezTo>
                  <a:cubicBezTo>
                    <a:pt x="848" y="2106"/>
                    <a:pt x="945" y="1978"/>
                    <a:pt x="926" y="1839"/>
                  </a:cubicBezTo>
                  <a:lnTo>
                    <a:pt x="925" y="1839"/>
                  </a:lnTo>
                  <a:cubicBezTo>
                    <a:pt x="841" y="1273"/>
                    <a:pt x="708" y="716"/>
                    <a:pt x="529" y="173"/>
                  </a:cubicBezTo>
                  <a:cubicBezTo>
                    <a:pt x="492" y="67"/>
                    <a:pt x="393" y="0"/>
                    <a:pt x="2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77" name="Google Shape;5238;p65">
              <a:extLst>
                <a:ext uri="{FF2B5EF4-FFF2-40B4-BE49-F238E27FC236}">
                  <a16:creationId xmlns:a16="http://schemas.microsoft.com/office/drawing/2014/main" id="{F09FE966-1923-E921-D3EB-8FE7AD8D985F}"/>
                </a:ext>
              </a:extLst>
            </p:cNvPr>
            <p:cNvSpPr/>
            <p:nvPr/>
          </p:nvSpPr>
          <p:spPr>
            <a:xfrm>
              <a:off x="7093025" y="4348600"/>
              <a:ext cx="104200" cy="51200"/>
            </a:xfrm>
            <a:custGeom>
              <a:avLst/>
              <a:gdLst/>
              <a:ahLst/>
              <a:cxnLst/>
              <a:rect l="l" t="t" r="r" b="b"/>
              <a:pathLst>
                <a:path w="4168" h="2048" extrusionOk="0">
                  <a:moveTo>
                    <a:pt x="3871" y="0"/>
                  </a:moveTo>
                  <a:cubicBezTo>
                    <a:pt x="3824" y="0"/>
                    <a:pt x="3777" y="13"/>
                    <a:pt x="3735" y="39"/>
                  </a:cubicBezTo>
                  <a:cubicBezTo>
                    <a:pt x="2982" y="492"/>
                    <a:pt x="2170" y="838"/>
                    <a:pt x="1323" y="1067"/>
                  </a:cubicBezTo>
                  <a:lnTo>
                    <a:pt x="1249" y="780"/>
                  </a:lnTo>
                  <a:cubicBezTo>
                    <a:pt x="1235" y="721"/>
                    <a:pt x="1183" y="687"/>
                    <a:pt x="1130" y="687"/>
                  </a:cubicBezTo>
                  <a:cubicBezTo>
                    <a:pt x="1102" y="687"/>
                    <a:pt x="1073" y="696"/>
                    <a:pt x="1049" y="717"/>
                  </a:cubicBezTo>
                  <a:lnTo>
                    <a:pt x="76" y="1560"/>
                  </a:lnTo>
                  <a:cubicBezTo>
                    <a:pt x="0" y="1625"/>
                    <a:pt x="32" y="1750"/>
                    <a:pt x="130" y="1773"/>
                  </a:cubicBezTo>
                  <a:lnTo>
                    <a:pt x="1389" y="2045"/>
                  </a:lnTo>
                  <a:cubicBezTo>
                    <a:pt x="1398" y="2047"/>
                    <a:pt x="1407" y="2048"/>
                    <a:pt x="1416" y="2048"/>
                  </a:cubicBezTo>
                  <a:cubicBezTo>
                    <a:pt x="1493" y="2048"/>
                    <a:pt x="1555" y="1975"/>
                    <a:pt x="1534" y="1894"/>
                  </a:cubicBezTo>
                  <a:lnTo>
                    <a:pt x="1450" y="1561"/>
                  </a:lnTo>
                  <a:cubicBezTo>
                    <a:pt x="2351" y="1318"/>
                    <a:pt x="3214" y="950"/>
                    <a:pt x="4013" y="466"/>
                  </a:cubicBezTo>
                  <a:cubicBezTo>
                    <a:pt x="4132" y="392"/>
                    <a:pt x="4167" y="235"/>
                    <a:pt x="4090" y="119"/>
                  </a:cubicBezTo>
                  <a:cubicBezTo>
                    <a:pt x="4039" y="42"/>
                    <a:pt x="3956" y="0"/>
                    <a:pt x="38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78" name="Google Shape;5239;p65">
              <a:extLst>
                <a:ext uri="{FF2B5EF4-FFF2-40B4-BE49-F238E27FC236}">
                  <a16:creationId xmlns:a16="http://schemas.microsoft.com/office/drawing/2014/main" id="{D0CB3820-F5E6-88B8-F91F-091ACFE047A8}"/>
                </a:ext>
              </a:extLst>
            </p:cNvPr>
            <p:cNvSpPr/>
            <p:nvPr/>
          </p:nvSpPr>
          <p:spPr>
            <a:xfrm>
              <a:off x="7201150" y="4302925"/>
              <a:ext cx="51100" cy="46100"/>
            </a:xfrm>
            <a:custGeom>
              <a:avLst/>
              <a:gdLst/>
              <a:ahLst/>
              <a:cxnLst/>
              <a:rect l="l" t="t" r="r" b="b"/>
              <a:pathLst>
                <a:path w="2044" h="1844" extrusionOk="0">
                  <a:moveTo>
                    <a:pt x="1760" y="1"/>
                  </a:moveTo>
                  <a:cubicBezTo>
                    <a:pt x="1689" y="1"/>
                    <a:pt x="1619" y="31"/>
                    <a:pt x="1568" y="88"/>
                  </a:cubicBezTo>
                  <a:cubicBezTo>
                    <a:pt x="1456" y="215"/>
                    <a:pt x="1341" y="338"/>
                    <a:pt x="1221" y="458"/>
                  </a:cubicBezTo>
                  <a:cubicBezTo>
                    <a:pt x="885" y="793"/>
                    <a:pt x="524" y="1102"/>
                    <a:pt x="140" y="1380"/>
                  </a:cubicBezTo>
                  <a:cubicBezTo>
                    <a:pt x="29" y="1460"/>
                    <a:pt x="1" y="1612"/>
                    <a:pt x="74" y="1728"/>
                  </a:cubicBezTo>
                  <a:cubicBezTo>
                    <a:pt x="124" y="1803"/>
                    <a:pt x="205" y="1844"/>
                    <a:pt x="288" y="1844"/>
                  </a:cubicBezTo>
                  <a:cubicBezTo>
                    <a:pt x="339" y="1844"/>
                    <a:pt x="391" y="1828"/>
                    <a:pt x="436" y="1797"/>
                  </a:cubicBezTo>
                  <a:cubicBezTo>
                    <a:pt x="843" y="1500"/>
                    <a:pt x="1226" y="1174"/>
                    <a:pt x="1581" y="820"/>
                  </a:cubicBezTo>
                  <a:cubicBezTo>
                    <a:pt x="1711" y="690"/>
                    <a:pt x="1834" y="557"/>
                    <a:pt x="1954" y="421"/>
                  </a:cubicBezTo>
                  <a:cubicBezTo>
                    <a:pt x="2044" y="315"/>
                    <a:pt x="2033" y="155"/>
                    <a:pt x="1927" y="64"/>
                  </a:cubicBezTo>
                  <a:cubicBezTo>
                    <a:pt x="1879" y="22"/>
                    <a:pt x="1819" y="1"/>
                    <a:pt x="17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79" name="Google Shape;5240;p65">
              <a:extLst>
                <a:ext uri="{FF2B5EF4-FFF2-40B4-BE49-F238E27FC236}">
                  <a16:creationId xmlns:a16="http://schemas.microsoft.com/office/drawing/2014/main" id="{7C5F9A3B-822E-B498-1469-22224932E708}"/>
                </a:ext>
              </a:extLst>
            </p:cNvPr>
            <p:cNvSpPr/>
            <p:nvPr/>
          </p:nvSpPr>
          <p:spPr>
            <a:xfrm>
              <a:off x="7282950" y="4203000"/>
              <a:ext cx="22950" cy="40225"/>
            </a:xfrm>
            <a:custGeom>
              <a:avLst/>
              <a:gdLst/>
              <a:ahLst/>
              <a:cxnLst/>
              <a:rect l="l" t="t" r="r" b="b"/>
              <a:pathLst>
                <a:path w="918" h="1609" extrusionOk="0">
                  <a:moveTo>
                    <a:pt x="642" y="0"/>
                  </a:moveTo>
                  <a:cubicBezTo>
                    <a:pt x="531" y="0"/>
                    <a:pt x="426" y="74"/>
                    <a:pt x="396" y="189"/>
                  </a:cubicBezTo>
                  <a:cubicBezTo>
                    <a:pt x="301" y="543"/>
                    <a:pt x="187" y="889"/>
                    <a:pt x="53" y="1228"/>
                  </a:cubicBezTo>
                  <a:cubicBezTo>
                    <a:pt x="0" y="1360"/>
                    <a:pt x="58" y="1509"/>
                    <a:pt x="184" y="1571"/>
                  </a:cubicBezTo>
                  <a:lnTo>
                    <a:pt x="218" y="1587"/>
                  </a:lnTo>
                  <a:cubicBezTo>
                    <a:pt x="248" y="1602"/>
                    <a:pt x="280" y="1608"/>
                    <a:pt x="311" y="1608"/>
                  </a:cubicBezTo>
                  <a:cubicBezTo>
                    <a:pt x="392" y="1608"/>
                    <a:pt x="469" y="1561"/>
                    <a:pt x="501" y="1480"/>
                  </a:cubicBezTo>
                  <a:cubicBezTo>
                    <a:pt x="653" y="1107"/>
                    <a:pt x="780" y="724"/>
                    <a:pt x="886" y="333"/>
                  </a:cubicBezTo>
                  <a:cubicBezTo>
                    <a:pt x="918" y="210"/>
                    <a:pt x="862" y="74"/>
                    <a:pt x="746" y="22"/>
                  </a:cubicBezTo>
                  <a:cubicBezTo>
                    <a:pt x="712" y="7"/>
                    <a:pt x="677" y="0"/>
                    <a:pt x="6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80" name="Google Shape;5241;p65">
              <a:extLst>
                <a:ext uri="{FF2B5EF4-FFF2-40B4-BE49-F238E27FC236}">
                  <a16:creationId xmlns:a16="http://schemas.microsoft.com/office/drawing/2014/main" id="{79317451-1963-75D6-5565-994EF452FA22}"/>
                </a:ext>
              </a:extLst>
            </p:cNvPr>
            <p:cNvSpPr/>
            <p:nvPr/>
          </p:nvSpPr>
          <p:spPr>
            <a:xfrm>
              <a:off x="7252000" y="4250300"/>
              <a:ext cx="36300" cy="48175"/>
            </a:xfrm>
            <a:custGeom>
              <a:avLst/>
              <a:gdLst/>
              <a:ahLst/>
              <a:cxnLst/>
              <a:rect l="l" t="t" r="r" b="b"/>
              <a:pathLst>
                <a:path w="1452" h="1927" extrusionOk="0">
                  <a:moveTo>
                    <a:pt x="1159" y="1"/>
                  </a:moveTo>
                  <a:cubicBezTo>
                    <a:pt x="1064" y="1"/>
                    <a:pt x="974" y="53"/>
                    <a:pt x="931" y="143"/>
                  </a:cubicBezTo>
                  <a:cubicBezTo>
                    <a:pt x="689" y="625"/>
                    <a:pt x="405" y="1085"/>
                    <a:pt x="85" y="1519"/>
                  </a:cubicBezTo>
                  <a:cubicBezTo>
                    <a:pt x="0" y="1631"/>
                    <a:pt x="21" y="1790"/>
                    <a:pt x="135" y="1874"/>
                  </a:cubicBezTo>
                  <a:cubicBezTo>
                    <a:pt x="181" y="1909"/>
                    <a:pt x="235" y="1926"/>
                    <a:pt x="289" y="1926"/>
                  </a:cubicBezTo>
                  <a:cubicBezTo>
                    <a:pt x="366" y="1926"/>
                    <a:pt x="441" y="1892"/>
                    <a:pt x="492" y="1826"/>
                  </a:cubicBezTo>
                  <a:cubicBezTo>
                    <a:pt x="831" y="1367"/>
                    <a:pt x="1132" y="878"/>
                    <a:pt x="1389" y="368"/>
                  </a:cubicBezTo>
                  <a:cubicBezTo>
                    <a:pt x="1451" y="241"/>
                    <a:pt x="1398" y="87"/>
                    <a:pt x="1270" y="26"/>
                  </a:cubicBezTo>
                  <a:cubicBezTo>
                    <a:pt x="1234" y="9"/>
                    <a:pt x="1196" y="1"/>
                    <a:pt x="1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DF76227D-5472-FF88-B33A-B9A9B5C868D7}"/>
              </a:ext>
            </a:extLst>
          </p:cNvPr>
          <p:cNvSpPr txBox="1"/>
          <p:nvPr/>
        </p:nvSpPr>
        <p:spPr>
          <a:xfrm>
            <a:off x="2973760" y="1087220"/>
            <a:ext cx="2615697" cy="6001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93" indent="-285793">
              <a:buFont typeface="Arial" panose="020B0604020202020204" pitchFamily="34" charset="0"/>
              <a:buChar char="•"/>
            </a:pPr>
            <a:r>
              <a:rPr lang="en-US" sz="1100" dirty="0" err="1"/>
              <a:t>Inchikey</a:t>
            </a:r>
            <a:r>
              <a:rPr lang="en-US" sz="1100" dirty="0"/>
              <a:t> mapping</a:t>
            </a:r>
          </a:p>
          <a:p>
            <a:pPr marL="285793" indent="-285793">
              <a:buFont typeface="Arial" panose="020B0604020202020204" pitchFamily="34" charset="0"/>
              <a:buChar char="•"/>
            </a:pPr>
            <a:r>
              <a:rPr lang="en-US" sz="1100" dirty="0"/>
              <a:t>Filter to approved antibacterials</a:t>
            </a:r>
          </a:p>
          <a:p>
            <a:pPr marL="285793" indent="-285793">
              <a:buFont typeface="Arial" panose="020B0604020202020204" pitchFamily="34" charset="0"/>
              <a:buChar char="•"/>
            </a:pPr>
            <a:r>
              <a:rPr lang="en-US" sz="1100" dirty="0"/>
              <a:t>Exclude non-antibacterial compounds</a:t>
            </a:r>
            <a:endParaRPr lang="en-US"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1D7E92-9AB1-569B-A80B-8BBB3325C198}"/>
              </a:ext>
            </a:extLst>
          </p:cNvPr>
          <p:cNvSpPr txBox="1"/>
          <p:nvPr/>
        </p:nvSpPr>
        <p:spPr>
          <a:xfrm>
            <a:off x="518545" y="1949581"/>
            <a:ext cx="1586227" cy="261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1" b="1" dirty="0"/>
              <a:t>Raw</a:t>
            </a:r>
            <a:r>
              <a:rPr lang="en-US" sz="1101" dirty="0"/>
              <a:t> ≈ 171 Drug pairs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802B556-2D83-FD2B-F7F7-658709A92A0C}"/>
              </a:ext>
            </a:extLst>
          </p:cNvPr>
          <p:cNvGrpSpPr/>
          <p:nvPr/>
        </p:nvGrpSpPr>
        <p:grpSpPr>
          <a:xfrm>
            <a:off x="371811" y="773667"/>
            <a:ext cx="1757687" cy="1175914"/>
            <a:chOff x="2095908" y="4304896"/>
            <a:chExt cx="1757687" cy="1175915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3D894FC8-B667-9FD8-A23E-4CC8BB5AE729}"/>
                </a:ext>
              </a:extLst>
            </p:cNvPr>
            <p:cNvSpPr/>
            <p:nvPr/>
          </p:nvSpPr>
          <p:spPr>
            <a:xfrm>
              <a:off x="2141950" y="4304896"/>
              <a:ext cx="1711645" cy="1175915"/>
            </a:xfrm>
            <a:prstGeom prst="roundRect">
              <a:avLst/>
            </a:prstGeom>
            <a:solidFill>
              <a:srgbClr val="7BAFD4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73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BC4B862-5D6A-5F70-8396-C0C27563759C}"/>
                </a:ext>
              </a:extLst>
            </p:cNvPr>
            <p:cNvSpPr txBox="1"/>
            <p:nvPr/>
          </p:nvSpPr>
          <p:spPr>
            <a:xfrm>
              <a:off x="2095908" y="4513909"/>
              <a:ext cx="1732961" cy="830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INDIGO dataset</a:t>
              </a: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200" dirty="0"/>
                <a:t>Checkerboard assay</a:t>
              </a: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200" dirty="0"/>
                <a:t>Loewe </a:t>
              </a:r>
              <a:r>
                <a:rPr lang="el-GR" sz="1200" dirty="0"/>
                <a:t>α</a:t>
              </a:r>
              <a:r>
                <a:rPr lang="en-US" sz="1200" dirty="0"/>
                <a:t> interaction scores</a:t>
              </a:r>
            </a:p>
          </p:txBody>
        </p:sp>
      </p:grpSp>
      <p:pic>
        <p:nvPicPr>
          <p:cNvPr id="18" name="Graphic 17">
            <a:extLst>
              <a:ext uri="{FF2B5EF4-FFF2-40B4-BE49-F238E27FC236}">
                <a16:creationId xmlns:a16="http://schemas.microsoft.com/office/drawing/2014/main" id="{F2538641-32C3-D44A-E457-AED9E503D71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08428" y="1136312"/>
            <a:ext cx="314524" cy="387106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739F3084-90D5-8996-3EE3-E63AB31CEBF9}"/>
              </a:ext>
            </a:extLst>
          </p:cNvPr>
          <p:cNvSpPr/>
          <p:nvPr/>
        </p:nvSpPr>
        <p:spPr>
          <a:xfrm>
            <a:off x="2585542" y="1292707"/>
            <a:ext cx="279902" cy="97092"/>
          </a:xfrm>
          <a:prstGeom prst="rightArrow">
            <a:avLst/>
          </a:prstGeom>
          <a:solidFill>
            <a:srgbClr val="1F77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73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FEA7958-2F7A-024A-E85C-ED3E02323FF3}"/>
              </a:ext>
            </a:extLst>
          </p:cNvPr>
          <p:cNvSpPr/>
          <p:nvPr/>
        </p:nvSpPr>
        <p:spPr>
          <a:xfrm>
            <a:off x="5709800" y="1315894"/>
            <a:ext cx="279902" cy="97092"/>
          </a:xfrm>
          <a:prstGeom prst="rightArrow">
            <a:avLst/>
          </a:prstGeom>
          <a:solidFill>
            <a:srgbClr val="1F77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73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A1E8FDCD-CA9B-1051-A4FF-DAC4FBA0C2E8}"/>
              </a:ext>
            </a:extLst>
          </p:cNvPr>
          <p:cNvSpPr/>
          <p:nvPr/>
        </p:nvSpPr>
        <p:spPr>
          <a:xfrm>
            <a:off x="9753217" y="1364440"/>
            <a:ext cx="279902" cy="97092"/>
          </a:xfrm>
          <a:prstGeom prst="rightArrow">
            <a:avLst/>
          </a:prstGeom>
          <a:solidFill>
            <a:srgbClr val="1F77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73"/>
          </a:p>
        </p:txBody>
      </p:sp>
    </p:spTree>
    <p:extLst>
      <p:ext uri="{BB962C8B-B14F-4D97-AF65-F5344CB8AC3E}">
        <p14:creationId xmlns:p14="http://schemas.microsoft.com/office/powerpoint/2010/main" val="2222568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61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Hannie Yousefabadi</dc:creator>
  <cp:lastModifiedBy>Hannie Yousefabadi</cp:lastModifiedBy>
  <cp:revision>2</cp:revision>
  <dcterms:created xsi:type="dcterms:W3CDTF">2026-01-16T18:53:40Z</dcterms:created>
  <dcterms:modified xsi:type="dcterms:W3CDTF">2026-01-16T19:07:47Z</dcterms:modified>
</cp:coreProperties>
</file>