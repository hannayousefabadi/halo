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57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35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70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405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540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676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811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944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080" algn="l" defTabSz="9142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C1"/>
    <a:srgbClr val="A7D7A0"/>
    <a:srgbClr val="C7C7C7"/>
    <a:srgbClr val="7BAFD4"/>
    <a:srgbClr val="F4E3A3"/>
    <a:srgbClr val="F28E2B"/>
    <a:srgbClr val="D2A679"/>
    <a:srgbClr val="8C9E5E"/>
    <a:srgbClr val="9467BD"/>
    <a:srgbClr val="2CA0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13" autoAdjust="0"/>
  </p:normalViewPr>
  <p:slideViewPr>
    <p:cSldViewPr snapToGrid="0">
      <p:cViewPr varScale="1">
        <p:scale>
          <a:sx n="100" d="100"/>
          <a:sy n="100" d="100"/>
        </p:scale>
        <p:origin x="954" y="84"/>
      </p:cViewPr>
      <p:guideLst>
        <p:guide orient="horz" pos="2161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3F18-0B0B-4B4C-81C3-BEB9DEEB96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F9D92-BD37-4C6A-A51F-53AB307C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4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35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70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405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540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676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811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944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080" algn="l" defTabSz="914270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9D92-BD37-4C6A-A51F-53AB307CB5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88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Figure 1B.</a:t>
            </a:r>
            <a:r>
              <a:rPr lang="en-US" dirty="0"/>
              <a:t> Dataset overview after curation.</a:t>
            </a:r>
          </a:p>
          <a:p>
            <a:r>
              <a:rPr lang="en-US" b="1" dirty="0"/>
              <a:t>(B)</a:t>
            </a:r>
            <a:r>
              <a:rPr lang="en-US" dirty="0"/>
              <a:t> Bliss score–based interaction statistics. Top left: distribution of Bliss scores across all pair–strain assays. Top right: counts of 3-class Bliss interaction labels (antagonism, neutral, synergy). Bottom left: summary dataset statistics. Bottom right: number of unique drug pairs per strain.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The final dataset contained 3,164 unique drug pairs tested across 22 species.</a:t>
            </a:r>
            <a:br>
              <a:rPr lang="en-US" dirty="0"/>
            </a:br>
            <a:r>
              <a:rPr lang="en-US" dirty="0"/>
              <a:t>Histogram shows the continuous distribution of Bliss scores, while the class balance plot demonstrates that synergistic, additive, and antagonistic interactions are not trivially balanced.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b="1" dirty="0"/>
              <a:t>Figure 1B.</a:t>
            </a:r>
            <a:r>
              <a:rPr lang="en-US" dirty="0"/>
              <a:t> Dataset summary after curation.</a:t>
            </a:r>
            <a:br>
              <a:rPr lang="en-US" dirty="0"/>
            </a:br>
            <a:r>
              <a:rPr lang="en-US" dirty="0"/>
              <a:t>The final dataset includes 1,324 unique drug pairs tested across 10 strains (6 species), totaling 3,164 assays.</a:t>
            </a:r>
            <a:br>
              <a:rPr lang="en-US" dirty="0"/>
            </a:br>
            <a:r>
              <a:rPr lang="en-US" dirty="0"/>
              <a:t>The Bliss-score distribution (right) spans −1 to +1 with mean −0.03 ± 0.27, while class proportions (bottom-left) show near-balanced synergy, additivity, and antagonism at ε threshold ±0.12.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9D92-BD37-4C6A-A51F-53AB307CB5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49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9D92-BD37-4C6A-A51F-53AB307CB5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50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E005-F297-646D-926E-EFDAEB74C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71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2AC80-539A-3C46-7A4D-4FA7B0966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67" indent="0" algn="ctr">
              <a:buNone/>
              <a:defRPr sz="2001"/>
            </a:lvl2pPr>
            <a:lvl3pPr marL="914536" indent="0" algn="ctr">
              <a:buNone/>
              <a:defRPr sz="1800"/>
            </a:lvl3pPr>
            <a:lvl4pPr marL="1371800" indent="0" algn="ctr">
              <a:buNone/>
              <a:defRPr sz="1599"/>
            </a:lvl4pPr>
            <a:lvl5pPr marL="1829072" indent="0" algn="ctr">
              <a:buNone/>
              <a:defRPr sz="1599"/>
            </a:lvl5pPr>
            <a:lvl6pPr marL="2286336" indent="0" algn="ctr">
              <a:buNone/>
              <a:defRPr sz="1599"/>
            </a:lvl6pPr>
            <a:lvl7pPr marL="2743605" indent="0" algn="ctr">
              <a:buNone/>
              <a:defRPr sz="1599"/>
            </a:lvl7pPr>
            <a:lvl8pPr marL="3200871" indent="0" algn="ctr">
              <a:buNone/>
              <a:defRPr sz="1599"/>
            </a:lvl8pPr>
            <a:lvl9pPr marL="3658142" indent="0" algn="ctr">
              <a:buNone/>
              <a:defRPr sz="15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8DDBB-A058-BFB3-CFE6-235710F29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47A28-AEF8-E50B-9703-A3AFB3434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0EAF8-0B07-5318-BB61-703D01BB6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76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D25E-009D-77AA-4DED-FEA561A8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59BD8-CCB3-96CC-28D5-1658AF848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EA9CD-4268-D796-F8CC-86A64FDD1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5E35C-8325-1807-581A-0AA9C774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53D1A-2779-B619-40E3-69D2AA5D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8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95C2-FB3F-44AA-790E-21945354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C6362-FE04-8AEC-4EDE-22C0F113D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67" indent="0">
              <a:buNone/>
              <a:defRPr sz="2001">
                <a:solidFill>
                  <a:schemeClr val="tx1">
                    <a:tint val="75000"/>
                  </a:schemeClr>
                </a:solidFill>
              </a:defRPr>
            </a:lvl2pPr>
            <a:lvl3pPr marL="91453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800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9072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6336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3605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200871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8142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33430-66EA-9C45-A243-4B05B9E2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9B19F-BD28-EC4D-EFB6-6CA4E2013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3AFF5-B99F-537F-D8AD-7BC890DC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8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FEDA-E266-CE8E-A098-A95BF8313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C7F22-5822-9F27-8BB5-8DF5B94CE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5" y="1825626"/>
            <a:ext cx="5181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809D2-19D1-FD65-036A-E06973D0C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5" y="1825626"/>
            <a:ext cx="5181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F6C0E-58F0-7889-2CD9-362A107B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DDA67-2F20-325C-1652-F426EB01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42FD8-081F-449E-9BD3-8781E92D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8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AECA-2612-CBB2-AC19-6B1D9A72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365133"/>
            <a:ext cx="10515600" cy="13255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C6D67-4A58-7491-5D82-A9A9F18D6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2" y="168116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67" indent="0">
              <a:buNone/>
              <a:defRPr sz="2001" b="1"/>
            </a:lvl2pPr>
            <a:lvl3pPr marL="914536" indent="0">
              <a:buNone/>
              <a:defRPr sz="1800" b="1"/>
            </a:lvl3pPr>
            <a:lvl4pPr marL="1371800" indent="0">
              <a:buNone/>
              <a:defRPr sz="1599" b="1"/>
            </a:lvl4pPr>
            <a:lvl5pPr marL="1829072" indent="0">
              <a:buNone/>
              <a:defRPr sz="1599" b="1"/>
            </a:lvl5pPr>
            <a:lvl6pPr marL="2286336" indent="0">
              <a:buNone/>
              <a:defRPr sz="1599" b="1"/>
            </a:lvl6pPr>
            <a:lvl7pPr marL="2743605" indent="0">
              <a:buNone/>
              <a:defRPr sz="1599" b="1"/>
            </a:lvl7pPr>
            <a:lvl8pPr marL="3200871" indent="0">
              <a:buNone/>
              <a:defRPr sz="1599" b="1"/>
            </a:lvl8pPr>
            <a:lvl9pPr marL="3658142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B0B51-54D4-00B2-94F8-F45F87485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2" y="2505081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21F84-2B2F-3780-4558-1C8885EC3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5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67" indent="0">
              <a:buNone/>
              <a:defRPr sz="2001" b="1"/>
            </a:lvl2pPr>
            <a:lvl3pPr marL="914536" indent="0">
              <a:buNone/>
              <a:defRPr sz="1800" b="1"/>
            </a:lvl3pPr>
            <a:lvl4pPr marL="1371800" indent="0">
              <a:buNone/>
              <a:defRPr sz="1599" b="1"/>
            </a:lvl4pPr>
            <a:lvl5pPr marL="1829072" indent="0">
              <a:buNone/>
              <a:defRPr sz="1599" b="1"/>
            </a:lvl5pPr>
            <a:lvl6pPr marL="2286336" indent="0">
              <a:buNone/>
              <a:defRPr sz="1599" b="1"/>
            </a:lvl6pPr>
            <a:lvl7pPr marL="2743605" indent="0">
              <a:buNone/>
              <a:defRPr sz="1599" b="1"/>
            </a:lvl7pPr>
            <a:lvl8pPr marL="3200871" indent="0">
              <a:buNone/>
              <a:defRPr sz="1599" b="1"/>
            </a:lvl8pPr>
            <a:lvl9pPr marL="3658142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9269B0-AC9C-21B0-63BC-B054D64DB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81"/>
            <a:ext cx="518318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CB0E5-922A-7A3C-C9AA-570A5550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E3961-5846-B3AB-7E49-E1E2AA8B4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3F5C8-594E-E85B-6425-D352CD15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2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5A50-91BC-E4ED-DF7C-95A6A093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B397F9-0B5F-B7C8-D3D0-D3F73E6C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59BD3-20CA-0E66-41C7-210BE77E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88DB8-07F0-C459-D086-1B2E5310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1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A851F-05D7-A9E3-473E-6F8D48B0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F0895-07C5-6D15-D645-17975328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33331-99FB-4C2D-BA74-6A67AC54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2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21C9-2A76-3293-7F8A-0635A9EAE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1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FA43D-48CC-828B-F99D-186039FFA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3" y="987434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BB1AC-2719-B3BD-F7D8-F9147F7D7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402"/>
            <a:ext cx="3932237" cy="3811587"/>
          </a:xfrm>
        </p:spPr>
        <p:txBody>
          <a:bodyPr/>
          <a:lstStyle>
            <a:lvl1pPr marL="0" indent="0">
              <a:buNone/>
              <a:defRPr sz="1599"/>
            </a:lvl1pPr>
            <a:lvl2pPr marL="457267" indent="0">
              <a:buNone/>
              <a:defRPr sz="1401"/>
            </a:lvl2pPr>
            <a:lvl3pPr marL="914536" indent="0">
              <a:buNone/>
              <a:defRPr sz="1200"/>
            </a:lvl3pPr>
            <a:lvl4pPr marL="1371800" indent="0">
              <a:buNone/>
              <a:defRPr sz="999"/>
            </a:lvl4pPr>
            <a:lvl5pPr marL="1829072" indent="0">
              <a:buNone/>
              <a:defRPr sz="999"/>
            </a:lvl5pPr>
            <a:lvl6pPr marL="2286336" indent="0">
              <a:buNone/>
              <a:defRPr sz="999"/>
            </a:lvl6pPr>
            <a:lvl7pPr marL="2743605" indent="0">
              <a:buNone/>
              <a:defRPr sz="999"/>
            </a:lvl7pPr>
            <a:lvl8pPr marL="3200871" indent="0">
              <a:buNone/>
              <a:defRPr sz="999"/>
            </a:lvl8pPr>
            <a:lvl9pPr marL="3658142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6145B-6FFA-661A-4F3C-7B0D00851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46A2B-BBD6-D7A6-4819-AB51579F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FBE36-FA4D-7035-BD05-D5C04DE4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7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4586-B1D3-9AA8-2290-E7EC0420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1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813894-D98F-ABB6-626D-F2A3B9454D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3" y="987434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67" indent="0">
              <a:buNone/>
              <a:defRPr sz="2801"/>
            </a:lvl2pPr>
            <a:lvl3pPr marL="914536" indent="0">
              <a:buNone/>
              <a:defRPr sz="2400"/>
            </a:lvl3pPr>
            <a:lvl4pPr marL="1371800" indent="0">
              <a:buNone/>
              <a:defRPr sz="2001"/>
            </a:lvl4pPr>
            <a:lvl5pPr marL="1829072" indent="0">
              <a:buNone/>
              <a:defRPr sz="2001"/>
            </a:lvl5pPr>
            <a:lvl6pPr marL="2286336" indent="0">
              <a:buNone/>
              <a:defRPr sz="2001"/>
            </a:lvl6pPr>
            <a:lvl7pPr marL="2743605" indent="0">
              <a:buNone/>
              <a:defRPr sz="2001"/>
            </a:lvl7pPr>
            <a:lvl8pPr marL="3200871" indent="0">
              <a:buNone/>
              <a:defRPr sz="2001"/>
            </a:lvl8pPr>
            <a:lvl9pPr marL="3658142" indent="0">
              <a:buNone/>
              <a:defRPr sz="2001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29A41-59DF-156C-7BA8-54FFE3274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402"/>
            <a:ext cx="3932237" cy="3811587"/>
          </a:xfrm>
        </p:spPr>
        <p:txBody>
          <a:bodyPr/>
          <a:lstStyle>
            <a:lvl1pPr marL="0" indent="0">
              <a:buNone/>
              <a:defRPr sz="1599"/>
            </a:lvl1pPr>
            <a:lvl2pPr marL="457267" indent="0">
              <a:buNone/>
              <a:defRPr sz="1401"/>
            </a:lvl2pPr>
            <a:lvl3pPr marL="914536" indent="0">
              <a:buNone/>
              <a:defRPr sz="1200"/>
            </a:lvl3pPr>
            <a:lvl4pPr marL="1371800" indent="0">
              <a:buNone/>
              <a:defRPr sz="999"/>
            </a:lvl4pPr>
            <a:lvl5pPr marL="1829072" indent="0">
              <a:buNone/>
              <a:defRPr sz="999"/>
            </a:lvl5pPr>
            <a:lvl6pPr marL="2286336" indent="0">
              <a:buNone/>
              <a:defRPr sz="999"/>
            </a:lvl6pPr>
            <a:lvl7pPr marL="2743605" indent="0">
              <a:buNone/>
              <a:defRPr sz="999"/>
            </a:lvl7pPr>
            <a:lvl8pPr marL="3200871" indent="0">
              <a:buNone/>
              <a:defRPr sz="999"/>
            </a:lvl8pPr>
            <a:lvl9pPr marL="3658142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46280-3410-2FCF-3790-48B23A0B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3C5FA-C200-0E3A-9FFA-A05DDC96A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0ECAE-18B6-5717-9308-F176C443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4530-0955-3AC2-600F-01475281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2FB8B-6657-DCD0-30CE-FBD6CF0E7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0F223-EA60-CB27-F499-8B6F51D3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6CF33-D219-B4AE-CE7F-95FD1D79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5145D-D917-7DCD-E3F4-2C6CC9CB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4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61F4EE-C482-5C8E-2FFB-4576D3BC2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670F5-CE28-4D41-F855-0834C2C6F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DFC6-D7D4-E1FD-EDD1-70E425816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5C76A-5AB7-A2B0-0D6F-53EB3CB5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287C8-7376-0175-7889-CA3419E4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9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51DD8-674B-9C28-3F07-81F06FAC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33"/>
            <a:ext cx="10515600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9A6E2-B2EB-1588-8759-C50223F9D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3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33759-00DA-ADF8-05FD-967629D4B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8D3E2-249C-484A-821A-68E36AE5606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67038-0616-8CE7-E616-40CD2F3D4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FD96-DF5C-05D5-6011-70F7BF697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4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53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33" indent="-228633" algn="l" defTabSz="914536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03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167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439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703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970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239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505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773" indent="-228633" algn="l" defTabSz="91453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67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36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00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072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336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605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871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142" algn="l" defTabSz="9145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D61D59-1133-91D1-24EB-DE631A79B9FB}"/>
              </a:ext>
            </a:extLst>
          </p:cNvPr>
          <p:cNvSpPr txBox="1"/>
          <p:nvPr/>
        </p:nvSpPr>
        <p:spPr>
          <a:xfrm>
            <a:off x="327389" y="180628"/>
            <a:ext cx="5484700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1" b="1" dirty="0"/>
              <a:t>A. </a:t>
            </a:r>
            <a:r>
              <a:rPr lang="en-US" sz="2000" dirty="0"/>
              <a:t>Data preprocessing and curation workflow</a:t>
            </a:r>
            <a:endParaRPr lang="en-US" sz="200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9DFC1BC-D1B1-28F7-5CCE-BAA79A3AF485}"/>
              </a:ext>
            </a:extLst>
          </p:cNvPr>
          <p:cNvGrpSpPr/>
          <p:nvPr/>
        </p:nvGrpSpPr>
        <p:grpSpPr>
          <a:xfrm>
            <a:off x="318411" y="514191"/>
            <a:ext cx="11731829" cy="1975617"/>
            <a:chOff x="318411" y="989084"/>
            <a:chExt cx="11731829" cy="197561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10AF5A6-A91F-BDBB-2A8E-F9D085836A7A}"/>
                </a:ext>
              </a:extLst>
            </p:cNvPr>
            <p:cNvGrpSpPr/>
            <p:nvPr/>
          </p:nvGrpSpPr>
          <p:grpSpPr>
            <a:xfrm>
              <a:off x="2796732" y="989084"/>
              <a:ext cx="2689103" cy="1445319"/>
              <a:chOff x="3401161" y="616049"/>
              <a:chExt cx="2476219" cy="1165066"/>
            </a:xfrm>
          </p:grpSpPr>
          <p:sp>
            <p:nvSpPr>
              <p:cNvPr id="171" name="Rectangle: Rounded Corners 170">
                <a:extLst>
                  <a:ext uri="{FF2B5EF4-FFF2-40B4-BE49-F238E27FC236}">
                    <a16:creationId xmlns:a16="http://schemas.microsoft.com/office/drawing/2014/main" id="{51630B3F-16EE-1BEA-60F0-2FBB00E69145}"/>
                  </a:ext>
                </a:extLst>
              </p:cNvPr>
              <p:cNvSpPr/>
              <p:nvPr/>
            </p:nvSpPr>
            <p:spPr>
              <a:xfrm>
                <a:off x="3408945" y="934931"/>
                <a:ext cx="2468435" cy="846184"/>
              </a:xfrm>
              <a:prstGeom prst="roundRect">
                <a:avLst/>
              </a:prstGeom>
              <a:solidFill>
                <a:srgbClr val="8DC5C1"/>
              </a:solidFill>
              <a:ln>
                <a:solidFill>
                  <a:srgbClr val="8DC5C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 dirty="0"/>
              </a:p>
            </p:txBody>
          </p:sp>
          <p:grpSp>
            <p:nvGrpSpPr>
              <p:cNvPr id="179" name="Google Shape;5209;p65">
                <a:extLst>
                  <a:ext uri="{FF2B5EF4-FFF2-40B4-BE49-F238E27FC236}">
                    <a16:creationId xmlns:a16="http://schemas.microsoft.com/office/drawing/2014/main" id="{0BBA6ED5-422D-E76B-67CE-2E95595680C7}"/>
                  </a:ext>
                </a:extLst>
              </p:cNvPr>
              <p:cNvGrpSpPr/>
              <p:nvPr/>
            </p:nvGrpSpPr>
            <p:grpSpPr>
              <a:xfrm>
                <a:off x="3401161" y="616049"/>
                <a:ext cx="420385" cy="412664"/>
                <a:chOff x="5985650" y="2860025"/>
                <a:chExt cx="1396075" cy="1539775"/>
              </a:xfrm>
              <a:solidFill>
                <a:schemeClr val="accent1">
                  <a:lumMod val="75000"/>
                </a:schemeClr>
              </a:solidFill>
            </p:grpSpPr>
            <p:sp>
              <p:nvSpPr>
                <p:cNvPr id="180" name="Google Shape;5210;p65">
                  <a:extLst>
                    <a:ext uri="{FF2B5EF4-FFF2-40B4-BE49-F238E27FC236}">
                      <a16:creationId xmlns:a16="http://schemas.microsoft.com/office/drawing/2014/main" id="{86A4E25C-8A78-706E-EE94-638CDECAE959}"/>
                    </a:ext>
                  </a:extLst>
                </p:cNvPr>
                <p:cNvSpPr/>
                <p:nvPr/>
              </p:nvSpPr>
              <p:spPr>
                <a:xfrm>
                  <a:off x="6655300" y="3128850"/>
                  <a:ext cx="637150" cy="63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6" h="25278" extrusionOk="0">
                      <a:moveTo>
                        <a:pt x="12746" y="4905"/>
                      </a:moveTo>
                      <a:cubicBezTo>
                        <a:pt x="13701" y="4905"/>
                        <a:pt x="14672" y="5083"/>
                        <a:pt x="15613" y="5460"/>
                      </a:cubicBezTo>
                      <a:cubicBezTo>
                        <a:pt x="19580" y="7047"/>
                        <a:pt x="21508" y="11545"/>
                        <a:pt x="19923" y="15511"/>
                      </a:cubicBezTo>
                      <a:cubicBezTo>
                        <a:pt x="18714" y="18534"/>
                        <a:pt x="15811" y="20374"/>
                        <a:pt x="12742" y="20374"/>
                      </a:cubicBezTo>
                      <a:cubicBezTo>
                        <a:pt x="11786" y="20374"/>
                        <a:pt x="10814" y="20196"/>
                        <a:pt x="9873" y="19819"/>
                      </a:cubicBezTo>
                      <a:cubicBezTo>
                        <a:pt x="5908" y="18234"/>
                        <a:pt x="3978" y="13734"/>
                        <a:pt x="5563" y="9769"/>
                      </a:cubicBezTo>
                      <a:cubicBezTo>
                        <a:pt x="6772" y="6745"/>
                        <a:pt x="9676" y="4905"/>
                        <a:pt x="12746" y="4905"/>
                      </a:cubicBezTo>
                      <a:close/>
                      <a:moveTo>
                        <a:pt x="15551" y="1"/>
                      </a:moveTo>
                      <a:cubicBezTo>
                        <a:pt x="15240" y="1"/>
                        <a:pt x="14946" y="187"/>
                        <a:pt x="14824" y="492"/>
                      </a:cubicBezTo>
                      <a:lnTo>
                        <a:pt x="14047" y="2435"/>
                      </a:lnTo>
                      <a:cubicBezTo>
                        <a:pt x="13612" y="2378"/>
                        <a:pt x="13174" y="2350"/>
                        <a:pt x="12736" y="2350"/>
                      </a:cubicBezTo>
                      <a:cubicBezTo>
                        <a:pt x="12218" y="2350"/>
                        <a:pt x="11700" y="2390"/>
                        <a:pt x="11187" y="2469"/>
                      </a:cubicBezTo>
                      <a:lnTo>
                        <a:pt x="10364" y="547"/>
                      </a:lnTo>
                      <a:cubicBezTo>
                        <a:pt x="10238" y="251"/>
                        <a:pt x="9949" y="73"/>
                        <a:pt x="9646" y="73"/>
                      </a:cubicBezTo>
                      <a:cubicBezTo>
                        <a:pt x="9543" y="73"/>
                        <a:pt x="9438" y="93"/>
                        <a:pt x="9338" y="137"/>
                      </a:cubicBezTo>
                      <a:lnTo>
                        <a:pt x="6036" y="1553"/>
                      </a:lnTo>
                      <a:cubicBezTo>
                        <a:pt x="5640" y="1722"/>
                        <a:pt x="5456" y="2182"/>
                        <a:pt x="5626" y="2579"/>
                      </a:cubicBezTo>
                      <a:lnTo>
                        <a:pt x="6449" y="4501"/>
                      </a:lnTo>
                      <a:cubicBezTo>
                        <a:pt x="5690" y="5085"/>
                        <a:pt x="5019" y="5775"/>
                        <a:pt x="4452" y="6549"/>
                      </a:cubicBezTo>
                      <a:lnTo>
                        <a:pt x="2510" y="5772"/>
                      </a:lnTo>
                      <a:cubicBezTo>
                        <a:pt x="2414" y="5734"/>
                        <a:pt x="2316" y="5716"/>
                        <a:pt x="2219" y="5716"/>
                      </a:cubicBezTo>
                      <a:cubicBezTo>
                        <a:pt x="1910" y="5716"/>
                        <a:pt x="1616" y="5901"/>
                        <a:pt x="1493" y="6208"/>
                      </a:cubicBezTo>
                      <a:lnTo>
                        <a:pt x="161" y="9542"/>
                      </a:lnTo>
                      <a:cubicBezTo>
                        <a:pt x="0" y="9944"/>
                        <a:pt x="194" y="10398"/>
                        <a:pt x="596" y="10558"/>
                      </a:cubicBezTo>
                      <a:lnTo>
                        <a:pt x="2537" y="11335"/>
                      </a:lnTo>
                      <a:cubicBezTo>
                        <a:pt x="2415" y="12285"/>
                        <a:pt x="2426" y="13249"/>
                        <a:pt x="2572" y="14195"/>
                      </a:cubicBezTo>
                      <a:lnTo>
                        <a:pt x="651" y="15018"/>
                      </a:lnTo>
                      <a:cubicBezTo>
                        <a:pt x="253" y="15189"/>
                        <a:pt x="71" y="15649"/>
                        <a:pt x="241" y="16046"/>
                      </a:cubicBezTo>
                      <a:lnTo>
                        <a:pt x="1655" y="19347"/>
                      </a:lnTo>
                      <a:cubicBezTo>
                        <a:pt x="1781" y="19643"/>
                        <a:pt x="2070" y="19821"/>
                        <a:pt x="2373" y="19821"/>
                      </a:cubicBezTo>
                      <a:cubicBezTo>
                        <a:pt x="2476" y="19821"/>
                        <a:pt x="2581" y="19800"/>
                        <a:pt x="2681" y="19756"/>
                      </a:cubicBezTo>
                      <a:lnTo>
                        <a:pt x="4603" y="18933"/>
                      </a:lnTo>
                      <a:cubicBezTo>
                        <a:pt x="5189" y="19692"/>
                        <a:pt x="5879" y="20365"/>
                        <a:pt x="6651" y="20930"/>
                      </a:cubicBezTo>
                      <a:lnTo>
                        <a:pt x="5874" y="22873"/>
                      </a:lnTo>
                      <a:cubicBezTo>
                        <a:pt x="5714" y="23273"/>
                        <a:pt x="5909" y="23728"/>
                        <a:pt x="6310" y="23888"/>
                      </a:cubicBezTo>
                      <a:lnTo>
                        <a:pt x="9645" y="25222"/>
                      </a:lnTo>
                      <a:cubicBezTo>
                        <a:pt x="9740" y="25260"/>
                        <a:pt x="9838" y="25278"/>
                        <a:pt x="9935" y="25278"/>
                      </a:cubicBezTo>
                      <a:cubicBezTo>
                        <a:pt x="10245" y="25278"/>
                        <a:pt x="10538" y="25092"/>
                        <a:pt x="10660" y="24786"/>
                      </a:cubicBezTo>
                      <a:lnTo>
                        <a:pt x="11437" y="22845"/>
                      </a:lnTo>
                      <a:cubicBezTo>
                        <a:pt x="11871" y="22901"/>
                        <a:pt x="12308" y="22929"/>
                        <a:pt x="12745" y="22929"/>
                      </a:cubicBezTo>
                      <a:cubicBezTo>
                        <a:pt x="13264" y="22929"/>
                        <a:pt x="13784" y="22889"/>
                        <a:pt x="14299" y="22810"/>
                      </a:cubicBezTo>
                      <a:lnTo>
                        <a:pt x="15122" y="24732"/>
                      </a:lnTo>
                      <a:cubicBezTo>
                        <a:pt x="15248" y="25028"/>
                        <a:pt x="15536" y="25206"/>
                        <a:pt x="15839" y="25206"/>
                      </a:cubicBezTo>
                      <a:cubicBezTo>
                        <a:pt x="15943" y="25206"/>
                        <a:pt x="16047" y="25185"/>
                        <a:pt x="16148" y="25142"/>
                      </a:cubicBezTo>
                      <a:lnTo>
                        <a:pt x="19449" y="23728"/>
                      </a:lnTo>
                      <a:cubicBezTo>
                        <a:pt x="19846" y="23558"/>
                        <a:pt x="20030" y="23098"/>
                        <a:pt x="19860" y="22701"/>
                      </a:cubicBezTo>
                      <a:lnTo>
                        <a:pt x="19037" y="20780"/>
                      </a:lnTo>
                      <a:cubicBezTo>
                        <a:pt x="19794" y="20194"/>
                        <a:pt x="20467" y="19503"/>
                        <a:pt x="21034" y="18732"/>
                      </a:cubicBezTo>
                      <a:lnTo>
                        <a:pt x="22975" y="19508"/>
                      </a:lnTo>
                      <a:cubicBezTo>
                        <a:pt x="23070" y="19546"/>
                        <a:pt x="23168" y="19564"/>
                        <a:pt x="23265" y="19564"/>
                      </a:cubicBezTo>
                      <a:cubicBezTo>
                        <a:pt x="23576" y="19564"/>
                        <a:pt x="23869" y="19378"/>
                        <a:pt x="23992" y="19073"/>
                      </a:cubicBezTo>
                      <a:lnTo>
                        <a:pt x="25326" y="15737"/>
                      </a:lnTo>
                      <a:cubicBezTo>
                        <a:pt x="25486" y="15337"/>
                        <a:pt x="25290" y="14882"/>
                        <a:pt x="24890" y="14722"/>
                      </a:cubicBezTo>
                      <a:lnTo>
                        <a:pt x="22948" y="13945"/>
                      </a:lnTo>
                      <a:cubicBezTo>
                        <a:pt x="23071" y="12994"/>
                        <a:pt x="23060" y="12032"/>
                        <a:pt x="22914" y="11084"/>
                      </a:cubicBezTo>
                      <a:lnTo>
                        <a:pt x="24835" y="10261"/>
                      </a:lnTo>
                      <a:cubicBezTo>
                        <a:pt x="25231" y="10091"/>
                        <a:pt x="25415" y="9631"/>
                        <a:pt x="25245" y="9234"/>
                      </a:cubicBezTo>
                      <a:lnTo>
                        <a:pt x="23830" y="5934"/>
                      </a:lnTo>
                      <a:cubicBezTo>
                        <a:pt x="23703" y="5637"/>
                        <a:pt x="23414" y="5459"/>
                        <a:pt x="23111" y="5459"/>
                      </a:cubicBezTo>
                      <a:cubicBezTo>
                        <a:pt x="23008" y="5459"/>
                        <a:pt x="22904" y="5479"/>
                        <a:pt x="22803" y="5522"/>
                      </a:cubicBezTo>
                      <a:lnTo>
                        <a:pt x="20882" y="6347"/>
                      </a:lnTo>
                      <a:cubicBezTo>
                        <a:pt x="20297" y="5588"/>
                        <a:pt x="19607" y="4915"/>
                        <a:pt x="18835" y="4348"/>
                      </a:cubicBezTo>
                      <a:lnTo>
                        <a:pt x="19610" y="2408"/>
                      </a:lnTo>
                      <a:cubicBezTo>
                        <a:pt x="19770" y="2006"/>
                        <a:pt x="19577" y="1551"/>
                        <a:pt x="19175" y="1391"/>
                      </a:cubicBezTo>
                      <a:lnTo>
                        <a:pt x="15841" y="57"/>
                      </a:lnTo>
                      <a:cubicBezTo>
                        <a:pt x="15745" y="19"/>
                        <a:pt x="15647" y="1"/>
                        <a:pt x="155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1" name="Google Shape;5211;p65">
                  <a:extLst>
                    <a:ext uri="{FF2B5EF4-FFF2-40B4-BE49-F238E27FC236}">
                      <a16:creationId xmlns:a16="http://schemas.microsoft.com/office/drawing/2014/main" id="{3EFC295D-133F-9D09-5B55-83B45BEC02DE}"/>
                    </a:ext>
                  </a:extLst>
                </p:cNvPr>
                <p:cNvSpPr/>
                <p:nvPr/>
              </p:nvSpPr>
              <p:spPr>
                <a:xfrm>
                  <a:off x="6673425" y="3771400"/>
                  <a:ext cx="600850" cy="60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34" h="24032" extrusionOk="0">
                      <a:moveTo>
                        <a:pt x="12017" y="4775"/>
                      </a:moveTo>
                      <a:cubicBezTo>
                        <a:pt x="16016" y="4775"/>
                        <a:pt x="19258" y="8018"/>
                        <a:pt x="19258" y="12017"/>
                      </a:cubicBezTo>
                      <a:cubicBezTo>
                        <a:pt x="19258" y="16015"/>
                        <a:pt x="16016" y="19256"/>
                        <a:pt x="12019" y="19256"/>
                      </a:cubicBezTo>
                      <a:lnTo>
                        <a:pt x="12017" y="19256"/>
                      </a:lnTo>
                      <a:cubicBezTo>
                        <a:pt x="8019" y="19256"/>
                        <a:pt x="4778" y="16015"/>
                        <a:pt x="4778" y="12017"/>
                      </a:cubicBezTo>
                      <a:cubicBezTo>
                        <a:pt x="4778" y="8018"/>
                        <a:pt x="8019" y="4775"/>
                        <a:pt x="12017" y="4775"/>
                      </a:cubicBezTo>
                      <a:close/>
                      <a:moveTo>
                        <a:pt x="10336" y="0"/>
                      </a:moveTo>
                      <a:cubicBezTo>
                        <a:pt x="9932" y="0"/>
                        <a:pt x="9604" y="327"/>
                        <a:pt x="9604" y="732"/>
                      </a:cubicBezTo>
                      <a:lnTo>
                        <a:pt x="9604" y="2689"/>
                      </a:lnTo>
                      <a:cubicBezTo>
                        <a:pt x="8734" y="2913"/>
                        <a:pt x="7902" y="3259"/>
                        <a:pt x="7128" y="3714"/>
                      </a:cubicBezTo>
                      <a:lnTo>
                        <a:pt x="5745" y="2330"/>
                      </a:lnTo>
                      <a:cubicBezTo>
                        <a:pt x="5602" y="2187"/>
                        <a:pt x="5415" y="2115"/>
                        <a:pt x="5228" y="2115"/>
                      </a:cubicBezTo>
                      <a:cubicBezTo>
                        <a:pt x="5040" y="2115"/>
                        <a:pt x="4853" y="2187"/>
                        <a:pt x="4710" y="2330"/>
                      </a:cubicBezTo>
                      <a:lnTo>
                        <a:pt x="2332" y="4708"/>
                      </a:lnTo>
                      <a:cubicBezTo>
                        <a:pt x="2046" y="4995"/>
                        <a:pt x="2046" y="5457"/>
                        <a:pt x="2332" y="5744"/>
                      </a:cubicBezTo>
                      <a:lnTo>
                        <a:pt x="3716" y="7128"/>
                      </a:lnTo>
                      <a:cubicBezTo>
                        <a:pt x="3260" y="7900"/>
                        <a:pt x="2915" y="8734"/>
                        <a:pt x="2691" y="9602"/>
                      </a:cubicBezTo>
                      <a:lnTo>
                        <a:pt x="734" y="9602"/>
                      </a:lnTo>
                      <a:cubicBezTo>
                        <a:pt x="329" y="9602"/>
                        <a:pt x="1" y="9930"/>
                        <a:pt x="1" y="10335"/>
                      </a:cubicBezTo>
                      <a:lnTo>
                        <a:pt x="1" y="13698"/>
                      </a:lnTo>
                      <a:cubicBezTo>
                        <a:pt x="1" y="14101"/>
                        <a:pt x="329" y="14430"/>
                        <a:pt x="734" y="14430"/>
                      </a:cubicBezTo>
                      <a:lnTo>
                        <a:pt x="2691" y="14430"/>
                      </a:lnTo>
                      <a:cubicBezTo>
                        <a:pt x="2915" y="15298"/>
                        <a:pt x="3260" y="16132"/>
                        <a:pt x="3716" y="16904"/>
                      </a:cubicBezTo>
                      <a:lnTo>
                        <a:pt x="2332" y="18289"/>
                      </a:lnTo>
                      <a:cubicBezTo>
                        <a:pt x="2046" y="18574"/>
                        <a:pt x="2046" y="19038"/>
                        <a:pt x="2332" y="19323"/>
                      </a:cubicBezTo>
                      <a:lnTo>
                        <a:pt x="4710" y="21701"/>
                      </a:lnTo>
                      <a:cubicBezTo>
                        <a:pt x="4853" y="21845"/>
                        <a:pt x="5040" y="21916"/>
                        <a:pt x="5228" y="21916"/>
                      </a:cubicBezTo>
                      <a:cubicBezTo>
                        <a:pt x="5415" y="21916"/>
                        <a:pt x="5602" y="21845"/>
                        <a:pt x="5745" y="21701"/>
                      </a:cubicBezTo>
                      <a:lnTo>
                        <a:pt x="7128" y="20318"/>
                      </a:lnTo>
                      <a:cubicBezTo>
                        <a:pt x="7902" y="20774"/>
                        <a:pt x="8736" y="21118"/>
                        <a:pt x="9604" y="21343"/>
                      </a:cubicBezTo>
                      <a:lnTo>
                        <a:pt x="9604" y="23299"/>
                      </a:lnTo>
                      <a:cubicBezTo>
                        <a:pt x="9604" y="23705"/>
                        <a:pt x="9932" y="24031"/>
                        <a:pt x="10336" y="24031"/>
                      </a:cubicBezTo>
                      <a:lnTo>
                        <a:pt x="13699" y="24031"/>
                      </a:lnTo>
                      <a:cubicBezTo>
                        <a:pt x="14104" y="24031"/>
                        <a:pt x="14432" y="23705"/>
                        <a:pt x="14432" y="23299"/>
                      </a:cubicBezTo>
                      <a:lnTo>
                        <a:pt x="14432" y="21343"/>
                      </a:lnTo>
                      <a:cubicBezTo>
                        <a:pt x="15300" y="21118"/>
                        <a:pt x="16134" y="20773"/>
                        <a:pt x="16906" y="20318"/>
                      </a:cubicBezTo>
                      <a:lnTo>
                        <a:pt x="18290" y="21701"/>
                      </a:lnTo>
                      <a:cubicBezTo>
                        <a:pt x="18433" y="21844"/>
                        <a:pt x="18620" y="21915"/>
                        <a:pt x="18808" y="21915"/>
                      </a:cubicBezTo>
                      <a:cubicBezTo>
                        <a:pt x="18995" y="21915"/>
                        <a:pt x="19182" y="21844"/>
                        <a:pt x="19326" y="21701"/>
                      </a:cubicBezTo>
                      <a:lnTo>
                        <a:pt x="21704" y="19323"/>
                      </a:lnTo>
                      <a:cubicBezTo>
                        <a:pt x="21989" y="19037"/>
                        <a:pt x="21989" y="18574"/>
                        <a:pt x="21704" y="18287"/>
                      </a:cubicBezTo>
                      <a:lnTo>
                        <a:pt x="20320" y="16904"/>
                      </a:lnTo>
                      <a:cubicBezTo>
                        <a:pt x="20775" y="16130"/>
                        <a:pt x="21121" y="15298"/>
                        <a:pt x="21345" y="14430"/>
                      </a:cubicBezTo>
                      <a:lnTo>
                        <a:pt x="23302" y="14430"/>
                      </a:lnTo>
                      <a:cubicBezTo>
                        <a:pt x="23705" y="14430"/>
                        <a:pt x="24034" y="14101"/>
                        <a:pt x="24034" y="13696"/>
                      </a:cubicBezTo>
                      <a:lnTo>
                        <a:pt x="24034" y="10334"/>
                      </a:lnTo>
                      <a:cubicBezTo>
                        <a:pt x="24034" y="9930"/>
                        <a:pt x="23705" y="9602"/>
                        <a:pt x="23302" y="9602"/>
                      </a:cubicBezTo>
                      <a:lnTo>
                        <a:pt x="21343" y="9602"/>
                      </a:lnTo>
                      <a:cubicBezTo>
                        <a:pt x="21121" y="8734"/>
                        <a:pt x="20775" y="7900"/>
                        <a:pt x="20320" y="7128"/>
                      </a:cubicBezTo>
                      <a:lnTo>
                        <a:pt x="21704" y="5744"/>
                      </a:lnTo>
                      <a:cubicBezTo>
                        <a:pt x="21989" y="5457"/>
                        <a:pt x="21989" y="4995"/>
                        <a:pt x="21704" y="4708"/>
                      </a:cubicBezTo>
                      <a:lnTo>
                        <a:pt x="19326" y="2330"/>
                      </a:lnTo>
                      <a:cubicBezTo>
                        <a:pt x="19182" y="2187"/>
                        <a:pt x="18995" y="2115"/>
                        <a:pt x="18808" y="2115"/>
                      </a:cubicBezTo>
                      <a:cubicBezTo>
                        <a:pt x="18620" y="2115"/>
                        <a:pt x="18433" y="2187"/>
                        <a:pt x="18290" y="2330"/>
                      </a:cubicBezTo>
                      <a:lnTo>
                        <a:pt x="16906" y="3714"/>
                      </a:lnTo>
                      <a:cubicBezTo>
                        <a:pt x="16133" y="3259"/>
                        <a:pt x="15300" y="2913"/>
                        <a:pt x="14430" y="2689"/>
                      </a:cubicBezTo>
                      <a:lnTo>
                        <a:pt x="14430" y="732"/>
                      </a:lnTo>
                      <a:cubicBezTo>
                        <a:pt x="14430" y="327"/>
                        <a:pt x="14104" y="0"/>
                        <a:pt x="136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2" name="Google Shape;5212;p65">
                  <a:extLst>
                    <a:ext uri="{FF2B5EF4-FFF2-40B4-BE49-F238E27FC236}">
                      <a16:creationId xmlns:a16="http://schemas.microsoft.com/office/drawing/2014/main" id="{B8C7528F-BA9D-F57F-14DB-1042FE9CE4C7}"/>
                    </a:ext>
                  </a:extLst>
                </p:cNvPr>
                <p:cNvSpPr/>
                <p:nvPr/>
              </p:nvSpPr>
              <p:spPr>
                <a:xfrm>
                  <a:off x="6073050" y="3509700"/>
                  <a:ext cx="641725" cy="63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69" h="25472" extrusionOk="0">
                      <a:moveTo>
                        <a:pt x="12840" y="5002"/>
                      </a:moveTo>
                      <a:cubicBezTo>
                        <a:pt x="13949" y="5002"/>
                        <a:pt x="15075" y="5242"/>
                        <a:pt x="16144" y="5747"/>
                      </a:cubicBezTo>
                      <a:cubicBezTo>
                        <a:pt x="20003" y="7575"/>
                        <a:pt x="21651" y="12185"/>
                        <a:pt x="19822" y="16044"/>
                      </a:cubicBezTo>
                      <a:cubicBezTo>
                        <a:pt x="18501" y="18836"/>
                        <a:pt x="15726" y="20470"/>
                        <a:pt x="12830" y="20470"/>
                      </a:cubicBezTo>
                      <a:cubicBezTo>
                        <a:pt x="11721" y="20470"/>
                        <a:pt x="10595" y="20230"/>
                        <a:pt x="9525" y="19724"/>
                      </a:cubicBezTo>
                      <a:cubicBezTo>
                        <a:pt x="5666" y="17897"/>
                        <a:pt x="4018" y="13286"/>
                        <a:pt x="5845" y="9427"/>
                      </a:cubicBezTo>
                      <a:cubicBezTo>
                        <a:pt x="7167" y="6636"/>
                        <a:pt x="9944" y="5002"/>
                        <a:pt x="12840" y="5002"/>
                      </a:cubicBezTo>
                      <a:close/>
                      <a:moveTo>
                        <a:pt x="10471" y="1"/>
                      </a:moveTo>
                      <a:cubicBezTo>
                        <a:pt x="10383" y="1"/>
                        <a:pt x="10294" y="16"/>
                        <a:pt x="10208" y="47"/>
                      </a:cubicBezTo>
                      <a:lnTo>
                        <a:pt x="6824" y="1256"/>
                      </a:lnTo>
                      <a:cubicBezTo>
                        <a:pt x="6417" y="1401"/>
                        <a:pt x="6206" y="1848"/>
                        <a:pt x="6351" y="2255"/>
                      </a:cubicBezTo>
                      <a:lnTo>
                        <a:pt x="7054" y="4223"/>
                      </a:lnTo>
                      <a:cubicBezTo>
                        <a:pt x="6262" y="4761"/>
                        <a:pt x="5548" y="5408"/>
                        <a:pt x="4934" y="6145"/>
                      </a:cubicBezTo>
                      <a:lnTo>
                        <a:pt x="3045" y="5249"/>
                      </a:lnTo>
                      <a:cubicBezTo>
                        <a:pt x="2937" y="5199"/>
                        <a:pt x="2823" y="5174"/>
                        <a:pt x="2711" y="5174"/>
                      </a:cubicBezTo>
                      <a:cubicBezTo>
                        <a:pt x="2418" y="5174"/>
                        <a:pt x="2137" y="5340"/>
                        <a:pt x="2004" y="5623"/>
                      </a:cubicBezTo>
                      <a:lnTo>
                        <a:pt x="467" y="8868"/>
                      </a:lnTo>
                      <a:cubicBezTo>
                        <a:pt x="282" y="9259"/>
                        <a:pt x="449" y="9725"/>
                        <a:pt x="840" y="9909"/>
                      </a:cubicBezTo>
                      <a:lnTo>
                        <a:pt x="2729" y="10804"/>
                      </a:lnTo>
                      <a:cubicBezTo>
                        <a:pt x="2548" y="11744"/>
                        <a:pt x="2500" y="12707"/>
                        <a:pt x="2587" y="13661"/>
                      </a:cubicBezTo>
                      <a:lnTo>
                        <a:pt x="619" y="14364"/>
                      </a:lnTo>
                      <a:cubicBezTo>
                        <a:pt x="212" y="14510"/>
                        <a:pt x="1" y="14957"/>
                        <a:pt x="145" y="15363"/>
                      </a:cubicBezTo>
                      <a:lnTo>
                        <a:pt x="1354" y="18747"/>
                      </a:lnTo>
                      <a:cubicBezTo>
                        <a:pt x="1467" y="19067"/>
                        <a:pt x="1768" y="19265"/>
                        <a:pt x="2089" y="19265"/>
                      </a:cubicBezTo>
                      <a:cubicBezTo>
                        <a:pt x="2177" y="19265"/>
                        <a:pt x="2266" y="19251"/>
                        <a:pt x="2353" y="19219"/>
                      </a:cubicBezTo>
                      <a:lnTo>
                        <a:pt x="4321" y="18516"/>
                      </a:lnTo>
                      <a:cubicBezTo>
                        <a:pt x="4859" y="19309"/>
                        <a:pt x="5506" y="20023"/>
                        <a:pt x="6243" y="20637"/>
                      </a:cubicBezTo>
                      <a:lnTo>
                        <a:pt x="5347" y="22526"/>
                      </a:lnTo>
                      <a:cubicBezTo>
                        <a:pt x="5163" y="22917"/>
                        <a:pt x="5330" y="23383"/>
                        <a:pt x="5721" y="23567"/>
                      </a:cubicBezTo>
                      <a:lnTo>
                        <a:pt x="8966" y="25104"/>
                      </a:lnTo>
                      <a:cubicBezTo>
                        <a:pt x="9074" y="25155"/>
                        <a:pt x="9188" y="25179"/>
                        <a:pt x="9300" y="25179"/>
                      </a:cubicBezTo>
                      <a:cubicBezTo>
                        <a:pt x="9593" y="25179"/>
                        <a:pt x="9874" y="25014"/>
                        <a:pt x="10007" y="24731"/>
                      </a:cubicBezTo>
                      <a:lnTo>
                        <a:pt x="10902" y="22842"/>
                      </a:lnTo>
                      <a:cubicBezTo>
                        <a:pt x="11540" y="22964"/>
                        <a:pt x="12187" y="23026"/>
                        <a:pt x="12836" y="23026"/>
                      </a:cubicBezTo>
                      <a:cubicBezTo>
                        <a:pt x="13144" y="23026"/>
                        <a:pt x="13452" y="23012"/>
                        <a:pt x="13759" y="22984"/>
                      </a:cubicBezTo>
                      <a:lnTo>
                        <a:pt x="14462" y="24952"/>
                      </a:lnTo>
                      <a:cubicBezTo>
                        <a:pt x="14577" y="25272"/>
                        <a:pt x="14878" y="25471"/>
                        <a:pt x="15200" y="25471"/>
                      </a:cubicBezTo>
                      <a:cubicBezTo>
                        <a:pt x="15286" y="25471"/>
                        <a:pt x="15375" y="25457"/>
                        <a:pt x="15461" y="25426"/>
                      </a:cubicBezTo>
                      <a:lnTo>
                        <a:pt x="18845" y="24217"/>
                      </a:lnTo>
                      <a:cubicBezTo>
                        <a:pt x="19252" y="24071"/>
                        <a:pt x="19463" y="23625"/>
                        <a:pt x="19318" y="23218"/>
                      </a:cubicBezTo>
                      <a:lnTo>
                        <a:pt x="18615" y="21250"/>
                      </a:lnTo>
                      <a:cubicBezTo>
                        <a:pt x="19407" y="20712"/>
                        <a:pt x="20121" y="20065"/>
                        <a:pt x="20735" y="19328"/>
                      </a:cubicBezTo>
                      <a:lnTo>
                        <a:pt x="22624" y="20223"/>
                      </a:lnTo>
                      <a:cubicBezTo>
                        <a:pt x="22732" y="20274"/>
                        <a:pt x="22846" y="20298"/>
                        <a:pt x="22958" y="20298"/>
                      </a:cubicBezTo>
                      <a:cubicBezTo>
                        <a:pt x="23251" y="20298"/>
                        <a:pt x="23532" y="20133"/>
                        <a:pt x="23665" y="19850"/>
                      </a:cubicBezTo>
                      <a:lnTo>
                        <a:pt x="25202" y="16604"/>
                      </a:lnTo>
                      <a:cubicBezTo>
                        <a:pt x="25387" y="16214"/>
                        <a:pt x="25220" y="15748"/>
                        <a:pt x="24829" y="15564"/>
                      </a:cubicBezTo>
                      <a:lnTo>
                        <a:pt x="22940" y="14668"/>
                      </a:lnTo>
                      <a:cubicBezTo>
                        <a:pt x="23121" y="13727"/>
                        <a:pt x="23169" y="12766"/>
                        <a:pt x="23082" y="11812"/>
                      </a:cubicBezTo>
                      <a:lnTo>
                        <a:pt x="25050" y="11107"/>
                      </a:lnTo>
                      <a:cubicBezTo>
                        <a:pt x="25457" y="10963"/>
                        <a:pt x="25668" y="10515"/>
                        <a:pt x="25523" y="10108"/>
                      </a:cubicBezTo>
                      <a:lnTo>
                        <a:pt x="24315" y="6726"/>
                      </a:lnTo>
                      <a:cubicBezTo>
                        <a:pt x="24201" y="6406"/>
                        <a:pt x="23898" y="6207"/>
                        <a:pt x="23577" y="6207"/>
                      </a:cubicBezTo>
                      <a:cubicBezTo>
                        <a:pt x="23491" y="6207"/>
                        <a:pt x="23402" y="6221"/>
                        <a:pt x="23316" y="6252"/>
                      </a:cubicBezTo>
                      <a:lnTo>
                        <a:pt x="21348" y="6956"/>
                      </a:lnTo>
                      <a:cubicBezTo>
                        <a:pt x="20810" y="6162"/>
                        <a:pt x="20163" y="5450"/>
                        <a:pt x="19426" y="4836"/>
                      </a:cubicBezTo>
                      <a:lnTo>
                        <a:pt x="20320" y="2947"/>
                      </a:lnTo>
                      <a:cubicBezTo>
                        <a:pt x="20506" y="2556"/>
                        <a:pt x="20339" y="2090"/>
                        <a:pt x="19948" y="1906"/>
                      </a:cubicBezTo>
                      <a:lnTo>
                        <a:pt x="16703" y="369"/>
                      </a:lnTo>
                      <a:cubicBezTo>
                        <a:pt x="16595" y="318"/>
                        <a:pt x="16481" y="294"/>
                        <a:pt x="16369" y="294"/>
                      </a:cubicBezTo>
                      <a:cubicBezTo>
                        <a:pt x="16076" y="294"/>
                        <a:pt x="15795" y="459"/>
                        <a:pt x="15662" y="742"/>
                      </a:cubicBezTo>
                      <a:lnTo>
                        <a:pt x="14767" y="2631"/>
                      </a:lnTo>
                      <a:cubicBezTo>
                        <a:pt x="14130" y="2508"/>
                        <a:pt x="13485" y="2447"/>
                        <a:pt x="12839" y="2447"/>
                      </a:cubicBezTo>
                      <a:cubicBezTo>
                        <a:pt x="12529" y="2447"/>
                        <a:pt x="12219" y="2461"/>
                        <a:pt x="11910" y="2489"/>
                      </a:cubicBezTo>
                      <a:lnTo>
                        <a:pt x="11207" y="521"/>
                      </a:lnTo>
                      <a:cubicBezTo>
                        <a:pt x="11092" y="200"/>
                        <a:pt x="10791" y="1"/>
                        <a:pt x="104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3" name="Google Shape;5213;p65">
                  <a:extLst>
                    <a:ext uri="{FF2B5EF4-FFF2-40B4-BE49-F238E27FC236}">
                      <a16:creationId xmlns:a16="http://schemas.microsoft.com/office/drawing/2014/main" id="{BB50E656-CE32-FBBB-A45E-A45D35F8F2D9}"/>
                    </a:ext>
                  </a:extLst>
                </p:cNvPr>
                <p:cNvSpPr/>
                <p:nvPr/>
              </p:nvSpPr>
              <p:spPr>
                <a:xfrm>
                  <a:off x="6124575" y="2917775"/>
                  <a:ext cx="572575" cy="57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03" h="22901" extrusionOk="0">
                      <a:moveTo>
                        <a:pt x="11452" y="4551"/>
                      </a:moveTo>
                      <a:cubicBezTo>
                        <a:pt x="15263" y="4551"/>
                        <a:pt x="18352" y="7640"/>
                        <a:pt x="18352" y="11451"/>
                      </a:cubicBezTo>
                      <a:cubicBezTo>
                        <a:pt x="18352" y="15262"/>
                        <a:pt x="15263" y="18350"/>
                        <a:pt x="11452" y="18350"/>
                      </a:cubicBezTo>
                      <a:lnTo>
                        <a:pt x="11452" y="18351"/>
                      </a:lnTo>
                      <a:cubicBezTo>
                        <a:pt x="7640" y="18351"/>
                        <a:pt x="4552" y="15262"/>
                        <a:pt x="4552" y="11451"/>
                      </a:cubicBezTo>
                      <a:cubicBezTo>
                        <a:pt x="4552" y="7640"/>
                        <a:pt x="7640" y="4551"/>
                        <a:pt x="11452" y="4551"/>
                      </a:cubicBezTo>
                      <a:close/>
                      <a:moveTo>
                        <a:pt x="9850" y="0"/>
                      </a:moveTo>
                      <a:cubicBezTo>
                        <a:pt x="9464" y="0"/>
                        <a:pt x="9152" y="312"/>
                        <a:pt x="9152" y="698"/>
                      </a:cubicBezTo>
                      <a:lnTo>
                        <a:pt x="9152" y="2564"/>
                      </a:lnTo>
                      <a:cubicBezTo>
                        <a:pt x="8324" y="2777"/>
                        <a:pt x="7530" y="3105"/>
                        <a:pt x="6793" y="3539"/>
                      </a:cubicBezTo>
                      <a:lnTo>
                        <a:pt x="5474" y="2221"/>
                      </a:lnTo>
                      <a:cubicBezTo>
                        <a:pt x="5338" y="2085"/>
                        <a:pt x="5159" y="2017"/>
                        <a:pt x="4981" y="2017"/>
                      </a:cubicBezTo>
                      <a:cubicBezTo>
                        <a:pt x="4802" y="2017"/>
                        <a:pt x="4624" y="2085"/>
                        <a:pt x="4487" y="2221"/>
                      </a:cubicBezTo>
                      <a:lnTo>
                        <a:pt x="2222" y="4487"/>
                      </a:lnTo>
                      <a:cubicBezTo>
                        <a:pt x="1949" y="4759"/>
                        <a:pt x="1949" y="5201"/>
                        <a:pt x="2222" y="5473"/>
                      </a:cubicBezTo>
                      <a:lnTo>
                        <a:pt x="3541" y="6791"/>
                      </a:lnTo>
                      <a:cubicBezTo>
                        <a:pt x="3107" y="7528"/>
                        <a:pt x="2777" y="8322"/>
                        <a:pt x="2564" y="9150"/>
                      </a:cubicBezTo>
                      <a:lnTo>
                        <a:pt x="699" y="9150"/>
                      </a:lnTo>
                      <a:cubicBezTo>
                        <a:pt x="313" y="9150"/>
                        <a:pt x="1" y="9462"/>
                        <a:pt x="1" y="9848"/>
                      </a:cubicBezTo>
                      <a:lnTo>
                        <a:pt x="1" y="13053"/>
                      </a:lnTo>
                      <a:cubicBezTo>
                        <a:pt x="1" y="13438"/>
                        <a:pt x="313" y="13751"/>
                        <a:pt x="699" y="13751"/>
                      </a:cubicBezTo>
                      <a:lnTo>
                        <a:pt x="2564" y="13751"/>
                      </a:lnTo>
                      <a:cubicBezTo>
                        <a:pt x="2777" y="14579"/>
                        <a:pt x="3106" y="15373"/>
                        <a:pt x="3541" y="16109"/>
                      </a:cubicBezTo>
                      <a:lnTo>
                        <a:pt x="2222" y="17427"/>
                      </a:lnTo>
                      <a:cubicBezTo>
                        <a:pt x="1949" y="17701"/>
                        <a:pt x="1949" y="18142"/>
                        <a:pt x="2222" y="18415"/>
                      </a:cubicBezTo>
                      <a:lnTo>
                        <a:pt x="4487" y="20681"/>
                      </a:lnTo>
                      <a:cubicBezTo>
                        <a:pt x="4624" y="20817"/>
                        <a:pt x="4802" y="20885"/>
                        <a:pt x="4981" y="20885"/>
                      </a:cubicBezTo>
                      <a:cubicBezTo>
                        <a:pt x="5159" y="20885"/>
                        <a:pt x="5338" y="20817"/>
                        <a:pt x="5474" y="20681"/>
                      </a:cubicBezTo>
                      <a:lnTo>
                        <a:pt x="6793" y="19362"/>
                      </a:lnTo>
                      <a:cubicBezTo>
                        <a:pt x="7530" y="19796"/>
                        <a:pt x="8324" y="20124"/>
                        <a:pt x="9152" y="20339"/>
                      </a:cubicBezTo>
                      <a:lnTo>
                        <a:pt x="9152" y="22204"/>
                      </a:lnTo>
                      <a:cubicBezTo>
                        <a:pt x="9152" y="22588"/>
                        <a:pt x="9464" y="22901"/>
                        <a:pt x="9850" y="22901"/>
                      </a:cubicBezTo>
                      <a:lnTo>
                        <a:pt x="13055" y="22901"/>
                      </a:lnTo>
                      <a:cubicBezTo>
                        <a:pt x="13439" y="22901"/>
                        <a:pt x="13751" y="22588"/>
                        <a:pt x="13751" y="22204"/>
                      </a:cubicBezTo>
                      <a:lnTo>
                        <a:pt x="13751" y="20339"/>
                      </a:lnTo>
                      <a:cubicBezTo>
                        <a:pt x="14581" y="20124"/>
                        <a:pt x="15373" y="19796"/>
                        <a:pt x="16110" y="19362"/>
                      </a:cubicBezTo>
                      <a:lnTo>
                        <a:pt x="17429" y="20680"/>
                      </a:lnTo>
                      <a:cubicBezTo>
                        <a:pt x="17566" y="20816"/>
                        <a:pt x="17744" y="20884"/>
                        <a:pt x="17923" y="20884"/>
                      </a:cubicBezTo>
                      <a:cubicBezTo>
                        <a:pt x="18101" y="20884"/>
                        <a:pt x="18280" y="20816"/>
                        <a:pt x="18416" y="20680"/>
                      </a:cubicBezTo>
                      <a:lnTo>
                        <a:pt x="20682" y="18414"/>
                      </a:lnTo>
                      <a:cubicBezTo>
                        <a:pt x="20954" y="18142"/>
                        <a:pt x="20954" y="17700"/>
                        <a:pt x="20682" y="17427"/>
                      </a:cubicBezTo>
                      <a:lnTo>
                        <a:pt x="19364" y="16109"/>
                      </a:lnTo>
                      <a:cubicBezTo>
                        <a:pt x="19798" y="15373"/>
                        <a:pt x="20126" y="14579"/>
                        <a:pt x="20339" y="13751"/>
                      </a:cubicBezTo>
                      <a:lnTo>
                        <a:pt x="22205" y="13751"/>
                      </a:lnTo>
                      <a:cubicBezTo>
                        <a:pt x="22591" y="13751"/>
                        <a:pt x="22903" y="13438"/>
                        <a:pt x="22903" y="13053"/>
                      </a:cubicBezTo>
                      <a:lnTo>
                        <a:pt x="22903" y="9850"/>
                      </a:lnTo>
                      <a:cubicBezTo>
                        <a:pt x="22903" y="9465"/>
                        <a:pt x="22592" y="9152"/>
                        <a:pt x="22208" y="9152"/>
                      </a:cubicBezTo>
                      <a:cubicBezTo>
                        <a:pt x="22207" y="9152"/>
                        <a:pt x="22206" y="9152"/>
                        <a:pt x="22205" y="9152"/>
                      </a:cubicBezTo>
                      <a:lnTo>
                        <a:pt x="20339" y="9152"/>
                      </a:lnTo>
                      <a:cubicBezTo>
                        <a:pt x="20126" y="8322"/>
                        <a:pt x="19798" y="7530"/>
                        <a:pt x="19364" y="6793"/>
                      </a:cubicBezTo>
                      <a:lnTo>
                        <a:pt x="20682" y="5473"/>
                      </a:lnTo>
                      <a:cubicBezTo>
                        <a:pt x="20954" y="5201"/>
                        <a:pt x="20954" y="4759"/>
                        <a:pt x="20682" y="4487"/>
                      </a:cubicBezTo>
                      <a:lnTo>
                        <a:pt x="18416" y="2221"/>
                      </a:lnTo>
                      <a:cubicBezTo>
                        <a:pt x="18280" y="2085"/>
                        <a:pt x="18101" y="2017"/>
                        <a:pt x="17923" y="2017"/>
                      </a:cubicBezTo>
                      <a:cubicBezTo>
                        <a:pt x="17744" y="2017"/>
                        <a:pt x="17566" y="2085"/>
                        <a:pt x="17429" y="2221"/>
                      </a:cubicBezTo>
                      <a:lnTo>
                        <a:pt x="16110" y="3541"/>
                      </a:lnTo>
                      <a:cubicBezTo>
                        <a:pt x="15373" y="3105"/>
                        <a:pt x="14581" y="2777"/>
                        <a:pt x="13751" y="2564"/>
                      </a:cubicBezTo>
                      <a:lnTo>
                        <a:pt x="13751" y="698"/>
                      </a:lnTo>
                      <a:cubicBezTo>
                        <a:pt x="13751" y="312"/>
                        <a:pt x="13439" y="0"/>
                        <a:pt x="130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4" name="Google Shape;5214;p65">
                  <a:extLst>
                    <a:ext uri="{FF2B5EF4-FFF2-40B4-BE49-F238E27FC236}">
                      <a16:creationId xmlns:a16="http://schemas.microsoft.com/office/drawing/2014/main" id="{6899569F-1DDA-0067-E1E5-005CEB408704}"/>
                    </a:ext>
                  </a:extLst>
                </p:cNvPr>
                <p:cNvSpPr/>
                <p:nvPr/>
              </p:nvSpPr>
              <p:spPr>
                <a:xfrm>
                  <a:off x="6459975" y="2867300"/>
                  <a:ext cx="101300" cy="5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2" h="2020" extrusionOk="0">
                      <a:moveTo>
                        <a:pt x="272" y="1"/>
                      </a:moveTo>
                      <a:cubicBezTo>
                        <a:pt x="157" y="1"/>
                        <a:pt x="54" y="82"/>
                        <a:pt x="29" y="200"/>
                      </a:cubicBezTo>
                      <a:cubicBezTo>
                        <a:pt x="0" y="338"/>
                        <a:pt x="87" y="474"/>
                        <a:pt x="225" y="507"/>
                      </a:cubicBezTo>
                      <a:cubicBezTo>
                        <a:pt x="1077" y="719"/>
                        <a:pt x="1895" y="1049"/>
                        <a:pt x="2657" y="1486"/>
                      </a:cubicBezTo>
                      <a:lnTo>
                        <a:pt x="2505" y="1740"/>
                      </a:lnTo>
                      <a:cubicBezTo>
                        <a:pt x="2459" y="1819"/>
                        <a:pt x="2511" y="1918"/>
                        <a:pt x="2603" y="1926"/>
                      </a:cubicBezTo>
                      <a:lnTo>
                        <a:pt x="3887" y="2019"/>
                      </a:lnTo>
                      <a:cubicBezTo>
                        <a:pt x="3890" y="2019"/>
                        <a:pt x="3893" y="2019"/>
                        <a:pt x="3895" y="2019"/>
                      </a:cubicBezTo>
                      <a:cubicBezTo>
                        <a:pt x="3991" y="2019"/>
                        <a:pt x="4052" y="1913"/>
                        <a:pt x="3999" y="1830"/>
                      </a:cubicBezTo>
                      <a:lnTo>
                        <a:pt x="3302" y="746"/>
                      </a:lnTo>
                      <a:cubicBezTo>
                        <a:pt x="3278" y="709"/>
                        <a:pt x="3239" y="690"/>
                        <a:pt x="3200" y="690"/>
                      </a:cubicBezTo>
                      <a:cubicBezTo>
                        <a:pt x="3159" y="690"/>
                        <a:pt x="3118" y="711"/>
                        <a:pt x="3094" y="751"/>
                      </a:cubicBezTo>
                      <a:lnTo>
                        <a:pt x="2917" y="1047"/>
                      </a:lnTo>
                      <a:cubicBezTo>
                        <a:pt x="2108" y="581"/>
                        <a:pt x="1237" y="230"/>
                        <a:pt x="330" y="8"/>
                      </a:cubicBezTo>
                      <a:cubicBezTo>
                        <a:pt x="311" y="3"/>
                        <a:pt x="291" y="1"/>
                        <a:pt x="2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5" name="Google Shape;5215;p65">
                  <a:extLst>
                    <a:ext uri="{FF2B5EF4-FFF2-40B4-BE49-F238E27FC236}">
                      <a16:creationId xmlns:a16="http://schemas.microsoft.com/office/drawing/2014/main" id="{645DDBD4-F79C-B8E6-2357-DAF0A83B3E10}"/>
                    </a:ext>
                  </a:extLst>
                </p:cNvPr>
                <p:cNvSpPr/>
                <p:nvPr/>
              </p:nvSpPr>
              <p:spPr>
                <a:xfrm>
                  <a:off x="6389025" y="2860025"/>
                  <a:ext cx="63100" cy="1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" h="628" extrusionOk="0">
                      <a:moveTo>
                        <a:pt x="787" y="1"/>
                      </a:moveTo>
                      <a:cubicBezTo>
                        <a:pt x="605" y="1"/>
                        <a:pt x="424" y="7"/>
                        <a:pt x="241" y="19"/>
                      </a:cubicBezTo>
                      <a:cubicBezTo>
                        <a:pt x="103" y="31"/>
                        <a:pt x="1" y="153"/>
                        <a:pt x="11" y="291"/>
                      </a:cubicBezTo>
                      <a:cubicBezTo>
                        <a:pt x="20" y="425"/>
                        <a:pt x="132" y="528"/>
                        <a:pt x="263" y="528"/>
                      </a:cubicBezTo>
                      <a:cubicBezTo>
                        <a:pt x="268" y="528"/>
                        <a:pt x="273" y="528"/>
                        <a:pt x="278" y="528"/>
                      </a:cubicBezTo>
                      <a:cubicBezTo>
                        <a:pt x="448" y="518"/>
                        <a:pt x="617" y="512"/>
                        <a:pt x="787" y="512"/>
                      </a:cubicBezTo>
                      <a:cubicBezTo>
                        <a:pt x="1261" y="512"/>
                        <a:pt x="1734" y="550"/>
                        <a:pt x="2203" y="624"/>
                      </a:cubicBezTo>
                      <a:cubicBezTo>
                        <a:pt x="2217" y="626"/>
                        <a:pt x="2231" y="627"/>
                        <a:pt x="2245" y="627"/>
                      </a:cubicBezTo>
                      <a:cubicBezTo>
                        <a:pt x="2363" y="627"/>
                        <a:pt x="2470" y="544"/>
                        <a:pt x="2494" y="424"/>
                      </a:cubicBezTo>
                      <a:cubicBezTo>
                        <a:pt x="2523" y="283"/>
                        <a:pt x="2430" y="145"/>
                        <a:pt x="2288" y="121"/>
                      </a:cubicBezTo>
                      <a:cubicBezTo>
                        <a:pt x="1791" y="43"/>
                        <a:pt x="1288" y="3"/>
                        <a:pt x="7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6" name="Google Shape;5216;p65">
                  <a:extLst>
                    <a:ext uri="{FF2B5EF4-FFF2-40B4-BE49-F238E27FC236}">
                      <a16:creationId xmlns:a16="http://schemas.microsoft.com/office/drawing/2014/main" id="{5F485FC2-8A36-0F0C-E041-4990DCB4B9C0}"/>
                    </a:ext>
                  </a:extLst>
                </p:cNvPr>
                <p:cNvSpPr/>
                <p:nvPr/>
              </p:nvSpPr>
              <p:spPr>
                <a:xfrm>
                  <a:off x="6279750" y="2879875"/>
                  <a:ext cx="39600" cy="2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" h="1040" extrusionOk="0">
                      <a:moveTo>
                        <a:pt x="1330" y="1"/>
                      </a:moveTo>
                      <a:cubicBezTo>
                        <a:pt x="1303" y="1"/>
                        <a:pt x="1276" y="6"/>
                        <a:pt x="1249" y="17"/>
                      </a:cubicBezTo>
                      <a:cubicBezTo>
                        <a:pt x="878" y="174"/>
                        <a:pt x="518" y="355"/>
                        <a:pt x="168" y="557"/>
                      </a:cubicBezTo>
                      <a:cubicBezTo>
                        <a:pt x="58" y="621"/>
                        <a:pt x="0" y="757"/>
                        <a:pt x="47" y="876"/>
                      </a:cubicBezTo>
                      <a:cubicBezTo>
                        <a:pt x="86" y="979"/>
                        <a:pt x="183" y="1040"/>
                        <a:pt x="284" y="1040"/>
                      </a:cubicBezTo>
                      <a:cubicBezTo>
                        <a:pt x="327" y="1040"/>
                        <a:pt x="371" y="1029"/>
                        <a:pt x="412" y="1005"/>
                      </a:cubicBezTo>
                      <a:cubicBezTo>
                        <a:pt x="727" y="823"/>
                        <a:pt x="1054" y="658"/>
                        <a:pt x="1389" y="512"/>
                      </a:cubicBezTo>
                      <a:cubicBezTo>
                        <a:pt x="1518" y="458"/>
                        <a:pt x="1584" y="312"/>
                        <a:pt x="1538" y="177"/>
                      </a:cubicBezTo>
                      <a:lnTo>
                        <a:pt x="1525" y="141"/>
                      </a:lnTo>
                      <a:cubicBezTo>
                        <a:pt x="1496" y="54"/>
                        <a:pt x="1415" y="1"/>
                        <a:pt x="13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7" name="Google Shape;5217;p65">
                  <a:extLst>
                    <a:ext uri="{FF2B5EF4-FFF2-40B4-BE49-F238E27FC236}">
                      <a16:creationId xmlns:a16="http://schemas.microsoft.com/office/drawing/2014/main" id="{81A28811-8A89-C4B2-63D4-4E5A345BCA5B}"/>
                    </a:ext>
                  </a:extLst>
                </p:cNvPr>
                <p:cNvSpPr/>
                <p:nvPr/>
              </p:nvSpPr>
              <p:spPr>
                <a:xfrm>
                  <a:off x="6325825" y="2862750"/>
                  <a:ext cx="544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7" h="896" extrusionOk="0">
                      <a:moveTo>
                        <a:pt x="1906" y="0"/>
                      </a:moveTo>
                      <a:cubicBezTo>
                        <a:pt x="1894" y="0"/>
                        <a:pt x="1883" y="1"/>
                        <a:pt x="1871" y="2"/>
                      </a:cubicBezTo>
                      <a:cubicBezTo>
                        <a:pt x="1306" y="87"/>
                        <a:pt x="748" y="220"/>
                        <a:pt x="205" y="400"/>
                      </a:cubicBezTo>
                      <a:cubicBezTo>
                        <a:pt x="71" y="444"/>
                        <a:pt x="0" y="590"/>
                        <a:pt x="47" y="725"/>
                      </a:cubicBezTo>
                      <a:cubicBezTo>
                        <a:pt x="84" y="829"/>
                        <a:pt x="183" y="895"/>
                        <a:pt x="288" y="895"/>
                      </a:cubicBezTo>
                      <a:cubicBezTo>
                        <a:pt x="316" y="895"/>
                        <a:pt x="343" y="891"/>
                        <a:pt x="370" y="882"/>
                      </a:cubicBezTo>
                      <a:cubicBezTo>
                        <a:pt x="883" y="712"/>
                        <a:pt x="1408" y="587"/>
                        <a:pt x="1941" y="507"/>
                      </a:cubicBezTo>
                      <a:cubicBezTo>
                        <a:pt x="2081" y="488"/>
                        <a:pt x="2177" y="360"/>
                        <a:pt x="2157" y="220"/>
                      </a:cubicBezTo>
                      <a:cubicBezTo>
                        <a:pt x="2140" y="93"/>
                        <a:pt x="2031" y="0"/>
                        <a:pt x="19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8" name="Google Shape;5218;p65">
                  <a:extLst>
                    <a:ext uri="{FF2B5EF4-FFF2-40B4-BE49-F238E27FC236}">
                      <a16:creationId xmlns:a16="http://schemas.microsoft.com/office/drawing/2014/main" id="{D4AEC6E4-6FD7-05D8-CBBF-F233D4612B34}"/>
                    </a:ext>
                  </a:extLst>
                </p:cNvPr>
                <p:cNvSpPr/>
                <p:nvPr/>
              </p:nvSpPr>
              <p:spPr>
                <a:xfrm>
                  <a:off x="7023725" y="3061400"/>
                  <a:ext cx="101300" cy="5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2" h="2019" extrusionOk="0">
                      <a:moveTo>
                        <a:pt x="273" y="0"/>
                      </a:moveTo>
                      <a:cubicBezTo>
                        <a:pt x="158" y="0"/>
                        <a:pt x="53" y="81"/>
                        <a:pt x="29" y="199"/>
                      </a:cubicBezTo>
                      <a:cubicBezTo>
                        <a:pt x="0" y="339"/>
                        <a:pt x="87" y="475"/>
                        <a:pt x="225" y="507"/>
                      </a:cubicBezTo>
                      <a:cubicBezTo>
                        <a:pt x="1077" y="720"/>
                        <a:pt x="1895" y="1048"/>
                        <a:pt x="2655" y="1487"/>
                      </a:cubicBezTo>
                      <a:lnTo>
                        <a:pt x="2505" y="1740"/>
                      </a:lnTo>
                      <a:cubicBezTo>
                        <a:pt x="2459" y="1818"/>
                        <a:pt x="2511" y="1919"/>
                        <a:pt x="2603" y="1925"/>
                      </a:cubicBezTo>
                      <a:lnTo>
                        <a:pt x="3885" y="2018"/>
                      </a:lnTo>
                      <a:cubicBezTo>
                        <a:pt x="3889" y="2019"/>
                        <a:pt x="3892" y="2019"/>
                        <a:pt x="3896" y="2019"/>
                      </a:cubicBezTo>
                      <a:cubicBezTo>
                        <a:pt x="3991" y="2019"/>
                        <a:pt x="4052" y="1911"/>
                        <a:pt x="3999" y="1829"/>
                      </a:cubicBezTo>
                      <a:lnTo>
                        <a:pt x="3302" y="747"/>
                      </a:lnTo>
                      <a:cubicBezTo>
                        <a:pt x="3278" y="709"/>
                        <a:pt x="3238" y="690"/>
                        <a:pt x="3198" y="690"/>
                      </a:cubicBezTo>
                      <a:cubicBezTo>
                        <a:pt x="3157" y="690"/>
                        <a:pt x="3116" y="710"/>
                        <a:pt x="3093" y="750"/>
                      </a:cubicBezTo>
                      <a:lnTo>
                        <a:pt x="2917" y="1048"/>
                      </a:lnTo>
                      <a:cubicBezTo>
                        <a:pt x="2108" y="582"/>
                        <a:pt x="1237" y="231"/>
                        <a:pt x="330" y="7"/>
                      </a:cubicBezTo>
                      <a:cubicBezTo>
                        <a:pt x="311" y="3"/>
                        <a:pt x="292" y="0"/>
                        <a:pt x="2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89" name="Google Shape;5219;p65">
                  <a:extLst>
                    <a:ext uri="{FF2B5EF4-FFF2-40B4-BE49-F238E27FC236}">
                      <a16:creationId xmlns:a16="http://schemas.microsoft.com/office/drawing/2014/main" id="{FA10E8AE-B3F8-CC37-F610-257A23289A75}"/>
                    </a:ext>
                  </a:extLst>
                </p:cNvPr>
                <p:cNvSpPr/>
                <p:nvPr/>
              </p:nvSpPr>
              <p:spPr>
                <a:xfrm>
                  <a:off x="6952750" y="3054150"/>
                  <a:ext cx="63100" cy="1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" h="626" extrusionOk="0">
                      <a:moveTo>
                        <a:pt x="787" y="1"/>
                      </a:moveTo>
                      <a:cubicBezTo>
                        <a:pt x="606" y="1"/>
                        <a:pt x="423" y="7"/>
                        <a:pt x="242" y="18"/>
                      </a:cubicBezTo>
                      <a:cubicBezTo>
                        <a:pt x="104" y="31"/>
                        <a:pt x="0" y="151"/>
                        <a:pt x="10" y="291"/>
                      </a:cubicBezTo>
                      <a:cubicBezTo>
                        <a:pt x="21" y="425"/>
                        <a:pt x="131" y="526"/>
                        <a:pt x="264" y="526"/>
                      </a:cubicBezTo>
                      <a:cubicBezTo>
                        <a:pt x="269" y="526"/>
                        <a:pt x="274" y="526"/>
                        <a:pt x="279" y="526"/>
                      </a:cubicBezTo>
                      <a:cubicBezTo>
                        <a:pt x="447" y="516"/>
                        <a:pt x="617" y="510"/>
                        <a:pt x="787" y="510"/>
                      </a:cubicBezTo>
                      <a:cubicBezTo>
                        <a:pt x="1261" y="512"/>
                        <a:pt x="1735" y="548"/>
                        <a:pt x="2204" y="622"/>
                      </a:cubicBezTo>
                      <a:cubicBezTo>
                        <a:pt x="2218" y="624"/>
                        <a:pt x="2232" y="626"/>
                        <a:pt x="2246" y="626"/>
                      </a:cubicBezTo>
                      <a:cubicBezTo>
                        <a:pt x="2364" y="626"/>
                        <a:pt x="2469" y="542"/>
                        <a:pt x="2495" y="422"/>
                      </a:cubicBezTo>
                      <a:cubicBezTo>
                        <a:pt x="2524" y="281"/>
                        <a:pt x="2430" y="145"/>
                        <a:pt x="2289" y="121"/>
                      </a:cubicBezTo>
                      <a:cubicBezTo>
                        <a:pt x="1792" y="41"/>
                        <a:pt x="1289" y="1"/>
                        <a:pt x="7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0" name="Google Shape;5220;p65">
                  <a:extLst>
                    <a:ext uri="{FF2B5EF4-FFF2-40B4-BE49-F238E27FC236}">
                      <a16:creationId xmlns:a16="http://schemas.microsoft.com/office/drawing/2014/main" id="{7171CD2E-8EC2-9766-D87D-1EE22A8F4FAD}"/>
                    </a:ext>
                  </a:extLst>
                </p:cNvPr>
                <p:cNvSpPr/>
                <p:nvPr/>
              </p:nvSpPr>
              <p:spPr>
                <a:xfrm>
                  <a:off x="6843450" y="3073975"/>
                  <a:ext cx="39625" cy="2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5" h="1041" extrusionOk="0">
                      <a:moveTo>
                        <a:pt x="1331" y="0"/>
                      </a:moveTo>
                      <a:cubicBezTo>
                        <a:pt x="1304" y="0"/>
                        <a:pt x="1277" y="6"/>
                        <a:pt x="1251" y="16"/>
                      </a:cubicBezTo>
                      <a:cubicBezTo>
                        <a:pt x="880" y="175"/>
                        <a:pt x="518" y="356"/>
                        <a:pt x="170" y="558"/>
                      </a:cubicBezTo>
                      <a:cubicBezTo>
                        <a:pt x="60" y="622"/>
                        <a:pt x="1" y="758"/>
                        <a:pt x="47" y="876"/>
                      </a:cubicBezTo>
                      <a:cubicBezTo>
                        <a:pt x="87" y="979"/>
                        <a:pt x="185" y="1040"/>
                        <a:pt x="287" y="1040"/>
                      </a:cubicBezTo>
                      <a:cubicBezTo>
                        <a:pt x="330" y="1040"/>
                        <a:pt x="373" y="1029"/>
                        <a:pt x="414" y="1006"/>
                      </a:cubicBezTo>
                      <a:cubicBezTo>
                        <a:pt x="729" y="822"/>
                        <a:pt x="1056" y="657"/>
                        <a:pt x="1391" y="513"/>
                      </a:cubicBezTo>
                      <a:cubicBezTo>
                        <a:pt x="1520" y="457"/>
                        <a:pt x="1584" y="311"/>
                        <a:pt x="1540" y="178"/>
                      </a:cubicBezTo>
                      <a:lnTo>
                        <a:pt x="1527" y="141"/>
                      </a:lnTo>
                      <a:cubicBezTo>
                        <a:pt x="1497" y="55"/>
                        <a:pt x="1417" y="0"/>
                        <a:pt x="13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1" name="Google Shape;5221;p65">
                  <a:extLst>
                    <a:ext uri="{FF2B5EF4-FFF2-40B4-BE49-F238E27FC236}">
                      <a16:creationId xmlns:a16="http://schemas.microsoft.com/office/drawing/2014/main" id="{6F83C20C-9B4D-AA2D-6706-E7D0A98D32C9}"/>
                    </a:ext>
                  </a:extLst>
                </p:cNvPr>
                <p:cNvSpPr/>
                <p:nvPr/>
              </p:nvSpPr>
              <p:spPr>
                <a:xfrm>
                  <a:off x="6889575" y="3056825"/>
                  <a:ext cx="544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7" h="896" extrusionOk="0">
                      <a:moveTo>
                        <a:pt x="1906" y="0"/>
                      </a:moveTo>
                      <a:cubicBezTo>
                        <a:pt x="1894" y="0"/>
                        <a:pt x="1883" y="1"/>
                        <a:pt x="1871" y="3"/>
                      </a:cubicBezTo>
                      <a:lnTo>
                        <a:pt x="1871" y="4"/>
                      </a:lnTo>
                      <a:cubicBezTo>
                        <a:pt x="1306" y="88"/>
                        <a:pt x="748" y="220"/>
                        <a:pt x="205" y="400"/>
                      </a:cubicBezTo>
                      <a:cubicBezTo>
                        <a:pt x="71" y="446"/>
                        <a:pt x="0" y="592"/>
                        <a:pt x="47" y="725"/>
                      </a:cubicBezTo>
                      <a:cubicBezTo>
                        <a:pt x="84" y="830"/>
                        <a:pt x="182" y="896"/>
                        <a:pt x="288" y="896"/>
                      </a:cubicBezTo>
                      <a:cubicBezTo>
                        <a:pt x="315" y="896"/>
                        <a:pt x="343" y="891"/>
                        <a:pt x="370" y="882"/>
                      </a:cubicBezTo>
                      <a:cubicBezTo>
                        <a:pt x="881" y="714"/>
                        <a:pt x="1406" y="587"/>
                        <a:pt x="1940" y="509"/>
                      </a:cubicBezTo>
                      <a:cubicBezTo>
                        <a:pt x="2079" y="490"/>
                        <a:pt x="2177" y="360"/>
                        <a:pt x="2157" y="220"/>
                      </a:cubicBezTo>
                      <a:cubicBezTo>
                        <a:pt x="2140" y="93"/>
                        <a:pt x="2031" y="0"/>
                        <a:pt x="19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2" name="Google Shape;5222;p65">
                  <a:extLst>
                    <a:ext uri="{FF2B5EF4-FFF2-40B4-BE49-F238E27FC236}">
                      <a16:creationId xmlns:a16="http://schemas.microsoft.com/office/drawing/2014/main" id="{435C5620-C79E-6A24-2A17-936A066FD135}"/>
                    </a:ext>
                  </a:extLst>
                </p:cNvPr>
                <p:cNvSpPr/>
                <p:nvPr/>
              </p:nvSpPr>
              <p:spPr>
                <a:xfrm>
                  <a:off x="6245350" y="4177200"/>
                  <a:ext cx="101275" cy="5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1" h="2019" extrusionOk="0">
                      <a:moveTo>
                        <a:pt x="157" y="1"/>
                      </a:moveTo>
                      <a:cubicBezTo>
                        <a:pt x="61" y="1"/>
                        <a:pt x="1" y="107"/>
                        <a:pt x="54" y="190"/>
                      </a:cubicBezTo>
                      <a:lnTo>
                        <a:pt x="750" y="1274"/>
                      </a:lnTo>
                      <a:cubicBezTo>
                        <a:pt x="774" y="1311"/>
                        <a:pt x="813" y="1330"/>
                        <a:pt x="852" y="1330"/>
                      </a:cubicBezTo>
                      <a:cubicBezTo>
                        <a:pt x="893" y="1330"/>
                        <a:pt x="935" y="1309"/>
                        <a:pt x="958" y="1269"/>
                      </a:cubicBezTo>
                      <a:lnTo>
                        <a:pt x="1136" y="973"/>
                      </a:lnTo>
                      <a:cubicBezTo>
                        <a:pt x="1945" y="1439"/>
                        <a:pt x="2816" y="1788"/>
                        <a:pt x="3722" y="2012"/>
                      </a:cubicBezTo>
                      <a:cubicBezTo>
                        <a:pt x="3741" y="2017"/>
                        <a:pt x="3761" y="2019"/>
                        <a:pt x="3779" y="2019"/>
                      </a:cubicBezTo>
                      <a:cubicBezTo>
                        <a:pt x="3895" y="2019"/>
                        <a:pt x="3999" y="1938"/>
                        <a:pt x="4023" y="1820"/>
                      </a:cubicBezTo>
                      <a:cubicBezTo>
                        <a:pt x="4051" y="1682"/>
                        <a:pt x="3964" y="1546"/>
                        <a:pt x="3828" y="1512"/>
                      </a:cubicBezTo>
                      <a:cubicBezTo>
                        <a:pt x="2976" y="1301"/>
                        <a:pt x="2158" y="971"/>
                        <a:pt x="1396" y="534"/>
                      </a:cubicBezTo>
                      <a:lnTo>
                        <a:pt x="1548" y="279"/>
                      </a:lnTo>
                      <a:cubicBezTo>
                        <a:pt x="1594" y="201"/>
                        <a:pt x="1541" y="100"/>
                        <a:pt x="1450" y="94"/>
                      </a:cubicBezTo>
                      <a:lnTo>
                        <a:pt x="166" y="1"/>
                      </a:lnTo>
                      <a:cubicBezTo>
                        <a:pt x="163" y="1"/>
                        <a:pt x="160" y="1"/>
                        <a:pt x="1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3" name="Google Shape;5223;p65">
                  <a:extLst>
                    <a:ext uri="{FF2B5EF4-FFF2-40B4-BE49-F238E27FC236}">
                      <a16:creationId xmlns:a16="http://schemas.microsoft.com/office/drawing/2014/main" id="{36FACAF3-4BA1-29FD-DD6A-DC2C6A6D01EA}"/>
                    </a:ext>
                  </a:extLst>
                </p:cNvPr>
                <p:cNvSpPr/>
                <p:nvPr/>
              </p:nvSpPr>
              <p:spPr>
                <a:xfrm>
                  <a:off x="6354525" y="4219275"/>
                  <a:ext cx="63075" cy="1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3" h="627" extrusionOk="0">
                      <a:moveTo>
                        <a:pt x="279" y="1"/>
                      </a:moveTo>
                      <a:cubicBezTo>
                        <a:pt x="160" y="1"/>
                        <a:pt x="54" y="84"/>
                        <a:pt x="29" y="204"/>
                      </a:cubicBezTo>
                      <a:cubicBezTo>
                        <a:pt x="1" y="345"/>
                        <a:pt x="93" y="483"/>
                        <a:pt x="236" y="507"/>
                      </a:cubicBezTo>
                      <a:cubicBezTo>
                        <a:pt x="732" y="585"/>
                        <a:pt x="1235" y="625"/>
                        <a:pt x="1738" y="627"/>
                      </a:cubicBezTo>
                      <a:cubicBezTo>
                        <a:pt x="1919" y="627"/>
                        <a:pt x="2102" y="621"/>
                        <a:pt x="2282" y="609"/>
                      </a:cubicBezTo>
                      <a:cubicBezTo>
                        <a:pt x="2420" y="596"/>
                        <a:pt x="2523" y="475"/>
                        <a:pt x="2513" y="337"/>
                      </a:cubicBezTo>
                      <a:cubicBezTo>
                        <a:pt x="2504" y="203"/>
                        <a:pt x="2392" y="100"/>
                        <a:pt x="2260" y="100"/>
                      </a:cubicBezTo>
                      <a:cubicBezTo>
                        <a:pt x="2255" y="100"/>
                        <a:pt x="2251" y="100"/>
                        <a:pt x="2246" y="100"/>
                      </a:cubicBezTo>
                      <a:cubicBezTo>
                        <a:pt x="2076" y="110"/>
                        <a:pt x="1908" y="116"/>
                        <a:pt x="1738" y="116"/>
                      </a:cubicBezTo>
                      <a:cubicBezTo>
                        <a:pt x="1262" y="116"/>
                        <a:pt x="790" y="78"/>
                        <a:pt x="321" y="4"/>
                      </a:cubicBezTo>
                      <a:cubicBezTo>
                        <a:pt x="307" y="2"/>
                        <a:pt x="293" y="1"/>
                        <a:pt x="2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4" name="Google Shape;5224;p65">
                  <a:extLst>
                    <a:ext uri="{FF2B5EF4-FFF2-40B4-BE49-F238E27FC236}">
                      <a16:creationId xmlns:a16="http://schemas.microsoft.com/office/drawing/2014/main" id="{94D31E59-2310-01F0-A3AF-E724424D1608}"/>
                    </a:ext>
                  </a:extLst>
                </p:cNvPr>
                <p:cNvSpPr/>
                <p:nvPr/>
              </p:nvSpPr>
              <p:spPr>
                <a:xfrm>
                  <a:off x="6487275" y="4189125"/>
                  <a:ext cx="39625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5" h="1039" extrusionOk="0">
                      <a:moveTo>
                        <a:pt x="1300" y="0"/>
                      </a:moveTo>
                      <a:cubicBezTo>
                        <a:pt x="1257" y="0"/>
                        <a:pt x="1213" y="11"/>
                        <a:pt x="1173" y="35"/>
                      </a:cubicBezTo>
                      <a:cubicBezTo>
                        <a:pt x="857" y="217"/>
                        <a:pt x="531" y="382"/>
                        <a:pt x="196" y="528"/>
                      </a:cubicBezTo>
                      <a:cubicBezTo>
                        <a:pt x="66" y="582"/>
                        <a:pt x="1" y="728"/>
                        <a:pt x="47" y="863"/>
                      </a:cubicBezTo>
                      <a:lnTo>
                        <a:pt x="60" y="899"/>
                      </a:lnTo>
                      <a:cubicBezTo>
                        <a:pt x="89" y="986"/>
                        <a:pt x="169" y="1039"/>
                        <a:pt x="255" y="1039"/>
                      </a:cubicBezTo>
                      <a:cubicBezTo>
                        <a:pt x="282" y="1039"/>
                        <a:pt x="309" y="1034"/>
                        <a:pt x="335" y="1023"/>
                      </a:cubicBezTo>
                      <a:cubicBezTo>
                        <a:pt x="707" y="866"/>
                        <a:pt x="1067" y="685"/>
                        <a:pt x="1416" y="483"/>
                      </a:cubicBezTo>
                      <a:cubicBezTo>
                        <a:pt x="1527" y="419"/>
                        <a:pt x="1584" y="283"/>
                        <a:pt x="1538" y="164"/>
                      </a:cubicBezTo>
                      <a:cubicBezTo>
                        <a:pt x="1499" y="61"/>
                        <a:pt x="1401" y="0"/>
                        <a:pt x="130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5" name="Google Shape;5225;p65">
                  <a:extLst>
                    <a:ext uri="{FF2B5EF4-FFF2-40B4-BE49-F238E27FC236}">
                      <a16:creationId xmlns:a16="http://schemas.microsoft.com/office/drawing/2014/main" id="{DEEADBF2-232E-1306-0961-ED4B06B635E5}"/>
                    </a:ext>
                  </a:extLst>
                </p:cNvPr>
                <p:cNvSpPr/>
                <p:nvPr/>
              </p:nvSpPr>
              <p:spPr>
                <a:xfrm>
                  <a:off x="6426350" y="4209850"/>
                  <a:ext cx="5447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" h="896" extrusionOk="0">
                      <a:moveTo>
                        <a:pt x="1890" y="1"/>
                      </a:moveTo>
                      <a:cubicBezTo>
                        <a:pt x="1863" y="1"/>
                        <a:pt x="1835" y="5"/>
                        <a:pt x="1808" y="14"/>
                      </a:cubicBezTo>
                      <a:cubicBezTo>
                        <a:pt x="1296" y="184"/>
                        <a:pt x="771" y="309"/>
                        <a:pt x="237" y="389"/>
                      </a:cubicBezTo>
                      <a:cubicBezTo>
                        <a:pt x="98" y="408"/>
                        <a:pt x="0" y="536"/>
                        <a:pt x="20" y="676"/>
                      </a:cubicBezTo>
                      <a:cubicBezTo>
                        <a:pt x="37" y="803"/>
                        <a:pt x="147" y="896"/>
                        <a:pt x="273" y="896"/>
                      </a:cubicBezTo>
                      <a:cubicBezTo>
                        <a:pt x="284" y="896"/>
                        <a:pt x="296" y="895"/>
                        <a:pt x="308" y="893"/>
                      </a:cubicBezTo>
                      <a:cubicBezTo>
                        <a:pt x="873" y="809"/>
                        <a:pt x="1430" y="676"/>
                        <a:pt x="1973" y="496"/>
                      </a:cubicBezTo>
                      <a:cubicBezTo>
                        <a:pt x="2106" y="451"/>
                        <a:pt x="2178" y="306"/>
                        <a:pt x="2132" y="171"/>
                      </a:cubicBezTo>
                      <a:cubicBezTo>
                        <a:pt x="2095" y="67"/>
                        <a:pt x="1996" y="1"/>
                        <a:pt x="189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6" name="Google Shape;5226;p65">
                  <a:extLst>
                    <a:ext uri="{FF2B5EF4-FFF2-40B4-BE49-F238E27FC236}">
                      <a16:creationId xmlns:a16="http://schemas.microsoft.com/office/drawing/2014/main" id="{30C28939-7091-D7BE-A88C-8398A0C0E11A}"/>
                    </a:ext>
                  </a:extLst>
                </p:cNvPr>
                <p:cNvSpPr/>
                <p:nvPr/>
              </p:nvSpPr>
              <p:spPr>
                <a:xfrm>
                  <a:off x="5992275" y="3674825"/>
                  <a:ext cx="51250" cy="9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0" h="3996" extrusionOk="0">
                      <a:moveTo>
                        <a:pt x="1920" y="0"/>
                      </a:moveTo>
                      <a:cubicBezTo>
                        <a:pt x="1898" y="0"/>
                        <a:pt x="1876" y="6"/>
                        <a:pt x="1854" y="20"/>
                      </a:cubicBezTo>
                      <a:lnTo>
                        <a:pt x="772" y="717"/>
                      </a:lnTo>
                      <a:cubicBezTo>
                        <a:pt x="695" y="766"/>
                        <a:pt x="697" y="878"/>
                        <a:pt x="775" y="926"/>
                      </a:cubicBezTo>
                      <a:lnTo>
                        <a:pt x="1073" y="1102"/>
                      </a:lnTo>
                      <a:cubicBezTo>
                        <a:pt x="607" y="1911"/>
                        <a:pt x="256" y="2782"/>
                        <a:pt x="32" y="3689"/>
                      </a:cubicBezTo>
                      <a:cubicBezTo>
                        <a:pt x="0" y="3825"/>
                        <a:pt x="87" y="3962"/>
                        <a:pt x="224" y="3990"/>
                      </a:cubicBezTo>
                      <a:cubicBezTo>
                        <a:pt x="242" y="3993"/>
                        <a:pt x="260" y="3995"/>
                        <a:pt x="278" y="3995"/>
                      </a:cubicBezTo>
                      <a:cubicBezTo>
                        <a:pt x="397" y="3995"/>
                        <a:pt x="502" y="3914"/>
                        <a:pt x="532" y="3794"/>
                      </a:cubicBezTo>
                      <a:cubicBezTo>
                        <a:pt x="743" y="2942"/>
                        <a:pt x="1073" y="2124"/>
                        <a:pt x="1512" y="1363"/>
                      </a:cubicBezTo>
                      <a:lnTo>
                        <a:pt x="1765" y="1514"/>
                      </a:lnTo>
                      <a:cubicBezTo>
                        <a:pt x="1785" y="1526"/>
                        <a:pt x="1806" y="1531"/>
                        <a:pt x="1827" y="1531"/>
                      </a:cubicBezTo>
                      <a:cubicBezTo>
                        <a:pt x="1888" y="1531"/>
                        <a:pt x="1946" y="1484"/>
                        <a:pt x="1951" y="1416"/>
                      </a:cubicBezTo>
                      <a:lnTo>
                        <a:pt x="2043" y="134"/>
                      </a:lnTo>
                      <a:cubicBezTo>
                        <a:pt x="2049" y="57"/>
                        <a:pt x="1988" y="0"/>
                        <a:pt x="19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7" name="Google Shape;5227;p65">
                  <a:extLst>
                    <a:ext uri="{FF2B5EF4-FFF2-40B4-BE49-F238E27FC236}">
                      <a16:creationId xmlns:a16="http://schemas.microsoft.com/office/drawing/2014/main" id="{D4D7C47A-CCB9-1D89-206C-1C9EDF96450B}"/>
                    </a:ext>
                  </a:extLst>
                </p:cNvPr>
                <p:cNvSpPr/>
                <p:nvPr/>
              </p:nvSpPr>
              <p:spPr>
                <a:xfrm>
                  <a:off x="5985650" y="3783750"/>
                  <a:ext cx="16125" cy="62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2491" extrusionOk="0">
                      <a:moveTo>
                        <a:pt x="371" y="1"/>
                      </a:moveTo>
                      <a:cubicBezTo>
                        <a:pt x="249" y="1"/>
                        <a:pt x="141" y="89"/>
                        <a:pt x="121" y="212"/>
                      </a:cubicBezTo>
                      <a:cubicBezTo>
                        <a:pt x="41" y="709"/>
                        <a:pt x="1" y="1212"/>
                        <a:pt x="1" y="1714"/>
                      </a:cubicBezTo>
                      <a:cubicBezTo>
                        <a:pt x="1" y="1895"/>
                        <a:pt x="7" y="2078"/>
                        <a:pt x="19" y="2259"/>
                      </a:cubicBezTo>
                      <a:cubicBezTo>
                        <a:pt x="31" y="2390"/>
                        <a:pt x="140" y="2490"/>
                        <a:pt x="270" y="2490"/>
                      </a:cubicBezTo>
                      <a:cubicBezTo>
                        <a:pt x="277" y="2490"/>
                        <a:pt x="284" y="2490"/>
                        <a:pt x="291" y="2489"/>
                      </a:cubicBezTo>
                      <a:cubicBezTo>
                        <a:pt x="428" y="2480"/>
                        <a:pt x="534" y="2361"/>
                        <a:pt x="526" y="2222"/>
                      </a:cubicBezTo>
                      <a:cubicBezTo>
                        <a:pt x="517" y="2054"/>
                        <a:pt x="510" y="1884"/>
                        <a:pt x="510" y="1714"/>
                      </a:cubicBezTo>
                      <a:cubicBezTo>
                        <a:pt x="512" y="1240"/>
                        <a:pt x="549" y="766"/>
                        <a:pt x="622" y="297"/>
                      </a:cubicBezTo>
                      <a:cubicBezTo>
                        <a:pt x="645" y="163"/>
                        <a:pt x="557" y="35"/>
                        <a:pt x="422" y="6"/>
                      </a:cubicBezTo>
                      <a:cubicBezTo>
                        <a:pt x="405" y="2"/>
                        <a:pt x="388" y="1"/>
                        <a:pt x="3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8" name="Google Shape;5228;p65">
                  <a:extLst>
                    <a:ext uri="{FF2B5EF4-FFF2-40B4-BE49-F238E27FC236}">
                      <a16:creationId xmlns:a16="http://schemas.microsoft.com/office/drawing/2014/main" id="{86013E57-A044-064C-E1B7-E0FB3DCB3872}"/>
                    </a:ext>
                  </a:extLst>
                </p:cNvPr>
                <p:cNvSpPr/>
                <p:nvPr/>
              </p:nvSpPr>
              <p:spPr>
                <a:xfrm>
                  <a:off x="6004725" y="3916700"/>
                  <a:ext cx="2787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1524" extrusionOk="0">
                      <a:moveTo>
                        <a:pt x="296" y="1"/>
                      </a:moveTo>
                      <a:cubicBezTo>
                        <a:pt x="267" y="1"/>
                        <a:pt x="237" y="5"/>
                        <a:pt x="208" y="15"/>
                      </a:cubicBezTo>
                      <a:lnTo>
                        <a:pt x="171" y="28"/>
                      </a:lnTo>
                      <a:cubicBezTo>
                        <a:pt x="58" y="67"/>
                        <a:pt x="0" y="193"/>
                        <a:pt x="47" y="304"/>
                      </a:cubicBezTo>
                      <a:cubicBezTo>
                        <a:pt x="205" y="675"/>
                        <a:pt x="384" y="1035"/>
                        <a:pt x="588" y="1385"/>
                      </a:cubicBezTo>
                      <a:cubicBezTo>
                        <a:pt x="637" y="1469"/>
                        <a:pt x="728" y="1524"/>
                        <a:pt x="822" y="1524"/>
                      </a:cubicBezTo>
                      <a:cubicBezTo>
                        <a:pt x="850" y="1524"/>
                        <a:pt x="879" y="1519"/>
                        <a:pt x="906" y="1508"/>
                      </a:cubicBezTo>
                      <a:cubicBezTo>
                        <a:pt x="1052" y="1450"/>
                        <a:pt x="1115" y="1277"/>
                        <a:pt x="1036" y="1141"/>
                      </a:cubicBezTo>
                      <a:cubicBezTo>
                        <a:pt x="852" y="826"/>
                        <a:pt x="687" y="499"/>
                        <a:pt x="543" y="164"/>
                      </a:cubicBezTo>
                      <a:cubicBezTo>
                        <a:pt x="499" y="63"/>
                        <a:pt x="400" y="1"/>
                        <a:pt x="29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199" name="Google Shape;5229;p65">
                  <a:extLst>
                    <a:ext uri="{FF2B5EF4-FFF2-40B4-BE49-F238E27FC236}">
                      <a16:creationId xmlns:a16="http://schemas.microsoft.com/office/drawing/2014/main" id="{EB97B79E-35AA-55AC-28C4-06205807A4AA}"/>
                    </a:ext>
                  </a:extLst>
                </p:cNvPr>
                <p:cNvSpPr/>
                <p:nvPr/>
              </p:nvSpPr>
              <p:spPr>
                <a:xfrm>
                  <a:off x="5987900" y="3855450"/>
                  <a:ext cx="23600" cy="5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" h="2128" extrusionOk="0">
                      <a:moveTo>
                        <a:pt x="273" y="0"/>
                      </a:moveTo>
                      <a:cubicBezTo>
                        <a:pt x="261" y="0"/>
                        <a:pt x="249" y="1"/>
                        <a:pt x="238" y="3"/>
                      </a:cubicBezTo>
                      <a:cubicBezTo>
                        <a:pt x="98" y="22"/>
                        <a:pt x="1" y="150"/>
                        <a:pt x="20" y="289"/>
                      </a:cubicBezTo>
                      <a:lnTo>
                        <a:pt x="21" y="289"/>
                      </a:lnTo>
                      <a:cubicBezTo>
                        <a:pt x="105" y="854"/>
                        <a:pt x="238" y="1412"/>
                        <a:pt x="417" y="1955"/>
                      </a:cubicBezTo>
                      <a:cubicBezTo>
                        <a:pt x="454" y="2061"/>
                        <a:pt x="553" y="2127"/>
                        <a:pt x="658" y="2127"/>
                      </a:cubicBezTo>
                      <a:cubicBezTo>
                        <a:pt x="686" y="2127"/>
                        <a:pt x="714" y="2123"/>
                        <a:pt x="742" y="2113"/>
                      </a:cubicBezTo>
                      <a:cubicBezTo>
                        <a:pt x="875" y="2067"/>
                        <a:pt x="944" y="1923"/>
                        <a:pt x="899" y="1790"/>
                      </a:cubicBezTo>
                      <a:cubicBezTo>
                        <a:pt x="731" y="1279"/>
                        <a:pt x="604" y="754"/>
                        <a:pt x="526" y="220"/>
                      </a:cubicBezTo>
                      <a:cubicBezTo>
                        <a:pt x="508" y="93"/>
                        <a:pt x="398" y="0"/>
                        <a:pt x="2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0" name="Google Shape;5230;p65">
                  <a:extLst>
                    <a:ext uri="{FF2B5EF4-FFF2-40B4-BE49-F238E27FC236}">
                      <a16:creationId xmlns:a16="http://schemas.microsoft.com/office/drawing/2014/main" id="{014A3B59-243C-5E19-0B52-0C6F5DD38893}"/>
                    </a:ext>
                  </a:extLst>
                </p:cNvPr>
                <p:cNvSpPr/>
                <p:nvPr/>
              </p:nvSpPr>
              <p:spPr>
                <a:xfrm>
                  <a:off x="6071975" y="3300325"/>
                  <a:ext cx="52475" cy="10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9" h="4099" extrusionOk="0">
                      <a:moveTo>
                        <a:pt x="412" y="1"/>
                      </a:moveTo>
                      <a:cubicBezTo>
                        <a:pt x="358" y="1"/>
                        <a:pt x="305" y="37"/>
                        <a:pt x="292" y="98"/>
                      </a:cubicBezTo>
                      <a:lnTo>
                        <a:pt x="18" y="1357"/>
                      </a:lnTo>
                      <a:cubicBezTo>
                        <a:pt x="1" y="1436"/>
                        <a:pt x="62" y="1506"/>
                        <a:pt x="139" y="1506"/>
                      </a:cubicBezTo>
                      <a:cubicBezTo>
                        <a:pt x="149" y="1506"/>
                        <a:pt x="158" y="1505"/>
                        <a:pt x="169" y="1502"/>
                      </a:cubicBezTo>
                      <a:lnTo>
                        <a:pt x="503" y="1416"/>
                      </a:lnTo>
                      <a:cubicBezTo>
                        <a:pt x="745" y="2317"/>
                        <a:pt x="1113" y="3181"/>
                        <a:pt x="1597" y="3981"/>
                      </a:cubicBezTo>
                      <a:cubicBezTo>
                        <a:pt x="1644" y="4057"/>
                        <a:pt x="1725" y="4099"/>
                        <a:pt x="1809" y="4099"/>
                      </a:cubicBezTo>
                      <a:cubicBezTo>
                        <a:pt x="1856" y="4099"/>
                        <a:pt x="1903" y="4086"/>
                        <a:pt x="1946" y="4058"/>
                      </a:cubicBezTo>
                      <a:cubicBezTo>
                        <a:pt x="2063" y="3980"/>
                        <a:pt x="2098" y="3823"/>
                        <a:pt x="2024" y="3703"/>
                      </a:cubicBezTo>
                      <a:cubicBezTo>
                        <a:pt x="1571" y="2950"/>
                        <a:pt x="1225" y="2138"/>
                        <a:pt x="998" y="1291"/>
                      </a:cubicBezTo>
                      <a:lnTo>
                        <a:pt x="1283" y="1217"/>
                      </a:lnTo>
                      <a:cubicBezTo>
                        <a:pt x="1373" y="1195"/>
                        <a:pt x="1406" y="1086"/>
                        <a:pt x="1347" y="1017"/>
                      </a:cubicBezTo>
                      <a:lnTo>
                        <a:pt x="505" y="44"/>
                      </a:lnTo>
                      <a:cubicBezTo>
                        <a:pt x="479" y="14"/>
                        <a:pt x="445" y="1"/>
                        <a:pt x="4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1" name="Google Shape;5231;p65">
                  <a:extLst>
                    <a:ext uri="{FF2B5EF4-FFF2-40B4-BE49-F238E27FC236}">
                      <a16:creationId xmlns:a16="http://schemas.microsoft.com/office/drawing/2014/main" id="{817F7F8F-52D5-36C7-FD23-C61E698127EF}"/>
                    </a:ext>
                  </a:extLst>
                </p:cNvPr>
                <p:cNvSpPr/>
                <p:nvPr/>
              </p:nvSpPr>
              <p:spPr>
                <a:xfrm>
                  <a:off x="6122225" y="3408475"/>
                  <a:ext cx="47725" cy="4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" h="1982" extrusionOk="0">
                      <a:moveTo>
                        <a:pt x="291" y="0"/>
                      </a:moveTo>
                      <a:cubicBezTo>
                        <a:pt x="243" y="0"/>
                        <a:pt x="195" y="14"/>
                        <a:pt x="152" y="41"/>
                      </a:cubicBezTo>
                      <a:cubicBezTo>
                        <a:pt x="30" y="121"/>
                        <a:pt x="0" y="285"/>
                        <a:pt x="85" y="403"/>
                      </a:cubicBezTo>
                      <a:cubicBezTo>
                        <a:pt x="380" y="810"/>
                        <a:pt x="706" y="1193"/>
                        <a:pt x="1062" y="1548"/>
                      </a:cubicBezTo>
                      <a:cubicBezTo>
                        <a:pt x="1190" y="1678"/>
                        <a:pt x="1323" y="1801"/>
                        <a:pt x="1459" y="1921"/>
                      </a:cubicBezTo>
                      <a:cubicBezTo>
                        <a:pt x="1507" y="1962"/>
                        <a:pt x="1566" y="1981"/>
                        <a:pt x="1624" y="1981"/>
                      </a:cubicBezTo>
                      <a:cubicBezTo>
                        <a:pt x="1695" y="1981"/>
                        <a:pt x="1766" y="1952"/>
                        <a:pt x="1816" y="1894"/>
                      </a:cubicBezTo>
                      <a:cubicBezTo>
                        <a:pt x="1909" y="1788"/>
                        <a:pt x="1898" y="1628"/>
                        <a:pt x="1794" y="1535"/>
                      </a:cubicBezTo>
                      <a:cubicBezTo>
                        <a:pt x="1665" y="1423"/>
                        <a:pt x="1542" y="1308"/>
                        <a:pt x="1422" y="1188"/>
                      </a:cubicBezTo>
                      <a:cubicBezTo>
                        <a:pt x="1087" y="851"/>
                        <a:pt x="778" y="490"/>
                        <a:pt x="500" y="107"/>
                      </a:cubicBezTo>
                      <a:cubicBezTo>
                        <a:pt x="449" y="38"/>
                        <a:pt x="371" y="0"/>
                        <a:pt x="29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2" name="Google Shape;5232;p65">
                  <a:extLst>
                    <a:ext uri="{FF2B5EF4-FFF2-40B4-BE49-F238E27FC236}">
                      <a16:creationId xmlns:a16="http://schemas.microsoft.com/office/drawing/2014/main" id="{EEB417D8-6495-A26F-C0D0-A2E40E0E5A96}"/>
                    </a:ext>
                  </a:extLst>
                </p:cNvPr>
                <p:cNvSpPr/>
                <p:nvPr/>
              </p:nvSpPr>
              <p:spPr>
                <a:xfrm>
                  <a:off x="6228150" y="3490275"/>
                  <a:ext cx="42050" cy="2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2" h="861" extrusionOk="0">
                      <a:moveTo>
                        <a:pt x="311" y="0"/>
                      </a:moveTo>
                      <a:cubicBezTo>
                        <a:pt x="211" y="0"/>
                        <a:pt x="116" y="56"/>
                        <a:pt x="69" y="151"/>
                      </a:cubicBezTo>
                      <a:lnTo>
                        <a:pt x="53" y="185"/>
                      </a:lnTo>
                      <a:cubicBezTo>
                        <a:pt x="0" y="292"/>
                        <a:pt x="48" y="423"/>
                        <a:pt x="160" y="468"/>
                      </a:cubicBezTo>
                      <a:cubicBezTo>
                        <a:pt x="533" y="619"/>
                        <a:pt x="916" y="747"/>
                        <a:pt x="1307" y="851"/>
                      </a:cubicBezTo>
                      <a:cubicBezTo>
                        <a:pt x="1331" y="857"/>
                        <a:pt x="1355" y="861"/>
                        <a:pt x="1379" y="861"/>
                      </a:cubicBezTo>
                      <a:cubicBezTo>
                        <a:pt x="1480" y="861"/>
                        <a:pt x="1576" y="806"/>
                        <a:pt x="1618" y="713"/>
                      </a:cubicBezTo>
                      <a:cubicBezTo>
                        <a:pt x="1682" y="569"/>
                        <a:pt x="1602" y="403"/>
                        <a:pt x="1451" y="363"/>
                      </a:cubicBezTo>
                      <a:cubicBezTo>
                        <a:pt x="1097" y="268"/>
                        <a:pt x="751" y="154"/>
                        <a:pt x="412" y="20"/>
                      </a:cubicBezTo>
                      <a:cubicBezTo>
                        <a:pt x="379" y="7"/>
                        <a:pt x="345" y="0"/>
                        <a:pt x="31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3" name="Google Shape;5233;p65">
                  <a:extLst>
                    <a:ext uri="{FF2B5EF4-FFF2-40B4-BE49-F238E27FC236}">
                      <a16:creationId xmlns:a16="http://schemas.microsoft.com/office/drawing/2014/main" id="{A9EE2805-C113-A89D-9BF1-DEEAC72429AD}"/>
                    </a:ext>
                  </a:extLst>
                </p:cNvPr>
                <p:cNvSpPr/>
                <p:nvPr/>
              </p:nvSpPr>
              <p:spPr>
                <a:xfrm>
                  <a:off x="6172850" y="3459275"/>
                  <a:ext cx="49900" cy="3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" h="1383" extrusionOk="0">
                      <a:moveTo>
                        <a:pt x="289" y="1"/>
                      </a:moveTo>
                      <a:cubicBezTo>
                        <a:pt x="212" y="1"/>
                        <a:pt x="136" y="36"/>
                        <a:pt x="86" y="102"/>
                      </a:cubicBezTo>
                      <a:cubicBezTo>
                        <a:pt x="1" y="214"/>
                        <a:pt x="23" y="374"/>
                        <a:pt x="135" y="459"/>
                      </a:cubicBezTo>
                      <a:cubicBezTo>
                        <a:pt x="595" y="800"/>
                        <a:pt x="1082" y="1100"/>
                        <a:pt x="1592" y="1356"/>
                      </a:cubicBezTo>
                      <a:cubicBezTo>
                        <a:pt x="1629" y="1374"/>
                        <a:pt x="1667" y="1382"/>
                        <a:pt x="1705" y="1382"/>
                      </a:cubicBezTo>
                      <a:cubicBezTo>
                        <a:pt x="1799" y="1382"/>
                        <a:pt x="1891" y="1329"/>
                        <a:pt x="1935" y="1239"/>
                      </a:cubicBezTo>
                      <a:cubicBezTo>
                        <a:pt x="1996" y="1113"/>
                        <a:pt x="1943" y="960"/>
                        <a:pt x="1817" y="898"/>
                      </a:cubicBezTo>
                      <a:cubicBezTo>
                        <a:pt x="1336" y="656"/>
                        <a:pt x="875" y="373"/>
                        <a:pt x="443" y="52"/>
                      </a:cubicBezTo>
                      <a:cubicBezTo>
                        <a:pt x="397" y="18"/>
                        <a:pt x="343" y="1"/>
                        <a:pt x="2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4" name="Google Shape;5234;p65">
                  <a:extLst>
                    <a:ext uri="{FF2B5EF4-FFF2-40B4-BE49-F238E27FC236}">
                      <a16:creationId xmlns:a16="http://schemas.microsoft.com/office/drawing/2014/main" id="{03DBEE1D-C200-0B1E-EEAB-2E0AEFA5633A}"/>
                    </a:ext>
                  </a:extLst>
                </p:cNvPr>
                <p:cNvSpPr/>
                <p:nvPr/>
              </p:nvSpPr>
              <p:spPr>
                <a:xfrm>
                  <a:off x="7323825" y="3495225"/>
                  <a:ext cx="51250" cy="9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0" h="3996" extrusionOk="0">
                      <a:moveTo>
                        <a:pt x="1772" y="0"/>
                      </a:moveTo>
                      <a:cubicBezTo>
                        <a:pt x="1653" y="0"/>
                        <a:pt x="1547" y="82"/>
                        <a:pt x="1518" y="201"/>
                      </a:cubicBezTo>
                      <a:cubicBezTo>
                        <a:pt x="1307" y="1053"/>
                        <a:pt x="977" y="1872"/>
                        <a:pt x="540" y="2634"/>
                      </a:cubicBezTo>
                      <a:lnTo>
                        <a:pt x="285" y="2482"/>
                      </a:lnTo>
                      <a:cubicBezTo>
                        <a:pt x="265" y="2470"/>
                        <a:pt x="244" y="2465"/>
                        <a:pt x="223" y="2465"/>
                      </a:cubicBezTo>
                      <a:cubicBezTo>
                        <a:pt x="162" y="2465"/>
                        <a:pt x="104" y="2511"/>
                        <a:pt x="99" y="2579"/>
                      </a:cubicBezTo>
                      <a:lnTo>
                        <a:pt x="6" y="3864"/>
                      </a:lnTo>
                      <a:cubicBezTo>
                        <a:pt x="0" y="3939"/>
                        <a:pt x="62" y="3995"/>
                        <a:pt x="129" y="3995"/>
                      </a:cubicBezTo>
                      <a:cubicBezTo>
                        <a:pt x="152" y="3995"/>
                        <a:pt x="174" y="3989"/>
                        <a:pt x="195" y="3976"/>
                      </a:cubicBezTo>
                      <a:lnTo>
                        <a:pt x="1278" y="3279"/>
                      </a:lnTo>
                      <a:cubicBezTo>
                        <a:pt x="1355" y="3229"/>
                        <a:pt x="1353" y="3117"/>
                        <a:pt x="1275" y="3071"/>
                      </a:cubicBezTo>
                      <a:lnTo>
                        <a:pt x="978" y="2893"/>
                      </a:lnTo>
                      <a:cubicBezTo>
                        <a:pt x="1444" y="2085"/>
                        <a:pt x="1794" y="1213"/>
                        <a:pt x="2018" y="307"/>
                      </a:cubicBezTo>
                      <a:cubicBezTo>
                        <a:pt x="2050" y="171"/>
                        <a:pt x="1963" y="35"/>
                        <a:pt x="1826" y="6"/>
                      </a:cubicBezTo>
                      <a:cubicBezTo>
                        <a:pt x="1808" y="2"/>
                        <a:pt x="1790" y="0"/>
                        <a:pt x="17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5" name="Google Shape;5235;p65">
                  <a:extLst>
                    <a:ext uri="{FF2B5EF4-FFF2-40B4-BE49-F238E27FC236}">
                      <a16:creationId xmlns:a16="http://schemas.microsoft.com/office/drawing/2014/main" id="{056B868F-1432-8B7D-9AF1-889391B26EB0}"/>
                    </a:ext>
                  </a:extLst>
                </p:cNvPr>
                <p:cNvSpPr/>
                <p:nvPr/>
              </p:nvSpPr>
              <p:spPr>
                <a:xfrm>
                  <a:off x="7365575" y="3423925"/>
                  <a:ext cx="16150" cy="62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" h="2491" extrusionOk="0">
                      <a:moveTo>
                        <a:pt x="375" y="0"/>
                      </a:moveTo>
                      <a:cubicBezTo>
                        <a:pt x="368" y="0"/>
                        <a:pt x="361" y="1"/>
                        <a:pt x="354" y="1"/>
                      </a:cubicBezTo>
                      <a:cubicBezTo>
                        <a:pt x="216" y="11"/>
                        <a:pt x="111" y="129"/>
                        <a:pt x="119" y="269"/>
                      </a:cubicBezTo>
                      <a:cubicBezTo>
                        <a:pt x="128" y="438"/>
                        <a:pt x="135" y="607"/>
                        <a:pt x="135" y="776"/>
                      </a:cubicBezTo>
                      <a:cubicBezTo>
                        <a:pt x="135" y="1252"/>
                        <a:pt x="96" y="1724"/>
                        <a:pt x="23" y="2193"/>
                      </a:cubicBezTo>
                      <a:cubicBezTo>
                        <a:pt x="0" y="2328"/>
                        <a:pt x="88" y="2458"/>
                        <a:pt x="223" y="2485"/>
                      </a:cubicBezTo>
                      <a:cubicBezTo>
                        <a:pt x="240" y="2488"/>
                        <a:pt x="257" y="2490"/>
                        <a:pt x="274" y="2490"/>
                      </a:cubicBezTo>
                      <a:cubicBezTo>
                        <a:pt x="396" y="2490"/>
                        <a:pt x="504" y="2403"/>
                        <a:pt x="526" y="2278"/>
                      </a:cubicBezTo>
                      <a:cubicBezTo>
                        <a:pt x="604" y="1782"/>
                        <a:pt x="644" y="1279"/>
                        <a:pt x="646" y="776"/>
                      </a:cubicBezTo>
                      <a:cubicBezTo>
                        <a:pt x="646" y="595"/>
                        <a:pt x="638" y="413"/>
                        <a:pt x="626" y="232"/>
                      </a:cubicBezTo>
                      <a:cubicBezTo>
                        <a:pt x="616" y="101"/>
                        <a:pt x="505" y="0"/>
                        <a:pt x="3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6" name="Google Shape;5236;p65">
                  <a:extLst>
                    <a:ext uri="{FF2B5EF4-FFF2-40B4-BE49-F238E27FC236}">
                      <a16:creationId xmlns:a16="http://schemas.microsoft.com/office/drawing/2014/main" id="{B4A5E186-2D07-2679-BDDB-11D034FE5B35}"/>
                    </a:ext>
                  </a:extLst>
                </p:cNvPr>
                <p:cNvSpPr/>
                <p:nvPr/>
              </p:nvSpPr>
              <p:spPr>
                <a:xfrm>
                  <a:off x="7334775" y="3315150"/>
                  <a:ext cx="278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4" h="1524" extrusionOk="0">
                      <a:moveTo>
                        <a:pt x="293" y="1"/>
                      </a:moveTo>
                      <a:cubicBezTo>
                        <a:pt x="265" y="1"/>
                        <a:pt x="236" y="5"/>
                        <a:pt x="209" y="16"/>
                      </a:cubicBezTo>
                      <a:cubicBezTo>
                        <a:pt x="62" y="74"/>
                        <a:pt x="1" y="246"/>
                        <a:pt x="79" y="383"/>
                      </a:cubicBezTo>
                      <a:cubicBezTo>
                        <a:pt x="262" y="698"/>
                        <a:pt x="427" y="1025"/>
                        <a:pt x="573" y="1359"/>
                      </a:cubicBezTo>
                      <a:cubicBezTo>
                        <a:pt x="615" y="1461"/>
                        <a:pt x="714" y="1523"/>
                        <a:pt x="819" y="1523"/>
                      </a:cubicBezTo>
                      <a:cubicBezTo>
                        <a:pt x="848" y="1523"/>
                        <a:pt x="878" y="1518"/>
                        <a:pt x="907" y="1508"/>
                      </a:cubicBezTo>
                      <a:lnTo>
                        <a:pt x="942" y="1495"/>
                      </a:lnTo>
                      <a:cubicBezTo>
                        <a:pt x="1056" y="1457"/>
                        <a:pt x="1114" y="1331"/>
                        <a:pt x="1067" y="1220"/>
                      </a:cubicBezTo>
                      <a:cubicBezTo>
                        <a:pt x="910" y="849"/>
                        <a:pt x="729" y="488"/>
                        <a:pt x="528" y="139"/>
                      </a:cubicBezTo>
                      <a:cubicBezTo>
                        <a:pt x="478" y="54"/>
                        <a:pt x="387" y="1"/>
                        <a:pt x="29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7" name="Google Shape;5237;p65">
                  <a:extLst>
                    <a:ext uri="{FF2B5EF4-FFF2-40B4-BE49-F238E27FC236}">
                      <a16:creationId xmlns:a16="http://schemas.microsoft.com/office/drawing/2014/main" id="{D10E6E11-03AE-517A-6916-61CD2EF13490}"/>
                    </a:ext>
                  </a:extLst>
                </p:cNvPr>
                <p:cNvSpPr/>
                <p:nvPr/>
              </p:nvSpPr>
              <p:spPr>
                <a:xfrm>
                  <a:off x="7355800" y="3361300"/>
                  <a:ext cx="23650" cy="5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6" h="2128" extrusionOk="0">
                      <a:moveTo>
                        <a:pt x="288" y="0"/>
                      </a:moveTo>
                      <a:cubicBezTo>
                        <a:pt x="260" y="0"/>
                        <a:pt x="232" y="5"/>
                        <a:pt x="204" y="15"/>
                      </a:cubicBezTo>
                      <a:cubicBezTo>
                        <a:pt x="71" y="61"/>
                        <a:pt x="1" y="205"/>
                        <a:pt x="47" y="338"/>
                      </a:cubicBezTo>
                      <a:cubicBezTo>
                        <a:pt x="215" y="850"/>
                        <a:pt x="342" y="1376"/>
                        <a:pt x="420" y="1909"/>
                      </a:cubicBezTo>
                      <a:cubicBezTo>
                        <a:pt x="438" y="2036"/>
                        <a:pt x="548" y="2128"/>
                        <a:pt x="673" y="2128"/>
                      </a:cubicBezTo>
                      <a:cubicBezTo>
                        <a:pt x="685" y="2128"/>
                        <a:pt x="696" y="2127"/>
                        <a:pt x="708" y="2125"/>
                      </a:cubicBezTo>
                      <a:cubicBezTo>
                        <a:pt x="848" y="2106"/>
                        <a:pt x="945" y="1978"/>
                        <a:pt x="926" y="1839"/>
                      </a:cubicBezTo>
                      <a:lnTo>
                        <a:pt x="925" y="1839"/>
                      </a:lnTo>
                      <a:cubicBezTo>
                        <a:pt x="841" y="1273"/>
                        <a:pt x="708" y="716"/>
                        <a:pt x="529" y="173"/>
                      </a:cubicBezTo>
                      <a:cubicBezTo>
                        <a:pt x="492" y="67"/>
                        <a:pt x="393" y="0"/>
                        <a:pt x="2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8" name="Google Shape;5238;p65">
                  <a:extLst>
                    <a:ext uri="{FF2B5EF4-FFF2-40B4-BE49-F238E27FC236}">
                      <a16:creationId xmlns:a16="http://schemas.microsoft.com/office/drawing/2014/main" id="{89656373-F278-9BE4-8620-29683C62E948}"/>
                    </a:ext>
                  </a:extLst>
                </p:cNvPr>
                <p:cNvSpPr/>
                <p:nvPr/>
              </p:nvSpPr>
              <p:spPr>
                <a:xfrm>
                  <a:off x="7093025" y="4348600"/>
                  <a:ext cx="104200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8" h="2048" extrusionOk="0">
                      <a:moveTo>
                        <a:pt x="3871" y="0"/>
                      </a:moveTo>
                      <a:cubicBezTo>
                        <a:pt x="3824" y="0"/>
                        <a:pt x="3777" y="13"/>
                        <a:pt x="3735" y="39"/>
                      </a:cubicBezTo>
                      <a:cubicBezTo>
                        <a:pt x="2982" y="492"/>
                        <a:pt x="2170" y="838"/>
                        <a:pt x="1323" y="1067"/>
                      </a:cubicBezTo>
                      <a:lnTo>
                        <a:pt x="1249" y="780"/>
                      </a:lnTo>
                      <a:cubicBezTo>
                        <a:pt x="1235" y="721"/>
                        <a:pt x="1183" y="687"/>
                        <a:pt x="1130" y="687"/>
                      </a:cubicBezTo>
                      <a:cubicBezTo>
                        <a:pt x="1102" y="687"/>
                        <a:pt x="1073" y="696"/>
                        <a:pt x="1049" y="717"/>
                      </a:cubicBezTo>
                      <a:lnTo>
                        <a:pt x="76" y="1560"/>
                      </a:lnTo>
                      <a:cubicBezTo>
                        <a:pt x="0" y="1625"/>
                        <a:pt x="32" y="1750"/>
                        <a:pt x="130" y="1773"/>
                      </a:cubicBezTo>
                      <a:lnTo>
                        <a:pt x="1389" y="2045"/>
                      </a:lnTo>
                      <a:cubicBezTo>
                        <a:pt x="1398" y="2047"/>
                        <a:pt x="1407" y="2048"/>
                        <a:pt x="1416" y="2048"/>
                      </a:cubicBezTo>
                      <a:cubicBezTo>
                        <a:pt x="1493" y="2048"/>
                        <a:pt x="1555" y="1975"/>
                        <a:pt x="1534" y="1894"/>
                      </a:cubicBezTo>
                      <a:lnTo>
                        <a:pt x="1450" y="1561"/>
                      </a:lnTo>
                      <a:cubicBezTo>
                        <a:pt x="2351" y="1318"/>
                        <a:pt x="3214" y="950"/>
                        <a:pt x="4013" y="466"/>
                      </a:cubicBezTo>
                      <a:cubicBezTo>
                        <a:pt x="4132" y="392"/>
                        <a:pt x="4167" y="235"/>
                        <a:pt x="4090" y="119"/>
                      </a:cubicBezTo>
                      <a:cubicBezTo>
                        <a:pt x="4039" y="42"/>
                        <a:pt x="3956" y="0"/>
                        <a:pt x="38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09" name="Google Shape;5239;p65">
                  <a:extLst>
                    <a:ext uri="{FF2B5EF4-FFF2-40B4-BE49-F238E27FC236}">
                      <a16:creationId xmlns:a16="http://schemas.microsoft.com/office/drawing/2014/main" id="{D76E708E-049B-BD50-AC4C-A4987DC4FDC5}"/>
                    </a:ext>
                  </a:extLst>
                </p:cNvPr>
                <p:cNvSpPr/>
                <p:nvPr/>
              </p:nvSpPr>
              <p:spPr>
                <a:xfrm>
                  <a:off x="7201150" y="4302925"/>
                  <a:ext cx="51100" cy="4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1844" extrusionOk="0">
                      <a:moveTo>
                        <a:pt x="1760" y="1"/>
                      </a:moveTo>
                      <a:cubicBezTo>
                        <a:pt x="1689" y="1"/>
                        <a:pt x="1619" y="31"/>
                        <a:pt x="1568" y="88"/>
                      </a:cubicBezTo>
                      <a:cubicBezTo>
                        <a:pt x="1456" y="215"/>
                        <a:pt x="1341" y="338"/>
                        <a:pt x="1221" y="458"/>
                      </a:cubicBezTo>
                      <a:cubicBezTo>
                        <a:pt x="885" y="793"/>
                        <a:pt x="524" y="1102"/>
                        <a:pt x="140" y="1380"/>
                      </a:cubicBezTo>
                      <a:cubicBezTo>
                        <a:pt x="29" y="1460"/>
                        <a:pt x="1" y="1612"/>
                        <a:pt x="74" y="1728"/>
                      </a:cubicBezTo>
                      <a:cubicBezTo>
                        <a:pt x="124" y="1803"/>
                        <a:pt x="205" y="1844"/>
                        <a:pt x="288" y="1844"/>
                      </a:cubicBezTo>
                      <a:cubicBezTo>
                        <a:pt x="339" y="1844"/>
                        <a:pt x="391" y="1828"/>
                        <a:pt x="436" y="1797"/>
                      </a:cubicBezTo>
                      <a:cubicBezTo>
                        <a:pt x="843" y="1500"/>
                        <a:pt x="1226" y="1174"/>
                        <a:pt x="1581" y="820"/>
                      </a:cubicBezTo>
                      <a:cubicBezTo>
                        <a:pt x="1711" y="690"/>
                        <a:pt x="1834" y="557"/>
                        <a:pt x="1954" y="421"/>
                      </a:cubicBezTo>
                      <a:cubicBezTo>
                        <a:pt x="2044" y="315"/>
                        <a:pt x="2033" y="155"/>
                        <a:pt x="1927" y="64"/>
                      </a:cubicBezTo>
                      <a:cubicBezTo>
                        <a:pt x="1879" y="22"/>
                        <a:pt x="1819" y="1"/>
                        <a:pt x="176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10" name="Google Shape;5240;p65">
                  <a:extLst>
                    <a:ext uri="{FF2B5EF4-FFF2-40B4-BE49-F238E27FC236}">
                      <a16:creationId xmlns:a16="http://schemas.microsoft.com/office/drawing/2014/main" id="{9C0FFA46-DE06-C678-9956-68D5E964D9E8}"/>
                    </a:ext>
                  </a:extLst>
                </p:cNvPr>
                <p:cNvSpPr/>
                <p:nvPr/>
              </p:nvSpPr>
              <p:spPr>
                <a:xfrm>
                  <a:off x="7282950" y="4203000"/>
                  <a:ext cx="22950" cy="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" h="1609" extrusionOk="0">
                      <a:moveTo>
                        <a:pt x="642" y="0"/>
                      </a:moveTo>
                      <a:cubicBezTo>
                        <a:pt x="531" y="0"/>
                        <a:pt x="426" y="74"/>
                        <a:pt x="396" y="189"/>
                      </a:cubicBezTo>
                      <a:cubicBezTo>
                        <a:pt x="301" y="543"/>
                        <a:pt x="187" y="889"/>
                        <a:pt x="53" y="1228"/>
                      </a:cubicBezTo>
                      <a:cubicBezTo>
                        <a:pt x="0" y="1360"/>
                        <a:pt x="58" y="1509"/>
                        <a:pt x="184" y="1571"/>
                      </a:cubicBezTo>
                      <a:lnTo>
                        <a:pt x="218" y="1587"/>
                      </a:lnTo>
                      <a:cubicBezTo>
                        <a:pt x="248" y="1602"/>
                        <a:pt x="280" y="1608"/>
                        <a:pt x="311" y="1608"/>
                      </a:cubicBezTo>
                      <a:cubicBezTo>
                        <a:pt x="392" y="1608"/>
                        <a:pt x="469" y="1561"/>
                        <a:pt x="501" y="1480"/>
                      </a:cubicBezTo>
                      <a:cubicBezTo>
                        <a:pt x="653" y="1107"/>
                        <a:pt x="780" y="724"/>
                        <a:pt x="886" y="333"/>
                      </a:cubicBezTo>
                      <a:cubicBezTo>
                        <a:pt x="918" y="210"/>
                        <a:pt x="862" y="74"/>
                        <a:pt x="746" y="22"/>
                      </a:cubicBezTo>
                      <a:cubicBezTo>
                        <a:pt x="712" y="7"/>
                        <a:pt x="677" y="0"/>
                        <a:pt x="64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  <p:sp>
              <p:nvSpPr>
                <p:cNvPr id="211" name="Google Shape;5241;p65">
                  <a:extLst>
                    <a:ext uri="{FF2B5EF4-FFF2-40B4-BE49-F238E27FC236}">
                      <a16:creationId xmlns:a16="http://schemas.microsoft.com/office/drawing/2014/main" id="{C751A0A1-F5AD-54C4-1039-59C89C15AA56}"/>
                    </a:ext>
                  </a:extLst>
                </p:cNvPr>
                <p:cNvSpPr/>
                <p:nvPr/>
              </p:nvSpPr>
              <p:spPr>
                <a:xfrm>
                  <a:off x="7252000" y="4250300"/>
                  <a:ext cx="36300" cy="4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2" h="1927" extrusionOk="0">
                      <a:moveTo>
                        <a:pt x="1159" y="1"/>
                      </a:moveTo>
                      <a:cubicBezTo>
                        <a:pt x="1064" y="1"/>
                        <a:pt x="974" y="53"/>
                        <a:pt x="931" y="143"/>
                      </a:cubicBezTo>
                      <a:cubicBezTo>
                        <a:pt x="689" y="625"/>
                        <a:pt x="405" y="1085"/>
                        <a:pt x="85" y="1519"/>
                      </a:cubicBezTo>
                      <a:cubicBezTo>
                        <a:pt x="0" y="1631"/>
                        <a:pt x="21" y="1790"/>
                        <a:pt x="135" y="1874"/>
                      </a:cubicBezTo>
                      <a:cubicBezTo>
                        <a:pt x="181" y="1909"/>
                        <a:pt x="235" y="1926"/>
                        <a:pt x="289" y="1926"/>
                      </a:cubicBezTo>
                      <a:cubicBezTo>
                        <a:pt x="366" y="1926"/>
                        <a:pt x="441" y="1892"/>
                        <a:pt x="492" y="1826"/>
                      </a:cubicBezTo>
                      <a:cubicBezTo>
                        <a:pt x="831" y="1367"/>
                        <a:pt x="1132" y="878"/>
                        <a:pt x="1389" y="368"/>
                      </a:cubicBezTo>
                      <a:cubicBezTo>
                        <a:pt x="1451" y="241"/>
                        <a:pt x="1398" y="87"/>
                        <a:pt x="1270" y="26"/>
                      </a:cubicBezTo>
                      <a:cubicBezTo>
                        <a:pt x="1234" y="9"/>
                        <a:pt x="1196" y="1"/>
                        <a:pt x="115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7" tIns="91427" rIns="91427" bIns="91427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sz="1401"/>
                </a:p>
              </p:txBody>
            </p:sp>
          </p:grp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458EF534-13BA-A42E-86DE-D6084AD9EBAD}"/>
                  </a:ext>
                </a:extLst>
              </p:cNvPr>
              <p:cNvSpPr txBox="1"/>
              <p:nvPr/>
            </p:nvSpPr>
            <p:spPr>
              <a:xfrm>
                <a:off x="3465995" y="1057987"/>
                <a:ext cx="2408624" cy="620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93" indent="-285793">
                  <a:buFont typeface="Arial" panose="020B0604020202020204" pitchFamily="34" charset="0"/>
                  <a:buChar char="•"/>
                </a:pPr>
                <a:r>
                  <a:rPr lang="en-US" sz="1100" dirty="0" err="1"/>
                  <a:t>Inchikey</a:t>
                </a:r>
                <a:r>
                  <a:rPr lang="en-US" sz="1100" dirty="0"/>
                  <a:t> mapping</a:t>
                </a:r>
              </a:p>
              <a:p>
                <a:pPr marL="285793" indent="-285793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Filter to approved antibacterials</a:t>
                </a:r>
              </a:p>
              <a:p>
                <a:pPr marL="285793" indent="-285793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Exclude non-antibacterial compounds</a:t>
                </a:r>
              </a:p>
              <a:p>
                <a:pPr marL="285793" indent="-285793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Handle inconsistencies</a:t>
                </a:r>
                <a:endParaRPr lang="en-US" sz="900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5AA929-5684-D9F8-4FAA-92D181A4EA1B}"/>
                </a:ext>
              </a:extLst>
            </p:cNvPr>
            <p:cNvGrpSpPr/>
            <p:nvPr/>
          </p:nvGrpSpPr>
          <p:grpSpPr>
            <a:xfrm>
              <a:off x="10146436" y="1376601"/>
              <a:ext cx="1903804" cy="977846"/>
              <a:chOff x="4598924" y="4776369"/>
              <a:chExt cx="2947288" cy="1062282"/>
            </a:xfrm>
          </p:grpSpPr>
          <p:sp>
            <p:nvSpPr>
              <p:cNvPr id="327" name="Rectangle: Rounded Corners 326">
                <a:extLst>
                  <a:ext uri="{FF2B5EF4-FFF2-40B4-BE49-F238E27FC236}">
                    <a16:creationId xmlns:a16="http://schemas.microsoft.com/office/drawing/2014/main" id="{0E32046F-4BA9-3597-2779-6773B423BEDE}"/>
                  </a:ext>
                </a:extLst>
              </p:cNvPr>
              <p:cNvSpPr/>
              <p:nvPr/>
            </p:nvSpPr>
            <p:spPr>
              <a:xfrm>
                <a:off x="4598924" y="4776369"/>
                <a:ext cx="2935575" cy="1062282"/>
              </a:xfrm>
              <a:prstGeom prst="roundRect">
                <a:avLst/>
              </a:prstGeom>
              <a:solidFill>
                <a:srgbClr val="C7C7C7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 dirty="0"/>
              </a:p>
            </p:txBody>
          </p: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2FAC123-E30F-4844-26B1-55A8507F57E9}"/>
                  </a:ext>
                </a:extLst>
              </p:cNvPr>
              <p:cNvSpPr txBox="1"/>
              <p:nvPr/>
            </p:nvSpPr>
            <p:spPr>
              <a:xfrm>
                <a:off x="4610637" y="4950976"/>
                <a:ext cx="2935575" cy="651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Final DF – 3,160 drug pair-strain instances</a:t>
                </a:r>
                <a:br>
                  <a:rPr lang="en-US" sz="1100" dirty="0"/>
                </a:br>
                <a:r>
                  <a:rPr lang="en-US" sz="1100" dirty="0"/>
                  <a:t> 97 antibacterials | 10 strains</a:t>
                </a:r>
              </a:p>
            </p:txBody>
          </p:sp>
        </p:grpSp>
        <p:pic>
          <p:nvPicPr>
            <p:cNvPr id="340" name="Graphic 339">
              <a:extLst>
                <a:ext uri="{FF2B5EF4-FFF2-40B4-BE49-F238E27FC236}">
                  <a16:creationId xmlns:a16="http://schemas.microsoft.com/office/drawing/2014/main" id="{6EBE50FD-B912-D105-C5BB-051989469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99247" y="2193801"/>
              <a:ext cx="261050" cy="321292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3C9243F-457C-A49E-55F8-5190A456A118}"/>
                </a:ext>
              </a:extLst>
            </p:cNvPr>
            <p:cNvGrpSpPr/>
            <p:nvPr/>
          </p:nvGrpSpPr>
          <p:grpSpPr>
            <a:xfrm>
              <a:off x="5812089" y="1425147"/>
              <a:ext cx="4333865" cy="963251"/>
              <a:chOff x="5572310" y="1412155"/>
              <a:chExt cx="4333865" cy="963251"/>
            </a:xfrm>
          </p:grpSpPr>
          <p:grpSp>
            <p:nvGrpSpPr>
              <p:cNvPr id="2439" name="Group 2438">
                <a:extLst>
                  <a:ext uri="{FF2B5EF4-FFF2-40B4-BE49-F238E27FC236}">
                    <a16:creationId xmlns:a16="http://schemas.microsoft.com/office/drawing/2014/main" id="{F1899704-BD3B-1B9D-C2A0-BE1A46C0C113}"/>
                  </a:ext>
                </a:extLst>
              </p:cNvPr>
              <p:cNvGrpSpPr/>
              <p:nvPr/>
            </p:nvGrpSpPr>
            <p:grpSpPr>
              <a:xfrm>
                <a:off x="6754672" y="1412155"/>
                <a:ext cx="3151503" cy="963251"/>
                <a:chOff x="7393507" y="994326"/>
                <a:chExt cx="3151503" cy="963251"/>
              </a:xfrm>
            </p:grpSpPr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FC465A3B-4E7C-3193-D947-3B3177B33F01}"/>
                    </a:ext>
                  </a:extLst>
                </p:cNvPr>
                <p:cNvSpPr txBox="1"/>
                <p:nvPr/>
              </p:nvSpPr>
              <p:spPr>
                <a:xfrm>
                  <a:off x="9328603" y="1020533"/>
                  <a:ext cx="108578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Synergy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BD5040FE-3709-529E-A304-BC36B972A56C}"/>
                    </a:ext>
                  </a:extLst>
                </p:cNvPr>
                <p:cNvSpPr txBox="1"/>
                <p:nvPr/>
              </p:nvSpPr>
              <p:spPr>
                <a:xfrm>
                  <a:off x="9340689" y="1368222"/>
                  <a:ext cx="120432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Additivity </a:t>
                  </a:r>
                </a:p>
              </p:txBody>
            </p:sp>
            <p:grpSp>
              <p:nvGrpSpPr>
                <p:cNvPr id="2434" name="Group 2433">
                  <a:extLst>
                    <a:ext uri="{FF2B5EF4-FFF2-40B4-BE49-F238E27FC236}">
                      <a16:creationId xmlns:a16="http://schemas.microsoft.com/office/drawing/2014/main" id="{B6539923-519E-B746-063B-1621EEBB6474}"/>
                    </a:ext>
                  </a:extLst>
                </p:cNvPr>
                <p:cNvGrpSpPr/>
                <p:nvPr/>
              </p:nvGrpSpPr>
              <p:grpSpPr>
                <a:xfrm>
                  <a:off x="7393507" y="994326"/>
                  <a:ext cx="3144418" cy="963251"/>
                  <a:chOff x="7393507" y="994326"/>
                  <a:chExt cx="3144418" cy="963251"/>
                </a:xfrm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88ED163B-6E60-8CD3-6C14-F2AA7168AD7E}"/>
                      </a:ext>
                    </a:extLst>
                  </p:cNvPr>
                  <p:cNvGrpSpPr/>
                  <p:nvPr/>
                </p:nvGrpSpPr>
                <p:grpSpPr>
                  <a:xfrm>
                    <a:off x="7393507" y="1085914"/>
                    <a:ext cx="1921092" cy="810631"/>
                    <a:chOff x="7413954" y="1077600"/>
                    <a:chExt cx="1921092" cy="810631"/>
                  </a:xfrm>
                </p:grpSpPr>
                <p:pic>
                  <p:nvPicPr>
                    <p:cNvPr id="129" name="Graphic 128">
                      <a:extLst>
                        <a:ext uri="{FF2B5EF4-FFF2-40B4-BE49-F238E27FC236}">
                          <a16:creationId xmlns:a16="http://schemas.microsoft.com/office/drawing/2014/main" id="{B8C3A1C6-B639-CFDC-9F79-FEF8B8F856B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413954" y="1077600"/>
                      <a:ext cx="668312" cy="810631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60" name="Group 59">
                      <a:extLst>
                        <a:ext uri="{FF2B5EF4-FFF2-40B4-BE49-F238E27FC236}">
                          <a16:creationId xmlns:a16="http://schemas.microsoft.com/office/drawing/2014/main" id="{CAE0723B-9422-2438-35CC-20EF36FC2E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059594" y="1355196"/>
                      <a:ext cx="1275452" cy="255762"/>
                      <a:chOff x="7924228" y="59196"/>
                      <a:chExt cx="1275452" cy="255762"/>
                    </a:xfrm>
                  </p:grpSpPr>
                  <p:sp>
                    <p:nvSpPr>
                      <p:cNvPr id="2475" name="Rectangle: Rounded Corners 2474">
                        <a:extLst>
                          <a:ext uri="{FF2B5EF4-FFF2-40B4-BE49-F238E27FC236}">
                            <a16:creationId xmlns:a16="http://schemas.microsoft.com/office/drawing/2014/main" id="{E64AE3E8-92EF-015B-6560-426CDD6D13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65904" y="59196"/>
                        <a:ext cx="1204321" cy="230414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73"/>
                      </a:p>
                    </p:txBody>
                  </p: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2477" name="TextBox 2476">
                            <a:extLst>
                              <a:ext uri="{FF2B5EF4-FFF2-40B4-BE49-F238E27FC236}">
                                <a16:creationId xmlns:a16="http://schemas.microsoft.com/office/drawing/2014/main" id="{F6B03B45-ADA2-07C1-87C1-12A49D48ACA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7924228" y="68865"/>
                            <a:ext cx="1275452" cy="246093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sz="999" smtClean="0">
                                      <a:latin typeface="Cambria Math" panose="02040503050406030204" pitchFamily="18" charset="0"/>
                                    </a:rPr>
                                    <m:t>−0.</m:t>
                                  </m:r>
                                  <m:r>
                                    <a:rPr lang="en-US" sz="99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99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l-GR" sz="999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a:rPr lang="en-US" sz="999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999">
                                      <a:latin typeface="Cambria Math" panose="02040503050406030204" pitchFamily="18" charset="0"/>
                                    </a:rPr>
                                    <m:t>+0.</m:t>
                                  </m:r>
                                  <m:r>
                                    <a:rPr lang="en-US" sz="999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oMath>
                              </m:oMathPara>
                            </a14:m>
                            <a:endParaRPr lang="en-US" sz="999" dirty="0"/>
                          </a:p>
                        </p:txBody>
                      </p:sp>
                    </mc:Choice>
                    <mc:Fallback>
                      <p:sp>
                        <p:nvSpPr>
                          <p:cNvPr id="2477" name="TextBox 2476">
                            <a:extLst>
                              <a:ext uri="{FF2B5EF4-FFF2-40B4-BE49-F238E27FC236}">
                                <a16:creationId xmlns:a16="http://schemas.microsoft.com/office/drawing/2014/main" id="{F6B03B45-ADA2-07C1-87C1-12A49D48ACAD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7924228" y="68865"/>
                            <a:ext cx="1275452" cy="246093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B7D0B962-4D39-BDE6-189B-02C3A92F74FD}"/>
                      </a:ext>
                    </a:extLst>
                  </p:cNvPr>
                  <p:cNvSpPr/>
                  <p:nvPr/>
                </p:nvSpPr>
                <p:spPr>
                  <a:xfrm>
                    <a:off x="8080823" y="1025452"/>
                    <a:ext cx="1174730" cy="230414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1" name="Rectangle: Rounded Corners 20">
                    <a:extLst>
                      <a:ext uri="{FF2B5EF4-FFF2-40B4-BE49-F238E27FC236}">
                        <a16:creationId xmlns:a16="http://schemas.microsoft.com/office/drawing/2014/main" id="{1AAEE15E-0C96-E3F9-46F3-21507A491856}"/>
                      </a:ext>
                    </a:extLst>
                  </p:cNvPr>
                  <p:cNvSpPr/>
                  <p:nvPr/>
                </p:nvSpPr>
                <p:spPr>
                  <a:xfrm>
                    <a:off x="8087909" y="1696668"/>
                    <a:ext cx="1197235" cy="230414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078F5497-CCC0-C028-1E7D-10BF701F015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311238" y="994326"/>
                        <a:ext cx="750569" cy="24609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l-GR" sz="999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999">
                                  <a:latin typeface="Cambria Math" panose="02040503050406030204" pitchFamily="18" charset="0"/>
                                </a:rPr>
                                <m:t>&lt;−0.</m:t>
                              </m:r>
                              <m:r>
                                <a:rPr lang="en-US" sz="999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sz="999" dirty="0"/>
                      </a:p>
                    </p:txBody>
                  </p:sp>
                </mc:Choice>
                <mc:Fallback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078F5497-CCC0-C028-1E7D-10BF701F015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311238" y="994326"/>
                        <a:ext cx="750569" cy="246093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E9FDD3A5-05E0-30B2-476D-A2871470F05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300806" y="1677627"/>
                        <a:ext cx="771439" cy="24609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999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l-GR" sz="999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999" i="1">
                                  <a:latin typeface="Cambria Math" panose="02040503050406030204" pitchFamily="18" charset="0"/>
                                </a:rPr>
                                <m:t>&gt;+0.</m:t>
                              </m:r>
                              <m:r>
                                <a:rPr lang="en-US" sz="999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sz="999" dirty="0"/>
                      </a:p>
                    </p:txBody>
                  </p:sp>
                </mc:Choice>
                <mc:Fallback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E9FDD3A5-05E0-30B2-476D-A2871470F05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300806" y="1677627"/>
                        <a:ext cx="771439" cy="246093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37" name="TextBox 136">
                    <a:extLst>
                      <a:ext uri="{FF2B5EF4-FFF2-40B4-BE49-F238E27FC236}">
                        <a16:creationId xmlns:a16="http://schemas.microsoft.com/office/drawing/2014/main" id="{136CA334-BC61-8B0B-9683-0BBFF1963A16}"/>
                      </a:ext>
                    </a:extLst>
                  </p:cNvPr>
                  <p:cNvSpPr txBox="1"/>
                  <p:nvPr/>
                </p:nvSpPr>
                <p:spPr>
                  <a:xfrm>
                    <a:off x="9340690" y="1680578"/>
                    <a:ext cx="119723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Antagonism</a:t>
                    </a:r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6" name="TextBox 2445">
                    <a:extLst>
                      <a:ext uri="{FF2B5EF4-FFF2-40B4-BE49-F238E27FC236}">
                        <a16:creationId xmlns:a16="http://schemas.microsoft.com/office/drawing/2014/main" id="{A873D738-3F08-8CAB-1840-38E6BBD93378}"/>
                      </a:ext>
                    </a:extLst>
                  </p:cNvPr>
                  <p:cNvSpPr txBox="1"/>
                  <p:nvPr/>
                </p:nvSpPr>
                <p:spPr>
                  <a:xfrm>
                    <a:off x="5572310" y="1599055"/>
                    <a:ext cx="1245016" cy="7694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dirty="0"/>
                      <a:t>Using Bliss independent</a:t>
                    </a:r>
                  </a:p>
                  <a:p>
                    <a:pPr algn="ctr"/>
                    <a:r>
                      <a:rPr lang="en-US" sz="1100" dirty="0"/>
                      <a:t> score (</a:t>
                    </a:r>
                    <a14:m>
                      <m:oMath xmlns:m="http://schemas.openxmlformats.org/officeDocument/2006/math">
                        <m:r>
                          <a:rPr lang="el-GR" sz="1100" i="1"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a14:m>
                    <a:r>
                      <a:rPr lang="en-US" sz="1100" dirty="0"/>
                      <a:t>) to assign labels</a:t>
                    </a:r>
                  </a:p>
                </p:txBody>
              </p:sp>
            </mc:Choice>
            <mc:Fallback xmlns="">
              <p:sp>
                <p:nvSpPr>
                  <p:cNvPr id="2446" name="TextBox 2445">
                    <a:extLst>
                      <a:ext uri="{FF2B5EF4-FFF2-40B4-BE49-F238E27FC236}">
                        <a16:creationId xmlns:a16="http://schemas.microsoft.com/office/drawing/2014/main" id="{A873D738-3F08-8CAB-1840-38E6BBD933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2310" y="1599055"/>
                    <a:ext cx="1245016" cy="76944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787" r="-1463" b="-393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3E2E19D-C816-2164-E5D5-2D21AB20B8D9}"/>
                </a:ext>
              </a:extLst>
            </p:cNvPr>
            <p:cNvGrpSpPr/>
            <p:nvPr/>
          </p:nvGrpSpPr>
          <p:grpSpPr>
            <a:xfrm>
              <a:off x="318411" y="1092192"/>
              <a:ext cx="1945490" cy="1872509"/>
              <a:chOff x="318394" y="862446"/>
              <a:chExt cx="1945490" cy="1872510"/>
            </a:xfrm>
          </p:grpSpPr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A96B10B2-1864-DE0B-815F-D9EA89DB9FFB}"/>
                  </a:ext>
                </a:extLst>
              </p:cNvPr>
              <p:cNvSpPr txBox="1"/>
              <p:nvPr/>
            </p:nvSpPr>
            <p:spPr>
              <a:xfrm>
                <a:off x="318394" y="2473218"/>
                <a:ext cx="1586227" cy="261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1" b="1" dirty="0"/>
                  <a:t>Raw</a:t>
                </a:r>
                <a:r>
                  <a:rPr lang="en-US" sz="1101" dirty="0"/>
                  <a:t> ≈ 13,854 rows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62AF46C-55A5-901C-50F3-6FBC8964BB45}"/>
                  </a:ext>
                </a:extLst>
              </p:cNvPr>
              <p:cNvGrpSpPr/>
              <p:nvPr/>
            </p:nvGrpSpPr>
            <p:grpSpPr>
              <a:xfrm>
                <a:off x="372044" y="862446"/>
                <a:ext cx="1520604" cy="461665"/>
                <a:chOff x="2141951" y="4304894"/>
                <a:chExt cx="1520604" cy="461665"/>
              </a:xfrm>
            </p:grpSpPr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EE8D9196-0629-A9A5-735D-73FDF57F9E9C}"/>
                    </a:ext>
                  </a:extLst>
                </p:cNvPr>
                <p:cNvSpPr/>
                <p:nvPr/>
              </p:nvSpPr>
              <p:spPr>
                <a:xfrm>
                  <a:off x="2141951" y="4304894"/>
                  <a:ext cx="1499766" cy="461665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341" name="TextBox 340">
                  <a:extLst>
                    <a:ext uri="{FF2B5EF4-FFF2-40B4-BE49-F238E27FC236}">
                      <a16:creationId xmlns:a16="http://schemas.microsoft.com/office/drawing/2014/main" id="{F8734AF9-25D3-A256-2FD8-F656882D8294}"/>
                    </a:ext>
                  </a:extLst>
                </p:cNvPr>
                <p:cNvSpPr txBox="1"/>
                <p:nvPr/>
              </p:nvSpPr>
              <p:spPr>
                <a:xfrm>
                  <a:off x="2162788" y="4304894"/>
                  <a:ext cx="149976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Brochado</a:t>
                  </a:r>
                </a:p>
                <a:p>
                  <a:pPr algn="ctr"/>
                  <a:r>
                    <a:rPr lang="en-US" sz="1200" dirty="0"/>
                    <a:t>(HTS)</a:t>
                  </a:r>
                </a:p>
              </p:txBody>
            </p:sp>
          </p:grpSp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3AE1D97-2836-2F2D-F7E5-A21B17C222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949360" y="923300"/>
                <a:ext cx="314524" cy="387106"/>
              </a:xfrm>
              <a:prstGeom prst="rect">
                <a:avLst/>
              </a:prstGeom>
            </p:spPr>
          </p:pic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78856B7-A898-1FB6-805B-0B1DDDA447AC}"/>
                  </a:ext>
                </a:extLst>
              </p:cNvPr>
              <p:cNvGrpSpPr/>
              <p:nvPr/>
            </p:nvGrpSpPr>
            <p:grpSpPr>
              <a:xfrm>
                <a:off x="361625" y="1442932"/>
                <a:ext cx="1520604" cy="461665"/>
                <a:chOff x="2141951" y="4304894"/>
                <a:chExt cx="1520604" cy="461665"/>
              </a:xfrm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093FE054-C813-0B93-D9FB-43AD344335A6}"/>
                    </a:ext>
                  </a:extLst>
                </p:cNvPr>
                <p:cNvSpPr/>
                <p:nvPr/>
              </p:nvSpPr>
              <p:spPr>
                <a:xfrm>
                  <a:off x="2141951" y="4304894"/>
                  <a:ext cx="1499766" cy="461665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2B475C8-DD4D-EBE4-FC6F-7BFCC54DDA5D}"/>
                    </a:ext>
                  </a:extLst>
                </p:cNvPr>
                <p:cNvSpPr txBox="1"/>
                <p:nvPr/>
              </p:nvSpPr>
              <p:spPr>
                <a:xfrm>
                  <a:off x="2162788" y="4304894"/>
                  <a:ext cx="149976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Cacace</a:t>
                  </a:r>
                </a:p>
                <a:p>
                  <a:pPr algn="ctr"/>
                  <a:r>
                    <a:rPr lang="en-US" sz="1200" dirty="0"/>
                    <a:t>(HTS)</a:t>
                  </a:r>
                </a:p>
              </p:txBody>
            </p:sp>
          </p:grp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399D1FD9-B207-F151-DD72-9AD0F572A4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949360" y="1501254"/>
                <a:ext cx="314524" cy="387106"/>
              </a:xfrm>
              <a:prstGeom prst="rect">
                <a:avLst/>
              </a:prstGeom>
            </p:spPr>
          </p:pic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BCBFEB5-3036-EE9F-9450-AF3985B58509}"/>
                  </a:ext>
                </a:extLst>
              </p:cNvPr>
              <p:cNvGrpSpPr/>
              <p:nvPr/>
            </p:nvGrpSpPr>
            <p:grpSpPr>
              <a:xfrm>
                <a:off x="351206" y="2011553"/>
                <a:ext cx="1520604" cy="461665"/>
                <a:chOff x="2141951" y="4304894"/>
                <a:chExt cx="1520604" cy="461665"/>
              </a:xfrm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DC3C8883-C305-8560-1F92-B0C03FF2BBFF}"/>
                    </a:ext>
                  </a:extLst>
                </p:cNvPr>
                <p:cNvSpPr/>
                <p:nvPr/>
              </p:nvSpPr>
              <p:spPr>
                <a:xfrm>
                  <a:off x="2141951" y="4304894"/>
                  <a:ext cx="1499766" cy="461665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641CE8E-2D11-E757-9CE8-008AA37FBC66}"/>
                    </a:ext>
                  </a:extLst>
                </p:cNvPr>
                <p:cNvSpPr txBox="1"/>
                <p:nvPr/>
              </p:nvSpPr>
              <p:spPr>
                <a:xfrm>
                  <a:off x="2162788" y="4304894"/>
                  <a:ext cx="149976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ACDB database</a:t>
                  </a:r>
                </a:p>
                <a:p>
                  <a:pPr algn="ctr"/>
                  <a:r>
                    <a:rPr lang="en-US" sz="1200" dirty="0"/>
                    <a:t>(literature-based)</a:t>
                  </a:r>
                </a:p>
              </p:txBody>
            </p:sp>
          </p:grpSp>
          <p:pic>
            <p:nvPicPr>
              <p:cNvPr id="30" name="Graphic 29">
                <a:extLst>
                  <a:ext uri="{FF2B5EF4-FFF2-40B4-BE49-F238E27FC236}">
                    <a16:creationId xmlns:a16="http://schemas.microsoft.com/office/drawing/2014/main" id="{47BCDB63-7BE5-340C-5AAD-2F17444F5E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949360" y="2041563"/>
                <a:ext cx="314524" cy="387106"/>
              </a:xfrm>
              <a:prstGeom prst="rect">
                <a:avLst/>
              </a:prstGeom>
            </p:spPr>
          </p:pic>
        </p:grpSp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676FCC42-70BF-6021-23FF-5D9ED469281A}"/>
                </a:ext>
              </a:extLst>
            </p:cNvPr>
            <p:cNvSpPr/>
            <p:nvPr/>
          </p:nvSpPr>
          <p:spPr>
            <a:xfrm>
              <a:off x="2370368" y="1328055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94EE7E08-D9EC-5EDC-5FEB-3D5EC6A00EBD}"/>
                </a:ext>
              </a:extLst>
            </p:cNvPr>
            <p:cNvSpPr/>
            <p:nvPr/>
          </p:nvSpPr>
          <p:spPr>
            <a:xfrm>
              <a:off x="2396415" y="1844092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17C5BB70-D0A4-22CF-1EF8-21973425A803}"/>
                </a:ext>
              </a:extLst>
            </p:cNvPr>
            <p:cNvSpPr/>
            <p:nvPr/>
          </p:nvSpPr>
          <p:spPr>
            <a:xfrm>
              <a:off x="5589286" y="1873504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B4DBF79D-A261-3FD0-BC49-60E2F7E590D2}"/>
                </a:ext>
              </a:extLst>
            </p:cNvPr>
            <p:cNvSpPr/>
            <p:nvPr/>
          </p:nvSpPr>
          <p:spPr>
            <a:xfrm>
              <a:off x="9753217" y="1839333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E97C2690-5C42-1DC7-5580-D8B3D587871D}"/>
                </a:ext>
              </a:extLst>
            </p:cNvPr>
            <p:cNvSpPr/>
            <p:nvPr/>
          </p:nvSpPr>
          <p:spPr>
            <a:xfrm>
              <a:off x="2395766" y="2360768"/>
              <a:ext cx="279902" cy="97092"/>
            </a:xfrm>
            <a:prstGeom prst="right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</p:grpSp>
    </p:spTree>
    <p:extLst>
      <p:ext uri="{BB962C8B-B14F-4D97-AF65-F5344CB8AC3E}">
        <p14:creationId xmlns:p14="http://schemas.microsoft.com/office/powerpoint/2010/main" val="160543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CB0B871-F1E4-70DB-B621-4043CD54C325}"/>
              </a:ext>
            </a:extLst>
          </p:cNvPr>
          <p:cNvGrpSpPr/>
          <p:nvPr/>
        </p:nvGrpSpPr>
        <p:grpSpPr>
          <a:xfrm>
            <a:off x="290350" y="116912"/>
            <a:ext cx="5805650" cy="4905719"/>
            <a:chOff x="290350" y="116912"/>
            <a:chExt cx="5805650" cy="490571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97CBFD-DF31-E0E2-72E1-38C29E101010}"/>
                </a:ext>
              </a:extLst>
            </p:cNvPr>
            <p:cNvGrpSpPr/>
            <p:nvPr/>
          </p:nvGrpSpPr>
          <p:grpSpPr>
            <a:xfrm>
              <a:off x="290350" y="116912"/>
              <a:ext cx="5805650" cy="4905719"/>
              <a:chOff x="233408" y="131319"/>
              <a:chExt cx="5805650" cy="490571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7D251B-55DC-AD70-436B-EFF350855F33}"/>
                  </a:ext>
                </a:extLst>
              </p:cNvPr>
              <p:cNvSpPr txBox="1"/>
              <p:nvPr/>
            </p:nvSpPr>
            <p:spPr>
              <a:xfrm>
                <a:off x="233408" y="131319"/>
                <a:ext cx="4776387" cy="400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1" b="1" dirty="0"/>
                  <a:t>B.</a:t>
                </a:r>
                <a:r>
                  <a:rPr lang="en-US" sz="2001" dirty="0"/>
                  <a:t> </a:t>
                </a:r>
                <a:r>
                  <a:rPr lang="en-US" sz="2000" dirty="0"/>
                  <a:t>Dataset statistics after curation</a:t>
                </a:r>
                <a:endParaRPr lang="en-US" sz="2001" dirty="0"/>
              </a:p>
            </p:txBody>
          </p:sp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E0E4C18A-7810-E3F8-6A0C-AB69759491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06127" y="3075243"/>
                <a:ext cx="3032931" cy="1961795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A24ADD-371B-0558-423F-D23A88BB5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2" r="30"/>
            <a:stretch>
              <a:fillRect/>
            </a:stretch>
          </p:blipFill>
          <p:spPr>
            <a:xfrm>
              <a:off x="344633" y="3068041"/>
              <a:ext cx="2647906" cy="194738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D89CA27-D6F3-561B-7778-947FC7FC9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86"/>
            <a:stretch>
              <a:fillRect/>
            </a:stretch>
          </p:blipFill>
          <p:spPr>
            <a:xfrm>
              <a:off x="344633" y="585601"/>
              <a:ext cx="2506847" cy="241398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F54642F-2FF4-144F-31D8-745C0F23D9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480" y="735163"/>
            <a:ext cx="3208495" cy="210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034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C066DC15-4D2B-6C2D-3DEB-D893F4624518}"/>
              </a:ext>
            </a:extLst>
          </p:cNvPr>
          <p:cNvGrpSpPr/>
          <p:nvPr/>
        </p:nvGrpSpPr>
        <p:grpSpPr>
          <a:xfrm>
            <a:off x="71392" y="131934"/>
            <a:ext cx="6599282" cy="5033791"/>
            <a:chOff x="71392" y="131934"/>
            <a:chExt cx="6599282" cy="503379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D619328-BE17-31EA-78AE-92DE6C172239}"/>
                </a:ext>
              </a:extLst>
            </p:cNvPr>
            <p:cNvSpPr txBox="1"/>
            <p:nvPr/>
          </p:nvSpPr>
          <p:spPr>
            <a:xfrm>
              <a:off x="71392" y="131934"/>
              <a:ext cx="6548393" cy="400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1" b="1" dirty="0"/>
                <a:t>C.</a:t>
              </a:r>
              <a:r>
                <a:rPr lang="en-US" sz="2001" dirty="0"/>
                <a:t> </a:t>
              </a:r>
              <a:r>
                <a:rPr lang="en-US" sz="2000" dirty="0"/>
                <a:t>Input features from Chemical Checker embeddings</a:t>
              </a:r>
              <a:endParaRPr lang="en-US" sz="2001" dirty="0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0A6E388C-97DA-62F2-B492-8D368F5FFF32}"/>
                </a:ext>
              </a:extLst>
            </p:cNvPr>
            <p:cNvGrpSpPr/>
            <p:nvPr/>
          </p:nvGrpSpPr>
          <p:grpSpPr>
            <a:xfrm>
              <a:off x="453482" y="799100"/>
              <a:ext cx="6217192" cy="4366625"/>
              <a:chOff x="453482" y="799100"/>
              <a:chExt cx="6217192" cy="4366625"/>
            </a:xfrm>
          </p:grpSpPr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D83A4B-13B8-4820-CCFD-1EAF2C69C2F7}"/>
                  </a:ext>
                </a:extLst>
              </p:cNvPr>
              <p:cNvSpPr txBox="1"/>
              <p:nvPr/>
            </p:nvSpPr>
            <p:spPr>
              <a:xfrm>
                <a:off x="1216306" y="1381637"/>
                <a:ext cx="22542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Chemical Checker </a:t>
                </a:r>
              </a:p>
              <a:p>
                <a:pPr algn="ctr"/>
                <a:r>
                  <a:rPr lang="en-US" sz="1200" b="1" dirty="0"/>
                  <a:t>embeddings</a:t>
                </a:r>
                <a:endParaRPr lang="en-US" sz="1200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7786CED-E485-C5B3-DC75-B181F0DDABEB}"/>
                  </a:ext>
                </a:extLst>
              </p:cNvPr>
              <p:cNvSpPr txBox="1"/>
              <p:nvPr/>
            </p:nvSpPr>
            <p:spPr>
              <a:xfrm>
                <a:off x="4213825" y="2263080"/>
                <a:ext cx="1995572" cy="1108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1" b="1" dirty="0"/>
                  <a:t>For each drug:</a:t>
                </a:r>
              </a:p>
              <a:p>
                <a:pPr marL="171476" indent="-171476" algn="just">
                  <a:buFontTx/>
                  <a:buChar char="-"/>
                </a:pPr>
                <a:r>
                  <a:rPr lang="en-US" sz="1101" dirty="0"/>
                  <a:t>Each level → 128D</a:t>
                </a:r>
              </a:p>
              <a:p>
                <a:pPr marL="171476" indent="-171476" algn="just">
                  <a:buFontTx/>
                  <a:buChar char="-"/>
                </a:pPr>
                <a:r>
                  <a:rPr lang="en-US" sz="1101" dirty="0"/>
                  <a:t>Full CC: 25 × 128 = 3200D</a:t>
                </a:r>
              </a:p>
              <a:p>
                <a:pPr marL="171476" indent="-171476" algn="just">
                  <a:buFontTx/>
                  <a:buChar char="-"/>
                </a:pPr>
                <a:r>
                  <a:rPr lang="en-US" sz="1101" dirty="0"/>
                  <a:t>S-space 128D vector (strain embedding); Used only in some model variants</a:t>
                </a:r>
              </a:p>
            </p:txBody>
          </p:sp>
          <p:grpSp>
            <p:nvGrpSpPr>
              <p:cNvPr id="222" name="Group 221">
                <a:extLst>
                  <a:ext uri="{FF2B5EF4-FFF2-40B4-BE49-F238E27FC236}">
                    <a16:creationId xmlns:a16="http://schemas.microsoft.com/office/drawing/2014/main" id="{820CDAE2-2FFE-865A-EEA7-002A457D4CED}"/>
                  </a:ext>
                </a:extLst>
              </p:cNvPr>
              <p:cNvGrpSpPr/>
              <p:nvPr/>
            </p:nvGrpSpPr>
            <p:grpSpPr>
              <a:xfrm>
                <a:off x="709506" y="820395"/>
                <a:ext cx="1271834" cy="1001748"/>
                <a:chOff x="1578854" y="907849"/>
                <a:chExt cx="1271834" cy="1001747"/>
              </a:xfrm>
            </p:grpSpPr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90E8156-AC3B-3DCC-8F9F-632B4264A024}"/>
                    </a:ext>
                  </a:extLst>
                </p:cNvPr>
                <p:cNvSpPr txBox="1"/>
                <p:nvPr/>
              </p:nvSpPr>
              <p:spPr>
                <a:xfrm>
                  <a:off x="1578854" y="1156250"/>
                  <a:ext cx="12718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Drug A</a:t>
                  </a:r>
                </a:p>
              </p:txBody>
            </p:sp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464FFE10-BC9E-3E5C-7174-BCAB5AD83F1B}"/>
                    </a:ext>
                  </a:extLst>
                </p:cNvPr>
                <p:cNvGrpSpPr/>
                <p:nvPr/>
              </p:nvGrpSpPr>
              <p:grpSpPr>
                <a:xfrm>
                  <a:off x="1849614" y="1462878"/>
                  <a:ext cx="640225" cy="446718"/>
                  <a:chOff x="4219511" y="2497928"/>
                  <a:chExt cx="491094" cy="537519"/>
                </a:xfrm>
              </p:grpSpPr>
              <p:sp>
                <p:nvSpPr>
                  <p:cNvPr id="163" name="Parallelogram 162">
                    <a:extLst>
                      <a:ext uri="{FF2B5EF4-FFF2-40B4-BE49-F238E27FC236}">
                        <a16:creationId xmlns:a16="http://schemas.microsoft.com/office/drawing/2014/main" id="{F3139866-1A6D-3790-B5E9-8A2744363F7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19511" y="2837738"/>
                    <a:ext cx="475075" cy="197709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164" name="Parallelogram 163">
                    <a:extLst>
                      <a:ext uri="{FF2B5EF4-FFF2-40B4-BE49-F238E27FC236}">
                        <a16:creationId xmlns:a16="http://schemas.microsoft.com/office/drawing/2014/main" id="{0DE03FD4-CF3E-C64F-90F6-39B7DB4268C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23217" y="2751243"/>
                    <a:ext cx="478952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165" name="Parallelogram 164">
                    <a:extLst>
                      <a:ext uri="{FF2B5EF4-FFF2-40B4-BE49-F238E27FC236}">
                        <a16:creationId xmlns:a16="http://schemas.microsoft.com/office/drawing/2014/main" id="{1B49A4F9-42BF-885D-E3D2-D26F088673D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0122" y="2660432"/>
                    <a:ext cx="475073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166" name="Parallelogram 165">
                    <a:extLst>
                      <a:ext uri="{FF2B5EF4-FFF2-40B4-BE49-F238E27FC236}">
                        <a16:creationId xmlns:a16="http://schemas.microsoft.com/office/drawing/2014/main" id="{BB4A7400-C632-2774-DD20-6C5D4E39907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1653" y="2580031"/>
                    <a:ext cx="478952" cy="197706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167" name="Parallelogram 166">
                    <a:extLst>
                      <a:ext uri="{FF2B5EF4-FFF2-40B4-BE49-F238E27FC236}">
                        <a16:creationId xmlns:a16="http://schemas.microsoft.com/office/drawing/2014/main" id="{E8E1CFD8-ECBC-9ADC-F171-8510AF8690E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1653" y="2497928"/>
                    <a:ext cx="478952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187FC4E0-4B43-645A-F796-62EF8B398A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08934" y="907849"/>
                  <a:ext cx="580905" cy="207065"/>
                  <a:chOff x="675" y="1253"/>
                  <a:chExt cx="1725" cy="741"/>
                </a:xfrm>
              </p:grpSpPr>
              <p:sp>
                <p:nvSpPr>
                  <p:cNvPr id="175" name="Freeform 16">
                    <a:extLst>
                      <a:ext uri="{FF2B5EF4-FFF2-40B4-BE49-F238E27FC236}">
                        <a16:creationId xmlns:a16="http://schemas.microsoft.com/office/drawing/2014/main" id="{D2E93947-7054-83E3-DA42-9114A34A0E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1725" cy="741"/>
                  </a:xfrm>
                  <a:custGeom>
                    <a:avLst/>
                    <a:gdLst>
                      <a:gd name="T0" fmla="*/ 4305 w 1092"/>
                      <a:gd name="T1" fmla="*/ 1251 h 440"/>
                      <a:gd name="T2" fmla="*/ 3643 w 1092"/>
                      <a:gd name="T3" fmla="*/ 2102 h 440"/>
                      <a:gd name="T4" fmla="*/ 662 w 1092"/>
                      <a:gd name="T5" fmla="*/ 2102 h 440"/>
                      <a:gd name="T6" fmla="*/ 0 w 1092"/>
                      <a:gd name="T7" fmla="*/ 1251 h 440"/>
                      <a:gd name="T8" fmla="*/ 0 w 1092"/>
                      <a:gd name="T9" fmla="*/ 850 h 440"/>
                      <a:gd name="T10" fmla="*/ 662 w 1092"/>
                      <a:gd name="T11" fmla="*/ 0 h 440"/>
                      <a:gd name="T12" fmla="*/ 3643 w 1092"/>
                      <a:gd name="T13" fmla="*/ 0 h 440"/>
                      <a:gd name="T14" fmla="*/ 4305 w 1092"/>
                      <a:gd name="T15" fmla="*/ 850 h 440"/>
                      <a:gd name="T16" fmla="*/ 4305 w 1092"/>
                      <a:gd name="T17" fmla="*/ 1251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92" h="440">
                        <a:moveTo>
                          <a:pt x="1092" y="262"/>
                        </a:moveTo>
                        <a:cubicBezTo>
                          <a:pt x="1092" y="360"/>
                          <a:pt x="1017" y="440"/>
                          <a:pt x="924" y="440"/>
                        </a:cubicBez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0"/>
                          <a:pt x="0" y="262"/>
                        </a:cubicBezTo>
                        <a:cubicBezTo>
                          <a:pt x="0" y="178"/>
                          <a:pt x="0" y="178"/>
                          <a:pt x="0" y="178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924" y="0"/>
                          <a:pt x="924" y="0"/>
                          <a:pt x="924" y="0"/>
                        </a:cubicBezTo>
                        <a:cubicBezTo>
                          <a:pt x="1017" y="0"/>
                          <a:pt x="1092" y="80"/>
                          <a:pt x="1092" y="178"/>
                        </a:cubicBezTo>
                        <a:lnTo>
                          <a:pt x="1092" y="262"/>
                        </a:lnTo>
                        <a:close/>
                      </a:path>
                    </a:pathLst>
                  </a:custGeom>
                  <a:solidFill>
                    <a:srgbClr val="F9763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76" name="Freeform 17">
                    <a:extLst>
                      <a:ext uri="{FF2B5EF4-FFF2-40B4-BE49-F238E27FC236}">
                        <a16:creationId xmlns:a16="http://schemas.microsoft.com/office/drawing/2014/main" id="{E4A5568D-9743-E73E-2C92-9056835047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7" y="1253"/>
                    <a:ext cx="853" cy="741"/>
                  </a:xfrm>
                  <a:custGeom>
                    <a:avLst/>
                    <a:gdLst>
                      <a:gd name="T0" fmla="*/ 0 w 540"/>
                      <a:gd name="T1" fmla="*/ 2102 h 440"/>
                      <a:gd name="T2" fmla="*/ 1467 w 540"/>
                      <a:gd name="T3" fmla="*/ 2102 h 440"/>
                      <a:gd name="T4" fmla="*/ 2128 w 540"/>
                      <a:gd name="T5" fmla="*/ 1251 h 440"/>
                      <a:gd name="T6" fmla="*/ 2128 w 540"/>
                      <a:gd name="T7" fmla="*/ 850 h 440"/>
                      <a:gd name="T8" fmla="*/ 1467 w 540"/>
                      <a:gd name="T9" fmla="*/ 0 h 440"/>
                      <a:gd name="T10" fmla="*/ 0 w 540"/>
                      <a:gd name="T11" fmla="*/ 0 h 440"/>
                      <a:gd name="T12" fmla="*/ 190 w 540"/>
                      <a:gd name="T13" fmla="*/ 1032 h 440"/>
                      <a:gd name="T14" fmla="*/ 0 w 540"/>
                      <a:gd name="T15" fmla="*/ 2102 h 44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540" h="440">
                        <a:moveTo>
                          <a:pt x="0" y="440"/>
                        </a:moveTo>
                        <a:cubicBezTo>
                          <a:pt x="372" y="440"/>
                          <a:pt x="372" y="440"/>
                          <a:pt x="372" y="440"/>
                        </a:cubicBezTo>
                        <a:cubicBezTo>
                          <a:pt x="465" y="440"/>
                          <a:pt x="540" y="360"/>
                          <a:pt x="540" y="262"/>
                        </a:cubicBezTo>
                        <a:cubicBezTo>
                          <a:pt x="540" y="178"/>
                          <a:pt x="540" y="178"/>
                          <a:pt x="540" y="178"/>
                        </a:cubicBezTo>
                        <a:cubicBezTo>
                          <a:pt x="540" y="80"/>
                          <a:pt x="465" y="0"/>
                          <a:pt x="37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48" y="28"/>
                          <a:pt x="48" y="216"/>
                        </a:cubicBezTo>
                        <a:cubicBezTo>
                          <a:pt x="48" y="404"/>
                          <a:pt x="0" y="440"/>
                          <a:pt x="0" y="440"/>
                        </a:cubicBezTo>
                        <a:close/>
                      </a:path>
                    </a:pathLst>
                  </a:custGeom>
                  <a:solidFill>
                    <a:srgbClr val="0909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77" name="Freeform 18">
                    <a:extLst>
                      <a:ext uri="{FF2B5EF4-FFF2-40B4-BE49-F238E27FC236}">
                        <a16:creationId xmlns:a16="http://schemas.microsoft.com/office/drawing/2014/main" id="{9FCE6AC9-F322-3E49-F26C-71581EC335F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920" cy="741"/>
                  </a:xfrm>
                  <a:custGeom>
                    <a:avLst/>
                    <a:gdLst>
                      <a:gd name="T0" fmla="*/ 2181 w 582"/>
                      <a:gd name="T1" fmla="*/ 2102 h 440"/>
                      <a:gd name="T2" fmla="*/ 659 w 582"/>
                      <a:gd name="T3" fmla="*/ 2102 h 440"/>
                      <a:gd name="T4" fmla="*/ 0 w 582"/>
                      <a:gd name="T5" fmla="*/ 1251 h 440"/>
                      <a:gd name="T6" fmla="*/ 0 w 582"/>
                      <a:gd name="T7" fmla="*/ 854 h 440"/>
                      <a:gd name="T8" fmla="*/ 659 w 582"/>
                      <a:gd name="T9" fmla="*/ 0 h 440"/>
                      <a:gd name="T10" fmla="*/ 362 w 582"/>
                      <a:gd name="T11" fmla="*/ 1053 h 440"/>
                      <a:gd name="T12" fmla="*/ 2053 w 582"/>
                      <a:gd name="T13" fmla="*/ 1815 h 440"/>
                      <a:gd name="T14" fmla="*/ 2298 w 582"/>
                      <a:gd name="T15" fmla="*/ 1821 h 440"/>
                      <a:gd name="T16" fmla="*/ 2181 w 582"/>
                      <a:gd name="T17" fmla="*/ 2102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582" h="440">
                        <a:moveTo>
                          <a:pt x="552" y="440"/>
                        </a:moveTo>
                        <a:cubicBezTo>
                          <a:pt x="167" y="440"/>
                          <a:pt x="167" y="440"/>
                          <a:pt x="167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7" y="0"/>
                        </a:cubicBezTo>
                        <a:cubicBezTo>
                          <a:pt x="167" y="0"/>
                          <a:pt x="88" y="4"/>
                          <a:pt x="92" y="220"/>
                        </a:cubicBezTo>
                        <a:cubicBezTo>
                          <a:pt x="94" y="365"/>
                          <a:pt x="212" y="380"/>
                          <a:pt x="520" y="380"/>
                        </a:cubicBezTo>
                        <a:cubicBezTo>
                          <a:pt x="541" y="380"/>
                          <a:pt x="562" y="381"/>
                          <a:pt x="582" y="381"/>
                        </a:cubicBezTo>
                        <a:cubicBezTo>
                          <a:pt x="582" y="381"/>
                          <a:pt x="564" y="436"/>
                          <a:pt x="552" y="440"/>
                        </a:cubicBezTo>
                        <a:close/>
                      </a:path>
                    </a:pathLst>
                  </a:custGeom>
                  <a:solidFill>
                    <a:srgbClr val="E267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78" name="Freeform 19">
                    <a:extLst>
                      <a:ext uri="{FF2B5EF4-FFF2-40B4-BE49-F238E27FC236}">
                        <a16:creationId xmlns:a16="http://schemas.microsoft.com/office/drawing/2014/main" id="{222038E8-9C6D-B8EA-B3FF-44713932B5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7" y="1792"/>
                    <a:ext cx="839" cy="202"/>
                  </a:xfrm>
                  <a:custGeom>
                    <a:avLst/>
                    <a:gdLst>
                      <a:gd name="T0" fmla="*/ 0 w 531"/>
                      <a:gd name="T1" fmla="*/ 572 h 120"/>
                      <a:gd name="T2" fmla="*/ 1468 w 531"/>
                      <a:gd name="T3" fmla="*/ 572 h 120"/>
                      <a:gd name="T4" fmla="*/ 2095 w 531"/>
                      <a:gd name="T5" fmla="*/ 0 h 120"/>
                      <a:gd name="T6" fmla="*/ 117 w 531"/>
                      <a:gd name="T7" fmla="*/ 291 h 120"/>
                      <a:gd name="T8" fmla="*/ 0 w 531"/>
                      <a:gd name="T9" fmla="*/ 572 h 1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31" h="120">
                        <a:moveTo>
                          <a:pt x="0" y="120"/>
                        </a:moveTo>
                        <a:cubicBezTo>
                          <a:pt x="372" y="120"/>
                          <a:pt x="372" y="120"/>
                          <a:pt x="372" y="120"/>
                        </a:cubicBezTo>
                        <a:cubicBezTo>
                          <a:pt x="446" y="120"/>
                          <a:pt x="508" y="70"/>
                          <a:pt x="531" y="0"/>
                        </a:cubicBezTo>
                        <a:cubicBezTo>
                          <a:pt x="459" y="78"/>
                          <a:pt x="300" y="63"/>
                          <a:pt x="30" y="61"/>
                        </a:cubicBezTo>
                        <a:cubicBezTo>
                          <a:pt x="30" y="61"/>
                          <a:pt x="18" y="104"/>
                          <a:pt x="0" y="120"/>
                        </a:cubicBezTo>
                        <a:close/>
                      </a:path>
                    </a:pathLst>
                  </a:custGeom>
                  <a:solidFill>
                    <a:srgbClr val="0707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7862C588-D7D3-9E40-7883-0EC72DF004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8" y="1371"/>
                    <a:ext cx="215" cy="529"/>
                  </a:xfrm>
                  <a:prstGeom prst="ellipse">
                    <a:avLst/>
                  </a:prstGeom>
                  <a:solidFill>
                    <a:srgbClr val="E267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80" name="Freeform 21">
                    <a:extLst>
                      <a:ext uri="{FF2B5EF4-FFF2-40B4-BE49-F238E27FC236}">
                        <a16:creationId xmlns:a16="http://schemas.microsoft.com/office/drawing/2014/main" id="{B97D0573-F651-03A3-3D83-747AABF9A1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31" y="1374"/>
                    <a:ext cx="694" cy="474"/>
                  </a:xfrm>
                  <a:custGeom>
                    <a:avLst/>
                    <a:gdLst>
                      <a:gd name="T0" fmla="*/ 0 w 439"/>
                      <a:gd name="T1" fmla="*/ 96 h 281"/>
                      <a:gd name="T2" fmla="*/ 81 w 439"/>
                      <a:gd name="T3" fmla="*/ 638 h 281"/>
                      <a:gd name="T4" fmla="*/ 150 w 439"/>
                      <a:gd name="T5" fmla="*/ 1095 h 281"/>
                      <a:gd name="T6" fmla="*/ 1699 w 439"/>
                      <a:gd name="T7" fmla="*/ 1132 h 281"/>
                      <a:gd name="T8" fmla="*/ 1720 w 439"/>
                      <a:gd name="T9" fmla="*/ 558 h 281"/>
                      <a:gd name="T10" fmla="*/ 1665 w 439"/>
                      <a:gd name="T11" fmla="*/ 86 h 281"/>
                      <a:gd name="T12" fmla="*/ 22 w 439"/>
                      <a:gd name="T13" fmla="*/ 86 h 2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39" h="281">
                        <a:moveTo>
                          <a:pt x="0" y="20"/>
                        </a:moveTo>
                        <a:cubicBezTo>
                          <a:pt x="13" y="57"/>
                          <a:pt x="17" y="93"/>
                          <a:pt x="20" y="133"/>
                        </a:cubicBezTo>
                        <a:cubicBezTo>
                          <a:pt x="23" y="162"/>
                          <a:pt x="14" y="206"/>
                          <a:pt x="38" y="228"/>
                        </a:cubicBezTo>
                        <a:cubicBezTo>
                          <a:pt x="56" y="244"/>
                          <a:pt x="419" y="281"/>
                          <a:pt x="430" y="236"/>
                        </a:cubicBezTo>
                        <a:cubicBezTo>
                          <a:pt x="438" y="209"/>
                          <a:pt x="439" y="146"/>
                          <a:pt x="435" y="116"/>
                        </a:cubicBezTo>
                        <a:cubicBezTo>
                          <a:pt x="432" y="95"/>
                          <a:pt x="439" y="33"/>
                          <a:pt x="421" y="18"/>
                        </a:cubicBezTo>
                        <a:cubicBezTo>
                          <a:pt x="408" y="6"/>
                          <a:pt x="25" y="0"/>
                          <a:pt x="6" y="18"/>
                        </a:cubicBezTo>
                      </a:path>
                    </a:pathLst>
                  </a:custGeom>
                  <a:solidFill>
                    <a:srgbClr val="F785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1" name="Freeform 22">
                    <a:extLst>
                      <a:ext uri="{FF2B5EF4-FFF2-40B4-BE49-F238E27FC236}">
                        <a16:creationId xmlns:a16="http://schemas.microsoft.com/office/drawing/2014/main" id="{DBBD3B2C-EB6C-B040-E789-B71D226FEB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06" y="1386"/>
                    <a:ext cx="766" cy="495"/>
                  </a:xfrm>
                  <a:custGeom>
                    <a:avLst/>
                    <a:gdLst>
                      <a:gd name="T0" fmla="*/ 22 w 485"/>
                      <a:gd name="T1" fmla="*/ 37 h 294"/>
                      <a:gd name="T2" fmla="*/ 68 w 485"/>
                      <a:gd name="T3" fmla="*/ 887 h 294"/>
                      <a:gd name="T4" fmla="*/ 145 w 485"/>
                      <a:gd name="T5" fmla="*/ 1153 h 294"/>
                      <a:gd name="T6" fmla="*/ 1829 w 485"/>
                      <a:gd name="T7" fmla="*/ 970 h 294"/>
                      <a:gd name="T8" fmla="*/ 1808 w 485"/>
                      <a:gd name="T9" fmla="*/ 273 h 294"/>
                      <a:gd name="T10" fmla="*/ 1421 w 485"/>
                      <a:gd name="T11" fmla="*/ 34 h 294"/>
                      <a:gd name="T12" fmla="*/ 22 w 485"/>
                      <a:gd name="T13" fmla="*/ 37 h 29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85" h="294">
                        <a:moveTo>
                          <a:pt x="6" y="8"/>
                        </a:moveTo>
                        <a:cubicBezTo>
                          <a:pt x="21" y="41"/>
                          <a:pt x="19" y="169"/>
                          <a:pt x="17" y="186"/>
                        </a:cubicBezTo>
                        <a:cubicBezTo>
                          <a:pt x="14" y="207"/>
                          <a:pt x="0" y="240"/>
                          <a:pt x="37" y="242"/>
                        </a:cubicBezTo>
                        <a:cubicBezTo>
                          <a:pt x="74" y="244"/>
                          <a:pt x="404" y="294"/>
                          <a:pt x="464" y="203"/>
                        </a:cubicBezTo>
                        <a:cubicBezTo>
                          <a:pt x="485" y="171"/>
                          <a:pt x="478" y="89"/>
                          <a:pt x="459" y="57"/>
                        </a:cubicBezTo>
                        <a:cubicBezTo>
                          <a:pt x="437" y="22"/>
                          <a:pt x="401" y="11"/>
                          <a:pt x="361" y="7"/>
                        </a:cubicBezTo>
                        <a:cubicBezTo>
                          <a:pt x="300" y="0"/>
                          <a:pt x="15" y="3"/>
                          <a:pt x="6" y="8"/>
                        </a:cubicBezTo>
                      </a:path>
                    </a:pathLst>
                  </a:custGeom>
                  <a:solidFill>
                    <a:srgbClr val="2323D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 dirty="0"/>
                  </a:p>
                </p:txBody>
              </p:sp>
              <p:sp>
                <p:nvSpPr>
                  <p:cNvPr id="182" name="Freeform 23">
                    <a:extLst>
                      <a:ext uri="{FF2B5EF4-FFF2-40B4-BE49-F238E27FC236}">
                        <a16:creationId xmlns:a16="http://schemas.microsoft.com/office/drawing/2014/main" id="{66C20B3F-5B40-C52F-B29F-6152980D76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65" y="1315"/>
                    <a:ext cx="57" cy="568"/>
                  </a:xfrm>
                  <a:custGeom>
                    <a:avLst/>
                    <a:gdLst>
                      <a:gd name="T0" fmla="*/ 40 w 36"/>
                      <a:gd name="T1" fmla="*/ 0 h 337"/>
                      <a:gd name="T2" fmla="*/ 116 w 36"/>
                      <a:gd name="T3" fmla="*/ 327 h 337"/>
                      <a:gd name="T4" fmla="*/ 124 w 36"/>
                      <a:gd name="T5" fmla="*/ 770 h 337"/>
                      <a:gd name="T6" fmla="*/ 82 w 36"/>
                      <a:gd name="T7" fmla="*/ 1215 h 337"/>
                      <a:gd name="T8" fmla="*/ 0 w 36"/>
                      <a:gd name="T9" fmla="*/ 1613 h 337"/>
                      <a:gd name="T10" fmla="*/ 108 w 36"/>
                      <a:gd name="T11" fmla="*/ 1284 h 337"/>
                      <a:gd name="T12" fmla="*/ 138 w 36"/>
                      <a:gd name="T13" fmla="*/ 861 h 337"/>
                      <a:gd name="T14" fmla="*/ 124 w 36"/>
                      <a:gd name="T15" fmla="*/ 469 h 337"/>
                      <a:gd name="T16" fmla="*/ 87 w 36"/>
                      <a:gd name="T17" fmla="*/ 236 h 337"/>
                      <a:gd name="T18" fmla="*/ 55 w 36"/>
                      <a:gd name="T19" fmla="*/ 78 h 33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36" h="337">
                        <a:moveTo>
                          <a:pt x="10" y="0"/>
                        </a:moveTo>
                        <a:cubicBezTo>
                          <a:pt x="23" y="13"/>
                          <a:pt x="28" y="49"/>
                          <a:pt x="29" y="68"/>
                        </a:cubicBezTo>
                        <a:cubicBezTo>
                          <a:pt x="32" y="98"/>
                          <a:pt x="34" y="131"/>
                          <a:pt x="31" y="161"/>
                        </a:cubicBezTo>
                        <a:cubicBezTo>
                          <a:pt x="28" y="192"/>
                          <a:pt x="27" y="224"/>
                          <a:pt x="21" y="254"/>
                        </a:cubicBezTo>
                        <a:cubicBezTo>
                          <a:pt x="16" y="280"/>
                          <a:pt x="10" y="312"/>
                          <a:pt x="0" y="337"/>
                        </a:cubicBezTo>
                        <a:cubicBezTo>
                          <a:pt x="16" y="321"/>
                          <a:pt x="22" y="289"/>
                          <a:pt x="27" y="268"/>
                        </a:cubicBezTo>
                        <a:cubicBezTo>
                          <a:pt x="34" y="239"/>
                          <a:pt x="34" y="209"/>
                          <a:pt x="35" y="180"/>
                        </a:cubicBezTo>
                        <a:cubicBezTo>
                          <a:pt x="36" y="153"/>
                          <a:pt x="35" y="125"/>
                          <a:pt x="31" y="98"/>
                        </a:cubicBezTo>
                        <a:cubicBezTo>
                          <a:pt x="29" y="82"/>
                          <a:pt x="26" y="65"/>
                          <a:pt x="22" y="49"/>
                        </a:cubicBezTo>
                        <a:cubicBezTo>
                          <a:pt x="20" y="38"/>
                          <a:pt x="14" y="26"/>
                          <a:pt x="14" y="16"/>
                        </a:cubicBezTo>
                      </a:path>
                    </a:pathLst>
                  </a:custGeom>
                  <a:solidFill>
                    <a:srgbClr val="F4AC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3" name="Freeform 24">
                    <a:extLst>
                      <a:ext uri="{FF2B5EF4-FFF2-40B4-BE49-F238E27FC236}">
                        <a16:creationId xmlns:a16="http://schemas.microsoft.com/office/drawing/2014/main" id="{4C919F0F-AB70-F28C-7B7F-8B69343A51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79" y="1302"/>
                    <a:ext cx="665" cy="52"/>
                  </a:xfrm>
                  <a:custGeom>
                    <a:avLst/>
                    <a:gdLst>
                      <a:gd name="T0" fmla="*/ 14 w 421"/>
                      <a:gd name="T1" fmla="*/ 42 h 31"/>
                      <a:gd name="T2" fmla="*/ 1447 w 421"/>
                      <a:gd name="T3" fmla="*/ 20 h 31"/>
                      <a:gd name="T4" fmla="*/ 1659 w 421"/>
                      <a:gd name="T5" fmla="*/ 146 h 31"/>
                      <a:gd name="T6" fmla="*/ 1428 w 421"/>
                      <a:gd name="T7" fmla="*/ 0 h 31"/>
                      <a:gd name="T8" fmla="*/ 0 w 421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21" h="31">
                        <a:moveTo>
                          <a:pt x="4" y="9"/>
                        </a:moveTo>
                        <a:cubicBezTo>
                          <a:pt x="187" y="7"/>
                          <a:pt x="367" y="4"/>
                          <a:pt x="367" y="4"/>
                        </a:cubicBezTo>
                        <a:cubicBezTo>
                          <a:pt x="367" y="4"/>
                          <a:pt x="407" y="11"/>
                          <a:pt x="421" y="31"/>
                        </a:cubicBezTo>
                        <a:cubicBezTo>
                          <a:pt x="421" y="31"/>
                          <a:pt x="392" y="0"/>
                          <a:pt x="36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4D4D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4" name="Freeform 25">
                    <a:extLst>
                      <a:ext uri="{FF2B5EF4-FFF2-40B4-BE49-F238E27FC236}">
                        <a16:creationId xmlns:a16="http://schemas.microsoft.com/office/drawing/2014/main" id="{0F090B24-7FEE-4808-1887-B3A5076689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66" y="1302"/>
                    <a:ext cx="719" cy="86"/>
                  </a:xfrm>
                  <a:custGeom>
                    <a:avLst/>
                    <a:gdLst>
                      <a:gd name="T0" fmla="*/ 1781 w 455"/>
                      <a:gd name="T1" fmla="*/ 0 h 51"/>
                      <a:gd name="T2" fmla="*/ 307 w 455"/>
                      <a:gd name="T3" fmla="*/ 0 h 51"/>
                      <a:gd name="T4" fmla="*/ 0 w 455"/>
                      <a:gd name="T5" fmla="*/ 245 h 51"/>
                      <a:gd name="T6" fmla="*/ 324 w 455"/>
                      <a:gd name="T7" fmla="*/ 62 h 51"/>
                      <a:gd name="T8" fmla="*/ 1795 w 455"/>
                      <a:gd name="T9" fmla="*/ 42 h 5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55" h="51">
                        <a:moveTo>
                          <a:pt x="451" y="0"/>
                        </a:moveTo>
                        <a:cubicBezTo>
                          <a:pt x="78" y="0"/>
                          <a:pt x="78" y="0"/>
                          <a:pt x="78" y="0"/>
                        </a:cubicBezTo>
                        <a:cubicBezTo>
                          <a:pt x="78" y="0"/>
                          <a:pt x="17" y="8"/>
                          <a:pt x="0" y="51"/>
                        </a:cubicBezTo>
                        <a:cubicBezTo>
                          <a:pt x="0" y="51"/>
                          <a:pt x="34" y="13"/>
                          <a:pt x="82" y="13"/>
                        </a:cubicBezTo>
                        <a:cubicBezTo>
                          <a:pt x="105" y="13"/>
                          <a:pt x="281" y="11"/>
                          <a:pt x="455" y="9"/>
                        </a:cubicBezTo>
                      </a:path>
                    </a:pathLst>
                  </a:cu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5" name="Freeform 26">
                    <a:extLst>
                      <a:ext uri="{FF2B5EF4-FFF2-40B4-BE49-F238E27FC236}">
                        <a16:creationId xmlns:a16="http://schemas.microsoft.com/office/drawing/2014/main" id="{6ABF2F0B-444F-3B4A-8919-DB28315F37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3" y="1524"/>
                    <a:ext cx="597" cy="59"/>
                  </a:xfrm>
                  <a:custGeom>
                    <a:avLst/>
                    <a:gdLst>
                      <a:gd name="T0" fmla="*/ 0 w 378"/>
                      <a:gd name="T1" fmla="*/ 13 h 35"/>
                      <a:gd name="T2" fmla="*/ 5 w 378"/>
                      <a:gd name="T3" fmla="*/ 167 h 35"/>
                      <a:gd name="T4" fmla="*/ 1489 w 378"/>
                      <a:gd name="T5" fmla="*/ 86 h 35"/>
                      <a:gd name="T6" fmla="*/ 0 w 378"/>
                      <a:gd name="T7" fmla="*/ 13 h 3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78" h="35">
                        <a:moveTo>
                          <a:pt x="0" y="3"/>
                        </a:moveTo>
                        <a:cubicBezTo>
                          <a:pt x="0" y="3"/>
                          <a:pt x="1" y="28"/>
                          <a:pt x="1" y="35"/>
                        </a:cubicBezTo>
                        <a:cubicBezTo>
                          <a:pt x="378" y="18"/>
                          <a:pt x="378" y="18"/>
                          <a:pt x="378" y="18"/>
                        </a:cubicBezTo>
                        <a:cubicBezTo>
                          <a:pt x="378" y="18"/>
                          <a:pt x="45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4545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6" name="Freeform 27">
                    <a:extLst>
                      <a:ext uri="{FF2B5EF4-FFF2-40B4-BE49-F238E27FC236}">
                        <a16:creationId xmlns:a16="http://schemas.microsoft.com/office/drawing/2014/main" id="{7C018C2A-532B-F85A-54B4-97873FFAE9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3" y="1541"/>
                    <a:ext cx="493" cy="20"/>
                  </a:xfrm>
                  <a:custGeom>
                    <a:avLst/>
                    <a:gdLst>
                      <a:gd name="T0" fmla="*/ 0 w 493"/>
                      <a:gd name="T1" fmla="*/ 0 h 20"/>
                      <a:gd name="T2" fmla="*/ 1 w 493"/>
                      <a:gd name="T3" fmla="*/ 20 h 20"/>
                      <a:gd name="T4" fmla="*/ 493 w 493"/>
                      <a:gd name="T5" fmla="*/ 14 h 20"/>
                      <a:gd name="T6" fmla="*/ 0 w 493"/>
                      <a:gd name="T7" fmla="*/ 0 h 2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93" h="20">
                        <a:moveTo>
                          <a:pt x="0" y="0"/>
                        </a:moveTo>
                        <a:lnTo>
                          <a:pt x="1" y="20"/>
                        </a:lnTo>
                        <a:lnTo>
                          <a:pt x="493" y="1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7" name="Freeform 28">
                    <a:extLst>
                      <a:ext uri="{FF2B5EF4-FFF2-40B4-BE49-F238E27FC236}">
                        <a16:creationId xmlns:a16="http://schemas.microsoft.com/office/drawing/2014/main" id="{AC26DEFD-B36B-9F4A-2C49-6357FA5569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6" y="1405"/>
                    <a:ext cx="1130" cy="27"/>
                  </a:xfrm>
                  <a:custGeom>
                    <a:avLst/>
                    <a:gdLst>
                      <a:gd name="T0" fmla="*/ 0 w 715"/>
                      <a:gd name="T1" fmla="*/ 0 h 16"/>
                      <a:gd name="T2" fmla="*/ 2823 w 715"/>
                      <a:gd name="T3" fmla="*/ 0 h 16"/>
                      <a:gd name="T4" fmla="*/ 0 w 715"/>
                      <a:gd name="T5" fmla="*/ 0 h 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15" h="16">
                        <a:moveTo>
                          <a:pt x="0" y="0"/>
                        </a:moveTo>
                        <a:cubicBezTo>
                          <a:pt x="715" y="0"/>
                          <a:pt x="715" y="0"/>
                          <a:pt x="715" y="0"/>
                        </a:cubicBezTo>
                        <a:cubicBezTo>
                          <a:pt x="715" y="0"/>
                          <a:pt x="123" y="16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8" name="Freeform 29">
                    <a:extLst>
                      <a:ext uri="{FF2B5EF4-FFF2-40B4-BE49-F238E27FC236}">
                        <a16:creationId xmlns:a16="http://schemas.microsoft.com/office/drawing/2014/main" id="{CEA964A9-D0B8-8B2B-414B-6AF0467F42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6" y="1732"/>
                    <a:ext cx="592" cy="33"/>
                  </a:xfrm>
                  <a:custGeom>
                    <a:avLst/>
                    <a:gdLst>
                      <a:gd name="T0" fmla="*/ 1470 w 375"/>
                      <a:gd name="T1" fmla="*/ 89 h 20"/>
                      <a:gd name="T2" fmla="*/ 0 w 375"/>
                      <a:gd name="T3" fmla="*/ 0 h 20"/>
                      <a:gd name="T4" fmla="*/ 1476 w 375"/>
                      <a:gd name="T5" fmla="*/ 0 h 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75" h="20">
                        <a:moveTo>
                          <a:pt x="374" y="20"/>
                        </a:moveTo>
                        <a:cubicBezTo>
                          <a:pt x="261" y="20"/>
                          <a:pt x="132" y="16"/>
                          <a:pt x="0" y="0"/>
                        </a:cubicBezTo>
                        <a:cubicBezTo>
                          <a:pt x="375" y="0"/>
                          <a:pt x="375" y="0"/>
                          <a:pt x="375" y="0"/>
                        </a:cubicBezTo>
                      </a:path>
                    </a:pathLst>
                  </a:custGeom>
                  <a:solidFill>
                    <a:srgbClr val="F49A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89" name="Freeform 30">
                    <a:extLst>
                      <a:ext uri="{FF2B5EF4-FFF2-40B4-BE49-F238E27FC236}">
                        <a16:creationId xmlns:a16="http://schemas.microsoft.com/office/drawing/2014/main" id="{2BFF69CA-B4AD-B856-D806-EF5D3600F1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17" y="1732"/>
                    <a:ext cx="578" cy="33"/>
                  </a:xfrm>
                  <a:custGeom>
                    <a:avLst/>
                    <a:gdLst>
                      <a:gd name="T0" fmla="*/ 5 w 366"/>
                      <a:gd name="T1" fmla="*/ 0 h 20"/>
                      <a:gd name="T2" fmla="*/ 1442 w 366"/>
                      <a:gd name="T3" fmla="*/ 0 h 20"/>
                      <a:gd name="T4" fmla="*/ 0 w 366"/>
                      <a:gd name="T5" fmla="*/ 89 h 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6" h="20">
                        <a:moveTo>
                          <a:pt x="1" y="0"/>
                        </a:moveTo>
                        <a:cubicBezTo>
                          <a:pt x="366" y="0"/>
                          <a:pt x="366" y="0"/>
                          <a:pt x="366" y="0"/>
                        </a:cubicBezTo>
                        <a:cubicBezTo>
                          <a:pt x="366" y="0"/>
                          <a:pt x="213" y="19"/>
                          <a:pt x="0" y="20"/>
                        </a:cubicBezTo>
                      </a:path>
                    </a:pathLst>
                  </a:custGeom>
                  <a:solidFill>
                    <a:srgbClr val="3131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0" name="Freeform 31">
                    <a:extLst>
                      <a:ext uri="{FF2B5EF4-FFF2-40B4-BE49-F238E27FC236}">
                        <a16:creationId xmlns:a16="http://schemas.microsoft.com/office/drawing/2014/main" id="{2087C69D-F338-DEE4-E049-A2BF53219F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770" cy="741"/>
                  </a:xfrm>
                  <a:custGeom>
                    <a:avLst/>
                    <a:gdLst>
                      <a:gd name="T0" fmla="*/ 1924 w 487"/>
                      <a:gd name="T1" fmla="*/ 2102 h 440"/>
                      <a:gd name="T2" fmla="*/ 666 w 487"/>
                      <a:gd name="T3" fmla="*/ 2102 h 440"/>
                      <a:gd name="T4" fmla="*/ 0 w 487"/>
                      <a:gd name="T5" fmla="*/ 1251 h 440"/>
                      <a:gd name="T6" fmla="*/ 0 w 487"/>
                      <a:gd name="T7" fmla="*/ 854 h 440"/>
                      <a:gd name="T8" fmla="*/ 666 w 487"/>
                      <a:gd name="T9" fmla="*/ 0 h 440"/>
                      <a:gd name="T10" fmla="*/ 177 w 487"/>
                      <a:gd name="T11" fmla="*/ 1061 h 440"/>
                      <a:gd name="T12" fmla="*/ 761 w 487"/>
                      <a:gd name="T13" fmla="*/ 1925 h 440"/>
                      <a:gd name="T14" fmla="*/ 1924 w 487"/>
                      <a:gd name="T15" fmla="*/ 2102 h 44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87" h="440">
                        <a:moveTo>
                          <a:pt x="487" y="440"/>
                        </a:move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168" y="0"/>
                          <a:pt x="38" y="12"/>
                          <a:pt x="45" y="222"/>
                        </a:cubicBezTo>
                        <a:cubicBezTo>
                          <a:pt x="50" y="366"/>
                          <a:pt x="90" y="403"/>
                          <a:pt x="192" y="403"/>
                        </a:cubicBezTo>
                        <a:cubicBezTo>
                          <a:pt x="293" y="403"/>
                          <a:pt x="487" y="440"/>
                          <a:pt x="487" y="440"/>
                        </a:cubicBezTo>
                        <a:close/>
                      </a:path>
                    </a:pathLst>
                  </a:custGeom>
                  <a:solidFill>
                    <a:srgbClr val="BF4B1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1" name="Freeform 32">
                    <a:extLst>
                      <a:ext uri="{FF2B5EF4-FFF2-40B4-BE49-F238E27FC236}">
                        <a16:creationId xmlns:a16="http://schemas.microsoft.com/office/drawing/2014/main" id="{874E5E56-81B3-4FB5-22C3-0F96853C97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97" y="1470"/>
                    <a:ext cx="105" cy="346"/>
                  </a:xfrm>
                  <a:custGeom>
                    <a:avLst/>
                    <a:gdLst>
                      <a:gd name="T0" fmla="*/ 266 w 66"/>
                      <a:gd name="T1" fmla="*/ 484 h 205"/>
                      <a:gd name="T2" fmla="*/ 142 w 66"/>
                      <a:gd name="T3" fmla="*/ 986 h 205"/>
                      <a:gd name="T4" fmla="*/ 0 w 66"/>
                      <a:gd name="T5" fmla="*/ 484 h 205"/>
                      <a:gd name="T6" fmla="*/ 124 w 66"/>
                      <a:gd name="T7" fmla="*/ 0 h 205"/>
                      <a:gd name="T8" fmla="*/ 266 w 66"/>
                      <a:gd name="T9" fmla="*/ 484 h 2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205">
                        <a:moveTo>
                          <a:pt x="66" y="101"/>
                        </a:moveTo>
                        <a:cubicBezTo>
                          <a:pt x="66" y="141"/>
                          <a:pt x="54" y="205"/>
                          <a:pt x="35" y="205"/>
                        </a:cubicBezTo>
                        <a:cubicBezTo>
                          <a:pt x="17" y="205"/>
                          <a:pt x="0" y="141"/>
                          <a:pt x="0" y="101"/>
                        </a:cubicBezTo>
                        <a:cubicBezTo>
                          <a:pt x="0" y="61"/>
                          <a:pt x="13" y="0"/>
                          <a:pt x="31" y="0"/>
                        </a:cubicBezTo>
                        <a:cubicBezTo>
                          <a:pt x="49" y="0"/>
                          <a:pt x="66" y="61"/>
                          <a:pt x="66" y="101"/>
                        </a:cubicBezTo>
                        <a:close/>
                      </a:path>
                    </a:pathLst>
                  </a:custGeom>
                  <a:solidFill>
                    <a:srgbClr val="BF4B1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2" name="Oval 191">
                    <a:extLst>
                      <a:ext uri="{FF2B5EF4-FFF2-40B4-BE49-F238E27FC236}">
                        <a16:creationId xmlns:a16="http://schemas.microsoft.com/office/drawing/2014/main" id="{4FC66DD7-78A1-94AF-9F7F-FA1BA819B6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99" y="1398"/>
                    <a:ext cx="26" cy="3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3" name="Oval 192">
                    <a:extLst>
                      <a:ext uri="{FF2B5EF4-FFF2-40B4-BE49-F238E27FC236}">
                        <a16:creationId xmlns:a16="http://schemas.microsoft.com/office/drawing/2014/main" id="{96A9A0B7-20A2-6893-7C1D-89B3312EB7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07" y="1452"/>
                    <a:ext cx="18" cy="2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4" name="Oval 193">
                    <a:extLst>
                      <a:ext uri="{FF2B5EF4-FFF2-40B4-BE49-F238E27FC236}">
                        <a16:creationId xmlns:a16="http://schemas.microsoft.com/office/drawing/2014/main" id="{712A3FFA-1B13-7A5D-DAB2-06FB436D07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15" y="1538"/>
                    <a:ext cx="27" cy="32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5" name="Freeform 36">
                    <a:extLst>
                      <a:ext uri="{FF2B5EF4-FFF2-40B4-BE49-F238E27FC236}">
                        <a16:creationId xmlns:a16="http://schemas.microsoft.com/office/drawing/2014/main" id="{09BD8169-4CAB-5EC9-D611-795B4A2533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4" y="1430"/>
                    <a:ext cx="67" cy="266"/>
                  </a:xfrm>
                  <a:custGeom>
                    <a:avLst/>
                    <a:gdLst>
                      <a:gd name="T0" fmla="*/ 73 w 42"/>
                      <a:gd name="T1" fmla="*/ 167 h 158"/>
                      <a:gd name="T2" fmla="*/ 97 w 42"/>
                      <a:gd name="T3" fmla="*/ 754 h 158"/>
                      <a:gd name="T4" fmla="*/ 136 w 42"/>
                      <a:gd name="T5" fmla="*/ 273 h 158"/>
                      <a:gd name="T6" fmla="*/ 0 w 42"/>
                      <a:gd name="T7" fmla="*/ 0 h 15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2" h="158">
                        <a:moveTo>
                          <a:pt x="18" y="35"/>
                        </a:moveTo>
                        <a:cubicBezTo>
                          <a:pt x="35" y="78"/>
                          <a:pt x="19" y="116"/>
                          <a:pt x="24" y="158"/>
                        </a:cubicBezTo>
                        <a:cubicBezTo>
                          <a:pt x="40" y="131"/>
                          <a:pt x="42" y="87"/>
                          <a:pt x="33" y="57"/>
                        </a:cubicBezTo>
                        <a:cubicBezTo>
                          <a:pt x="27" y="35"/>
                          <a:pt x="5" y="18"/>
                          <a:pt x="0" y="0"/>
                        </a:cubicBezTo>
                      </a:path>
                    </a:pathLst>
                  </a:cu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6" name="Oval 195">
                    <a:extLst>
                      <a:ext uri="{FF2B5EF4-FFF2-40B4-BE49-F238E27FC236}">
                        <a16:creationId xmlns:a16="http://schemas.microsoft.com/office/drawing/2014/main" id="{F6A683AD-C3DC-8CAD-96D1-652647326C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3" y="1408"/>
                    <a:ext cx="58" cy="78"/>
                  </a:xfrm>
                  <a:prstGeom prst="ellipse">
                    <a:avLst/>
                  </a:pr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DBA57407-F411-2B2B-60BF-3F93F748E3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0" y="1514"/>
                    <a:ext cx="28" cy="44"/>
                  </a:xfrm>
                  <a:prstGeom prst="ellipse">
                    <a:avLst/>
                  </a:pr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198" name="Freeform 39">
                    <a:extLst>
                      <a:ext uri="{FF2B5EF4-FFF2-40B4-BE49-F238E27FC236}">
                        <a16:creationId xmlns:a16="http://schemas.microsoft.com/office/drawing/2014/main" id="{56C34216-8BE0-4B22-A455-447C82890B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1725" cy="741"/>
                  </a:xfrm>
                  <a:custGeom>
                    <a:avLst/>
                    <a:gdLst>
                      <a:gd name="T0" fmla="*/ 4305 w 1092"/>
                      <a:gd name="T1" fmla="*/ 1251 h 440"/>
                      <a:gd name="T2" fmla="*/ 3643 w 1092"/>
                      <a:gd name="T3" fmla="*/ 2102 h 440"/>
                      <a:gd name="T4" fmla="*/ 662 w 1092"/>
                      <a:gd name="T5" fmla="*/ 2102 h 440"/>
                      <a:gd name="T6" fmla="*/ 0 w 1092"/>
                      <a:gd name="T7" fmla="*/ 1251 h 440"/>
                      <a:gd name="T8" fmla="*/ 0 w 1092"/>
                      <a:gd name="T9" fmla="*/ 854 h 440"/>
                      <a:gd name="T10" fmla="*/ 662 w 1092"/>
                      <a:gd name="T11" fmla="*/ 0 h 440"/>
                      <a:gd name="T12" fmla="*/ 3643 w 1092"/>
                      <a:gd name="T13" fmla="*/ 0 h 440"/>
                      <a:gd name="T14" fmla="*/ 4305 w 1092"/>
                      <a:gd name="T15" fmla="*/ 854 h 440"/>
                      <a:gd name="T16" fmla="*/ 4305 w 1092"/>
                      <a:gd name="T17" fmla="*/ 1251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92" h="440">
                        <a:moveTo>
                          <a:pt x="1092" y="262"/>
                        </a:moveTo>
                        <a:cubicBezTo>
                          <a:pt x="1092" y="361"/>
                          <a:pt x="1017" y="440"/>
                          <a:pt x="924" y="440"/>
                        </a:cubicBez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924" y="0"/>
                          <a:pt x="924" y="0"/>
                          <a:pt x="924" y="0"/>
                        </a:cubicBezTo>
                        <a:cubicBezTo>
                          <a:pt x="1017" y="0"/>
                          <a:pt x="1092" y="80"/>
                          <a:pt x="1092" y="179"/>
                        </a:cubicBezTo>
                        <a:lnTo>
                          <a:pt x="1092" y="262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rgbClr val="333333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199" name="Freeform 40">
                    <a:extLst>
                      <a:ext uri="{FF2B5EF4-FFF2-40B4-BE49-F238E27FC236}">
                        <a16:creationId xmlns:a16="http://schemas.microsoft.com/office/drawing/2014/main" id="{830F04E2-3F69-3B2E-5F04-EB16B61918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5" y="1261"/>
                    <a:ext cx="54" cy="144"/>
                  </a:xfrm>
                  <a:custGeom>
                    <a:avLst/>
                    <a:gdLst>
                      <a:gd name="T0" fmla="*/ 0 w 34"/>
                      <a:gd name="T1" fmla="*/ 0 h 85"/>
                      <a:gd name="T2" fmla="*/ 137 w 34"/>
                      <a:gd name="T3" fmla="*/ 413 h 8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4" h="85">
                        <a:moveTo>
                          <a:pt x="0" y="0"/>
                        </a:moveTo>
                        <a:cubicBezTo>
                          <a:pt x="0" y="0"/>
                          <a:pt x="29" y="38"/>
                          <a:pt x="34" y="85"/>
                        </a:cubicBezTo>
                      </a:path>
                    </a:pathLst>
                  </a:custGeom>
                  <a:noFill/>
                  <a:ln w="4763" cap="rnd">
                    <a:solidFill>
                      <a:srgbClr val="FCFCFC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00" name="Freeform 41">
                    <a:extLst>
                      <a:ext uri="{FF2B5EF4-FFF2-40B4-BE49-F238E27FC236}">
                        <a16:creationId xmlns:a16="http://schemas.microsoft.com/office/drawing/2014/main" id="{BC278F20-3683-2D63-3E3C-F9B6BE3852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8" y="1743"/>
                    <a:ext cx="60" cy="236"/>
                  </a:xfrm>
                  <a:custGeom>
                    <a:avLst/>
                    <a:gdLst>
                      <a:gd name="T0" fmla="*/ 150 w 38"/>
                      <a:gd name="T1" fmla="*/ 0 h 140"/>
                      <a:gd name="T2" fmla="*/ 0 w 38"/>
                      <a:gd name="T3" fmla="*/ 671 h 14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8" h="140">
                        <a:moveTo>
                          <a:pt x="38" y="0"/>
                        </a:moveTo>
                        <a:cubicBezTo>
                          <a:pt x="38" y="0"/>
                          <a:pt x="31" y="94"/>
                          <a:pt x="0" y="140"/>
                        </a:cubicBezTo>
                      </a:path>
                    </a:pathLst>
                  </a:custGeom>
                  <a:noFill/>
                  <a:ln w="4763" cap="rnd">
                    <a:solidFill>
                      <a:srgbClr val="FCFCFC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</p:grpSp>
          </p:grpSp>
          <p:grpSp>
            <p:nvGrpSpPr>
              <p:cNvPr id="226" name="Group 225">
                <a:extLst>
                  <a:ext uri="{FF2B5EF4-FFF2-40B4-BE49-F238E27FC236}">
                    <a16:creationId xmlns:a16="http://schemas.microsoft.com/office/drawing/2014/main" id="{CF0C2A08-7BA7-C5A2-1D49-14710A0ABF06}"/>
                  </a:ext>
                </a:extLst>
              </p:cNvPr>
              <p:cNvGrpSpPr/>
              <p:nvPr/>
            </p:nvGrpSpPr>
            <p:grpSpPr>
              <a:xfrm>
                <a:off x="2850080" y="799100"/>
                <a:ext cx="1271834" cy="1001748"/>
                <a:chOff x="1578854" y="907849"/>
                <a:chExt cx="1271834" cy="1001747"/>
              </a:xfrm>
            </p:grpSpPr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20526A4C-1845-B50A-11AE-C339FFBC3C18}"/>
                    </a:ext>
                  </a:extLst>
                </p:cNvPr>
                <p:cNvSpPr txBox="1"/>
                <p:nvPr/>
              </p:nvSpPr>
              <p:spPr>
                <a:xfrm>
                  <a:off x="1578854" y="1156250"/>
                  <a:ext cx="12718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Drug B</a:t>
                  </a:r>
                </a:p>
              </p:txBody>
            </p:sp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6E47E668-4DB1-122A-A104-964C2A7BA0F4}"/>
                    </a:ext>
                  </a:extLst>
                </p:cNvPr>
                <p:cNvGrpSpPr/>
                <p:nvPr/>
              </p:nvGrpSpPr>
              <p:grpSpPr>
                <a:xfrm>
                  <a:off x="1849614" y="1462878"/>
                  <a:ext cx="640225" cy="446718"/>
                  <a:chOff x="4219511" y="2497928"/>
                  <a:chExt cx="491094" cy="537519"/>
                </a:xfrm>
              </p:grpSpPr>
              <p:sp>
                <p:nvSpPr>
                  <p:cNvPr id="257" name="Parallelogram 256">
                    <a:extLst>
                      <a:ext uri="{FF2B5EF4-FFF2-40B4-BE49-F238E27FC236}">
                        <a16:creationId xmlns:a16="http://schemas.microsoft.com/office/drawing/2014/main" id="{9228D81F-DDE0-430C-CF43-6955F3B0A8D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19511" y="2837738"/>
                    <a:ext cx="475075" cy="197709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58" name="Parallelogram 257">
                    <a:extLst>
                      <a:ext uri="{FF2B5EF4-FFF2-40B4-BE49-F238E27FC236}">
                        <a16:creationId xmlns:a16="http://schemas.microsoft.com/office/drawing/2014/main" id="{D03CD7A5-B10D-E14C-441B-733F73F225C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23217" y="2751243"/>
                    <a:ext cx="478952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59" name="Parallelogram 258">
                    <a:extLst>
                      <a:ext uri="{FF2B5EF4-FFF2-40B4-BE49-F238E27FC236}">
                        <a16:creationId xmlns:a16="http://schemas.microsoft.com/office/drawing/2014/main" id="{F0DE186F-51E3-D90D-8E5A-AA7A7935BB9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0122" y="2660432"/>
                    <a:ext cx="475073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60" name="Parallelogram 259">
                    <a:extLst>
                      <a:ext uri="{FF2B5EF4-FFF2-40B4-BE49-F238E27FC236}">
                        <a16:creationId xmlns:a16="http://schemas.microsoft.com/office/drawing/2014/main" id="{24634638-CE64-6E82-6B06-A643A5DD90C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1653" y="2580031"/>
                    <a:ext cx="478952" cy="197706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  <p:sp>
                <p:nvSpPr>
                  <p:cNvPr id="261" name="Parallelogram 260">
                    <a:extLst>
                      <a:ext uri="{FF2B5EF4-FFF2-40B4-BE49-F238E27FC236}">
                        <a16:creationId xmlns:a16="http://schemas.microsoft.com/office/drawing/2014/main" id="{D04ED86E-3F06-E0D9-39A4-3C915B1DD2B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31653" y="2497928"/>
                    <a:ext cx="478952" cy="197708"/>
                  </a:xfrm>
                  <a:prstGeom prst="parallelogram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73"/>
                  </a:p>
                </p:txBody>
              </p:sp>
            </p:grpSp>
            <p:grpSp>
              <p:nvGrpSpPr>
                <p:cNvPr id="230" name="Group 229">
                  <a:extLst>
                    <a:ext uri="{FF2B5EF4-FFF2-40B4-BE49-F238E27FC236}">
                      <a16:creationId xmlns:a16="http://schemas.microsoft.com/office/drawing/2014/main" id="{E8D30B10-ED38-25AB-478D-5F70F7AA44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08934" y="907849"/>
                  <a:ext cx="580905" cy="207065"/>
                  <a:chOff x="675" y="1253"/>
                  <a:chExt cx="1725" cy="741"/>
                </a:xfrm>
              </p:grpSpPr>
              <p:sp>
                <p:nvSpPr>
                  <p:cNvPr id="231" name="Freeform 16">
                    <a:extLst>
                      <a:ext uri="{FF2B5EF4-FFF2-40B4-BE49-F238E27FC236}">
                        <a16:creationId xmlns:a16="http://schemas.microsoft.com/office/drawing/2014/main" id="{24EE6935-4C31-27C8-1D97-3A7F183280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1725" cy="741"/>
                  </a:xfrm>
                  <a:custGeom>
                    <a:avLst/>
                    <a:gdLst>
                      <a:gd name="T0" fmla="*/ 4305 w 1092"/>
                      <a:gd name="T1" fmla="*/ 1251 h 440"/>
                      <a:gd name="T2" fmla="*/ 3643 w 1092"/>
                      <a:gd name="T3" fmla="*/ 2102 h 440"/>
                      <a:gd name="T4" fmla="*/ 662 w 1092"/>
                      <a:gd name="T5" fmla="*/ 2102 h 440"/>
                      <a:gd name="T6" fmla="*/ 0 w 1092"/>
                      <a:gd name="T7" fmla="*/ 1251 h 440"/>
                      <a:gd name="T8" fmla="*/ 0 w 1092"/>
                      <a:gd name="T9" fmla="*/ 850 h 440"/>
                      <a:gd name="T10" fmla="*/ 662 w 1092"/>
                      <a:gd name="T11" fmla="*/ 0 h 440"/>
                      <a:gd name="T12" fmla="*/ 3643 w 1092"/>
                      <a:gd name="T13" fmla="*/ 0 h 440"/>
                      <a:gd name="T14" fmla="*/ 4305 w 1092"/>
                      <a:gd name="T15" fmla="*/ 850 h 440"/>
                      <a:gd name="T16" fmla="*/ 4305 w 1092"/>
                      <a:gd name="T17" fmla="*/ 1251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92" h="440">
                        <a:moveTo>
                          <a:pt x="1092" y="262"/>
                        </a:moveTo>
                        <a:cubicBezTo>
                          <a:pt x="1092" y="360"/>
                          <a:pt x="1017" y="440"/>
                          <a:pt x="924" y="440"/>
                        </a:cubicBez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0"/>
                          <a:pt x="0" y="262"/>
                        </a:cubicBezTo>
                        <a:cubicBezTo>
                          <a:pt x="0" y="178"/>
                          <a:pt x="0" y="178"/>
                          <a:pt x="0" y="178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924" y="0"/>
                          <a:pt x="924" y="0"/>
                          <a:pt x="924" y="0"/>
                        </a:cubicBezTo>
                        <a:cubicBezTo>
                          <a:pt x="1017" y="0"/>
                          <a:pt x="1092" y="80"/>
                          <a:pt x="1092" y="178"/>
                        </a:cubicBezTo>
                        <a:lnTo>
                          <a:pt x="1092" y="262"/>
                        </a:lnTo>
                        <a:close/>
                      </a:path>
                    </a:pathLst>
                  </a:custGeom>
                  <a:solidFill>
                    <a:srgbClr val="F9763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2" name="Freeform 17">
                    <a:extLst>
                      <a:ext uri="{FF2B5EF4-FFF2-40B4-BE49-F238E27FC236}">
                        <a16:creationId xmlns:a16="http://schemas.microsoft.com/office/drawing/2014/main" id="{D19B5A73-1BEA-6DA4-C251-DD6B98E382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7" y="1253"/>
                    <a:ext cx="853" cy="741"/>
                  </a:xfrm>
                  <a:custGeom>
                    <a:avLst/>
                    <a:gdLst>
                      <a:gd name="T0" fmla="*/ 0 w 540"/>
                      <a:gd name="T1" fmla="*/ 2102 h 440"/>
                      <a:gd name="T2" fmla="*/ 1467 w 540"/>
                      <a:gd name="T3" fmla="*/ 2102 h 440"/>
                      <a:gd name="T4" fmla="*/ 2128 w 540"/>
                      <a:gd name="T5" fmla="*/ 1251 h 440"/>
                      <a:gd name="T6" fmla="*/ 2128 w 540"/>
                      <a:gd name="T7" fmla="*/ 850 h 440"/>
                      <a:gd name="T8" fmla="*/ 1467 w 540"/>
                      <a:gd name="T9" fmla="*/ 0 h 440"/>
                      <a:gd name="T10" fmla="*/ 0 w 540"/>
                      <a:gd name="T11" fmla="*/ 0 h 440"/>
                      <a:gd name="T12" fmla="*/ 190 w 540"/>
                      <a:gd name="T13" fmla="*/ 1032 h 440"/>
                      <a:gd name="T14" fmla="*/ 0 w 540"/>
                      <a:gd name="T15" fmla="*/ 2102 h 44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540" h="440">
                        <a:moveTo>
                          <a:pt x="0" y="440"/>
                        </a:moveTo>
                        <a:cubicBezTo>
                          <a:pt x="372" y="440"/>
                          <a:pt x="372" y="440"/>
                          <a:pt x="372" y="440"/>
                        </a:cubicBezTo>
                        <a:cubicBezTo>
                          <a:pt x="465" y="440"/>
                          <a:pt x="540" y="360"/>
                          <a:pt x="540" y="262"/>
                        </a:cubicBezTo>
                        <a:cubicBezTo>
                          <a:pt x="540" y="178"/>
                          <a:pt x="540" y="178"/>
                          <a:pt x="540" y="178"/>
                        </a:cubicBezTo>
                        <a:cubicBezTo>
                          <a:pt x="540" y="80"/>
                          <a:pt x="465" y="0"/>
                          <a:pt x="37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48" y="28"/>
                          <a:pt x="48" y="216"/>
                        </a:cubicBezTo>
                        <a:cubicBezTo>
                          <a:pt x="48" y="404"/>
                          <a:pt x="0" y="440"/>
                          <a:pt x="0" y="440"/>
                        </a:cubicBezTo>
                        <a:close/>
                      </a:path>
                    </a:pathLst>
                  </a:custGeom>
                  <a:solidFill>
                    <a:srgbClr val="0909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3" name="Freeform 18">
                    <a:extLst>
                      <a:ext uri="{FF2B5EF4-FFF2-40B4-BE49-F238E27FC236}">
                        <a16:creationId xmlns:a16="http://schemas.microsoft.com/office/drawing/2014/main" id="{FD79A0F2-F259-BBF1-227F-7052575A10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920" cy="741"/>
                  </a:xfrm>
                  <a:custGeom>
                    <a:avLst/>
                    <a:gdLst>
                      <a:gd name="T0" fmla="*/ 2181 w 582"/>
                      <a:gd name="T1" fmla="*/ 2102 h 440"/>
                      <a:gd name="T2" fmla="*/ 659 w 582"/>
                      <a:gd name="T3" fmla="*/ 2102 h 440"/>
                      <a:gd name="T4" fmla="*/ 0 w 582"/>
                      <a:gd name="T5" fmla="*/ 1251 h 440"/>
                      <a:gd name="T6" fmla="*/ 0 w 582"/>
                      <a:gd name="T7" fmla="*/ 854 h 440"/>
                      <a:gd name="T8" fmla="*/ 659 w 582"/>
                      <a:gd name="T9" fmla="*/ 0 h 440"/>
                      <a:gd name="T10" fmla="*/ 362 w 582"/>
                      <a:gd name="T11" fmla="*/ 1053 h 440"/>
                      <a:gd name="T12" fmla="*/ 2053 w 582"/>
                      <a:gd name="T13" fmla="*/ 1815 h 440"/>
                      <a:gd name="T14" fmla="*/ 2298 w 582"/>
                      <a:gd name="T15" fmla="*/ 1821 h 440"/>
                      <a:gd name="T16" fmla="*/ 2181 w 582"/>
                      <a:gd name="T17" fmla="*/ 2102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582" h="440">
                        <a:moveTo>
                          <a:pt x="552" y="440"/>
                        </a:moveTo>
                        <a:cubicBezTo>
                          <a:pt x="167" y="440"/>
                          <a:pt x="167" y="440"/>
                          <a:pt x="167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7" y="0"/>
                        </a:cubicBezTo>
                        <a:cubicBezTo>
                          <a:pt x="167" y="0"/>
                          <a:pt x="88" y="4"/>
                          <a:pt x="92" y="220"/>
                        </a:cubicBezTo>
                        <a:cubicBezTo>
                          <a:pt x="94" y="365"/>
                          <a:pt x="212" y="380"/>
                          <a:pt x="520" y="380"/>
                        </a:cubicBezTo>
                        <a:cubicBezTo>
                          <a:pt x="541" y="380"/>
                          <a:pt x="562" y="381"/>
                          <a:pt x="582" y="381"/>
                        </a:cubicBezTo>
                        <a:cubicBezTo>
                          <a:pt x="582" y="381"/>
                          <a:pt x="564" y="436"/>
                          <a:pt x="552" y="440"/>
                        </a:cubicBezTo>
                        <a:close/>
                      </a:path>
                    </a:pathLst>
                  </a:custGeom>
                  <a:solidFill>
                    <a:srgbClr val="E267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4" name="Freeform 19">
                    <a:extLst>
                      <a:ext uri="{FF2B5EF4-FFF2-40B4-BE49-F238E27FC236}">
                        <a16:creationId xmlns:a16="http://schemas.microsoft.com/office/drawing/2014/main" id="{B0E20A34-F074-7256-2130-4C91063BB8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7" y="1792"/>
                    <a:ext cx="839" cy="202"/>
                  </a:xfrm>
                  <a:custGeom>
                    <a:avLst/>
                    <a:gdLst>
                      <a:gd name="T0" fmla="*/ 0 w 531"/>
                      <a:gd name="T1" fmla="*/ 572 h 120"/>
                      <a:gd name="T2" fmla="*/ 1468 w 531"/>
                      <a:gd name="T3" fmla="*/ 572 h 120"/>
                      <a:gd name="T4" fmla="*/ 2095 w 531"/>
                      <a:gd name="T5" fmla="*/ 0 h 120"/>
                      <a:gd name="T6" fmla="*/ 117 w 531"/>
                      <a:gd name="T7" fmla="*/ 291 h 120"/>
                      <a:gd name="T8" fmla="*/ 0 w 531"/>
                      <a:gd name="T9" fmla="*/ 572 h 1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31" h="120">
                        <a:moveTo>
                          <a:pt x="0" y="120"/>
                        </a:moveTo>
                        <a:cubicBezTo>
                          <a:pt x="372" y="120"/>
                          <a:pt x="372" y="120"/>
                          <a:pt x="372" y="120"/>
                        </a:cubicBezTo>
                        <a:cubicBezTo>
                          <a:pt x="446" y="120"/>
                          <a:pt x="508" y="70"/>
                          <a:pt x="531" y="0"/>
                        </a:cubicBezTo>
                        <a:cubicBezTo>
                          <a:pt x="459" y="78"/>
                          <a:pt x="300" y="63"/>
                          <a:pt x="30" y="61"/>
                        </a:cubicBezTo>
                        <a:cubicBezTo>
                          <a:pt x="30" y="61"/>
                          <a:pt x="18" y="104"/>
                          <a:pt x="0" y="120"/>
                        </a:cubicBezTo>
                        <a:close/>
                      </a:path>
                    </a:pathLst>
                  </a:custGeom>
                  <a:solidFill>
                    <a:srgbClr val="0707A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5" name="Oval 234">
                    <a:extLst>
                      <a:ext uri="{FF2B5EF4-FFF2-40B4-BE49-F238E27FC236}">
                        <a16:creationId xmlns:a16="http://schemas.microsoft.com/office/drawing/2014/main" id="{0460AC7D-B4B2-C54C-4762-C60DDB1CF4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8" y="1371"/>
                    <a:ext cx="215" cy="529"/>
                  </a:xfrm>
                  <a:prstGeom prst="ellipse">
                    <a:avLst/>
                  </a:prstGeom>
                  <a:solidFill>
                    <a:srgbClr val="E267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36" name="Freeform 21">
                    <a:extLst>
                      <a:ext uri="{FF2B5EF4-FFF2-40B4-BE49-F238E27FC236}">
                        <a16:creationId xmlns:a16="http://schemas.microsoft.com/office/drawing/2014/main" id="{92433422-8F08-F735-6F34-91CCF11D2B2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31" y="1374"/>
                    <a:ext cx="694" cy="474"/>
                  </a:xfrm>
                  <a:custGeom>
                    <a:avLst/>
                    <a:gdLst>
                      <a:gd name="T0" fmla="*/ 0 w 439"/>
                      <a:gd name="T1" fmla="*/ 96 h 281"/>
                      <a:gd name="T2" fmla="*/ 81 w 439"/>
                      <a:gd name="T3" fmla="*/ 638 h 281"/>
                      <a:gd name="T4" fmla="*/ 150 w 439"/>
                      <a:gd name="T5" fmla="*/ 1095 h 281"/>
                      <a:gd name="T6" fmla="*/ 1699 w 439"/>
                      <a:gd name="T7" fmla="*/ 1132 h 281"/>
                      <a:gd name="T8" fmla="*/ 1720 w 439"/>
                      <a:gd name="T9" fmla="*/ 558 h 281"/>
                      <a:gd name="T10" fmla="*/ 1665 w 439"/>
                      <a:gd name="T11" fmla="*/ 86 h 281"/>
                      <a:gd name="T12" fmla="*/ 22 w 439"/>
                      <a:gd name="T13" fmla="*/ 86 h 2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39" h="281">
                        <a:moveTo>
                          <a:pt x="0" y="20"/>
                        </a:moveTo>
                        <a:cubicBezTo>
                          <a:pt x="13" y="57"/>
                          <a:pt x="17" y="93"/>
                          <a:pt x="20" y="133"/>
                        </a:cubicBezTo>
                        <a:cubicBezTo>
                          <a:pt x="23" y="162"/>
                          <a:pt x="14" y="206"/>
                          <a:pt x="38" y="228"/>
                        </a:cubicBezTo>
                        <a:cubicBezTo>
                          <a:pt x="56" y="244"/>
                          <a:pt x="419" y="281"/>
                          <a:pt x="430" y="236"/>
                        </a:cubicBezTo>
                        <a:cubicBezTo>
                          <a:pt x="438" y="209"/>
                          <a:pt x="439" y="146"/>
                          <a:pt x="435" y="116"/>
                        </a:cubicBezTo>
                        <a:cubicBezTo>
                          <a:pt x="432" y="95"/>
                          <a:pt x="439" y="33"/>
                          <a:pt x="421" y="18"/>
                        </a:cubicBezTo>
                        <a:cubicBezTo>
                          <a:pt x="408" y="6"/>
                          <a:pt x="25" y="0"/>
                          <a:pt x="6" y="18"/>
                        </a:cubicBezTo>
                      </a:path>
                    </a:pathLst>
                  </a:custGeom>
                  <a:solidFill>
                    <a:srgbClr val="F7853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7" name="Freeform 22">
                    <a:extLst>
                      <a:ext uri="{FF2B5EF4-FFF2-40B4-BE49-F238E27FC236}">
                        <a16:creationId xmlns:a16="http://schemas.microsoft.com/office/drawing/2014/main" id="{F77382CE-0331-121A-1D51-43859AC693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06" y="1386"/>
                    <a:ext cx="766" cy="495"/>
                  </a:xfrm>
                  <a:custGeom>
                    <a:avLst/>
                    <a:gdLst>
                      <a:gd name="T0" fmla="*/ 22 w 485"/>
                      <a:gd name="T1" fmla="*/ 37 h 294"/>
                      <a:gd name="T2" fmla="*/ 68 w 485"/>
                      <a:gd name="T3" fmla="*/ 887 h 294"/>
                      <a:gd name="T4" fmla="*/ 145 w 485"/>
                      <a:gd name="T5" fmla="*/ 1153 h 294"/>
                      <a:gd name="T6" fmla="*/ 1829 w 485"/>
                      <a:gd name="T7" fmla="*/ 970 h 294"/>
                      <a:gd name="T8" fmla="*/ 1808 w 485"/>
                      <a:gd name="T9" fmla="*/ 273 h 294"/>
                      <a:gd name="T10" fmla="*/ 1421 w 485"/>
                      <a:gd name="T11" fmla="*/ 34 h 294"/>
                      <a:gd name="T12" fmla="*/ 22 w 485"/>
                      <a:gd name="T13" fmla="*/ 37 h 29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85" h="294">
                        <a:moveTo>
                          <a:pt x="6" y="8"/>
                        </a:moveTo>
                        <a:cubicBezTo>
                          <a:pt x="21" y="41"/>
                          <a:pt x="19" y="169"/>
                          <a:pt x="17" y="186"/>
                        </a:cubicBezTo>
                        <a:cubicBezTo>
                          <a:pt x="14" y="207"/>
                          <a:pt x="0" y="240"/>
                          <a:pt x="37" y="242"/>
                        </a:cubicBezTo>
                        <a:cubicBezTo>
                          <a:pt x="74" y="244"/>
                          <a:pt x="404" y="294"/>
                          <a:pt x="464" y="203"/>
                        </a:cubicBezTo>
                        <a:cubicBezTo>
                          <a:pt x="485" y="171"/>
                          <a:pt x="478" y="89"/>
                          <a:pt x="459" y="57"/>
                        </a:cubicBezTo>
                        <a:cubicBezTo>
                          <a:pt x="437" y="22"/>
                          <a:pt x="401" y="11"/>
                          <a:pt x="361" y="7"/>
                        </a:cubicBezTo>
                        <a:cubicBezTo>
                          <a:pt x="300" y="0"/>
                          <a:pt x="15" y="3"/>
                          <a:pt x="6" y="8"/>
                        </a:cubicBezTo>
                      </a:path>
                    </a:pathLst>
                  </a:custGeom>
                  <a:solidFill>
                    <a:srgbClr val="2323D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 dirty="0"/>
                  </a:p>
                </p:txBody>
              </p:sp>
              <p:sp>
                <p:nvSpPr>
                  <p:cNvPr id="238" name="Freeform 23">
                    <a:extLst>
                      <a:ext uri="{FF2B5EF4-FFF2-40B4-BE49-F238E27FC236}">
                        <a16:creationId xmlns:a16="http://schemas.microsoft.com/office/drawing/2014/main" id="{41CC6E1F-86AC-9C7D-31AC-68D1A84BDC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65" y="1315"/>
                    <a:ext cx="57" cy="568"/>
                  </a:xfrm>
                  <a:custGeom>
                    <a:avLst/>
                    <a:gdLst>
                      <a:gd name="T0" fmla="*/ 40 w 36"/>
                      <a:gd name="T1" fmla="*/ 0 h 337"/>
                      <a:gd name="T2" fmla="*/ 116 w 36"/>
                      <a:gd name="T3" fmla="*/ 327 h 337"/>
                      <a:gd name="T4" fmla="*/ 124 w 36"/>
                      <a:gd name="T5" fmla="*/ 770 h 337"/>
                      <a:gd name="T6" fmla="*/ 82 w 36"/>
                      <a:gd name="T7" fmla="*/ 1215 h 337"/>
                      <a:gd name="T8" fmla="*/ 0 w 36"/>
                      <a:gd name="T9" fmla="*/ 1613 h 337"/>
                      <a:gd name="T10" fmla="*/ 108 w 36"/>
                      <a:gd name="T11" fmla="*/ 1284 h 337"/>
                      <a:gd name="T12" fmla="*/ 138 w 36"/>
                      <a:gd name="T13" fmla="*/ 861 h 337"/>
                      <a:gd name="T14" fmla="*/ 124 w 36"/>
                      <a:gd name="T15" fmla="*/ 469 h 337"/>
                      <a:gd name="T16" fmla="*/ 87 w 36"/>
                      <a:gd name="T17" fmla="*/ 236 h 337"/>
                      <a:gd name="T18" fmla="*/ 55 w 36"/>
                      <a:gd name="T19" fmla="*/ 78 h 33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36" h="337">
                        <a:moveTo>
                          <a:pt x="10" y="0"/>
                        </a:moveTo>
                        <a:cubicBezTo>
                          <a:pt x="23" y="13"/>
                          <a:pt x="28" y="49"/>
                          <a:pt x="29" y="68"/>
                        </a:cubicBezTo>
                        <a:cubicBezTo>
                          <a:pt x="32" y="98"/>
                          <a:pt x="34" y="131"/>
                          <a:pt x="31" y="161"/>
                        </a:cubicBezTo>
                        <a:cubicBezTo>
                          <a:pt x="28" y="192"/>
                          <a:pt x="27" y="224"/>
                          <a:pt x="21" y="254"/>
                        </a:cubicBezTo>
                        <a:cubicBezTo>
                          <a:pt x="16" y="280"/>
                          <a:pt x="10" y="312"/>
                          <a:pt x="0" y="337"/>
                        </a:cubicBezTo>
                        <a:cubicBezTo>
                          <a:pt x="16" y="321"/>
                          <a:pt x="22" y="289"/>
                          <a:pt x="27" y="268"/>
                        </a:cubicBezTo>
                        <a:cubicBezTo>
                          <a:pt x="34" y="239"/>
                          <a:pt x="34" y="209"/>
                          <a:pt x="35" y="180"/>
                        </a:cubicBezTo>
                        <a:cubicBezTo>
                          <a:pt x="36" y="153"/>
                          <a:pt x="35" y="125"/>
                          <a:pt x="31" y="98"/>
                        </a:cubicBezTo>
                        <a:cubicBezTo>
                          <a:pt x="29" y="82"/>
                          <a:pt x="26" y="65"/>
                          <a:pt x="22" y="49"/>
                        </a:cubicBezTo>
                        <a:cubicBezTo>
                          <a:pt x="20" y="38"/>
                          <a:pt x="14" y="26"/>
                          <a:pt x="14" y="16"/>
                        </a:cubicBezTo>
                      </a:path>
                    </a:pathLst>
                  </a:custGeom>
                  <a:solidFill>
                    <a:srgbClr val="F4AC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39" name="Freeform 24">
                    <a:extLst>
                      <a:ext uri="{FF2B5EF4-FFF2-40B4-BE49-F238E27FC236}">
                        <a16:creationId xmlns:a16="http://schemas.microsoft.com/office/drawing/2014/main" id="{91E3E396-240D-2B6D-D006-43797AAC6F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79" y="1302"/>
                    <a:ext cx="665" cy="52"/>
                  </a:xfrm>
                  <a:custGeom>
                    <a:avLst/>
                    <a:gdLst>
                      <a:gd name="T0" fmla="*/ 14 w 421"/>
                      <a:gd name="T1" fmla="*/ 42 h 31"/>
                      <a:gd name="T2" fmla="*/ 1447 w 421"/>
                      <a:gd name="T3" fmla="*/ 20 h 31"/>
                      <a:gd name="T4" fmla="*/ 1659 w 421"/>
                      <a:gd name="T5" fmla="*/ 146 h 31"/>
                      <a:gd name="T6" fmla="*/ 1428 w 421"/>
                      <a:gd name="T7" fmla="*/ 0 h 31"/>
                      <a:gd name="T8" fmla="*/ 0 w 421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21" h="31">
                        <a:moveTo>
                          <a:pt x="4" y="9"/>
                        </a:moveTo>
                        <a:cubicBezTo>
                          <a:pt x="187" y="7"/>
                          <a:pt x="367" y="4"/>
                          <a:pt x="367" y="4"/>
                        </a:cubicBezTo>
                        <a:cubicBezTo>
                          <a:pt x="367" y="4"/>
                          <a:pt x="407" y="11"/>
                          <a:pt x="421" y="31"/>
                        </a:cubicBezTo>
                        <a:cubicBezTo>
                          <a:pt x="421" y="31"/>
                          <a:pt x="392" y="0"/>
                          <a:pt x="36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4D4D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0" name="Freeform 25">
                    <a:extLst>
                      <a:ext uri="{FF2B5EF4-FFF2-40B4-BE49-F238E27FC236}">
                        <a16:creationId xmlns:a16="http://schemas.microsoft.com/office/drawing/2014/main" id="{173B591C-5407-90A0-9F94-B6341BFB4C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66" y="1302"/>
                    <a:ext cx="719" cy="86"/>
                  </a:xfrm>
                  <a:custGeom>
                    <a:avLst/>
                    <a:gdLst>
                      <a:gd name="T0" fmla="*/ 1781 w 455"/>
                      <a:gd name="T1" fmla="*/ 0 h 51"/>
                      <a:gd name="T2" fmla="*/ 307 w 455"/>
                      <a:gd name="T3" fmla="*/ 0 h 51"/>
                      <a:gd name="T4" fmla="*/ 0 w 455"/>
                      <a:gd name="T5" fmla="*/ 245 h 51"/>
                      <a:gd name="T6" fmla="*/ 324 w 455"/>
                      <a:gd name="T7" fmla="*/ 62 h 51"/>
                      <a:gd name="T8" fmla="*/ 1795 w 455"/>
                      <a:gd name="T9" fmla="*/ 42 h 5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55" h="51">
                        <a:moveTo>
                          <a:pt x="451" y="0"/>
                        </a:moveTo>
                        <a:cubicBezTo>
                          <a:pt x="78" y="0"/>
                          <a:pt x="78" y="0"/>
                          <a:pt x="78" y="0"/>
                        </a:cubicBezTo>
                        <a:cubicBezTo>
                          <a:pt x="78" y="0"/>
                          <a:pt x="17" y="8"/>
                          <a:pt x="0" y="51"/>
                        </a:cubicBezTo>
                        <a:cubicBezTo>
                          <a:pt x="0" y="51"/>
                          <a:pt x="34" y="13"/>
                          <a:pt x="82" y="13"/>
                        </a:cubicBezTo>
                        <a:cubicBezTo>
                          <a:pt x="105" y="13"/>
                          <a:pt x="281" y="11"/>
                          <a:pt x="455" y="9"/>
                        </a:cubicBezTo>
                      </a:path>
                    </a:pathLst>
                  </a:cu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1" name="Freeform 26">
                    <a:extLst>
                      <a:ext uri="{FF2B5EF4-FFF2-40B4-BE49-F238E27FC236}">
                        <a16:creationId xmlns:a16="http://schemas.microsoft.com/office/drawing/2014/main" id="{D73F341C-7E18-6390-D888-AD35ACAB2E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3" y="1524"/>
                    <a:ext cx="597" cy="59"/>
                  </a:xfrm>
                  <a:custGeom>
                    <a:avLst/>
                    <a:gdLst>
                      <a:gd name="T0" fmla="*/ 0 w 378"/>
                      <a:gd name="T1" fmla="*/ 13 h 35"/>
                      <a:gd name="T2" fmla="*/ 5 w 378"/>
                      <a:gd name="T3" fmla="*/ 167 h 35"/>
                      <a:gd name="T4" fmla="*/ 1489 w 378"/>
                      <a:gd name="T5" fmla="*/ 86 h 35"/>
                      <a:gd name="T6" fmla="*/ 0 w 378"/>
                      <a:gd name="T7" fmla="*/ 13 h 3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78" h="35">
                        <a:moveTo>
                          <a:pt x="0" y="3"/>
                        </a:moveTo>
                        <a:cubicBezTo>
                          <a:pt x="0" y="3"/>
                          <a:pt x="1" y="28"/>
                          <a:pt x="1" y="35"/>
                        </a:cubicBezTo>
                        <a:cubicBezTo>
                          <a:pt x="378" y="18"/>
                          <a:pt x="378" y="18"/>
                          <a:pt x="378" y="18"/>
                        </a:cubicBezTo>
                        <a:cubicBezTo>
                          <a:pt x="378" y="18"/>
                          <a:pt x="45" y="0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4545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2" name="Freeform 27">
                    <a:extLst>
                      <a:ext uri="{FF2B5EF4-FFF2-40B4-BE49-F238E27FC236}">
                        <a16:creationId xmlns:a16="http://schemas.microsoft.com/office/drawing/2014/main" id="{96B46D0D-76FC-5F4E-14C4-C86BC5486A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3" y="1541"/>
                    <a:ext cx="493" cy="20"/>
                  </a:xfrm>
                  <a:custGeom>
                    <a:avLst/>
                    <a:gdLst>
                      <a:gd name="T0" fmla="*/ 0 w 493"/>
                      <a:gd name="T1" fmla="*/ 0 h 20"/>
                      <a:gd name="T2" fmla="*/ 1 w 493"/>
                      <a:gd name="T3" fmla="*/ 20 h 20"/>
                      <a:gd name="T4" fmla="*/ 493 w 493"/>
                      <a:gd name="T5" fmla="*/ 14 h 20"/>
                      <a:gd name="T6" fmla="*/ 0 w 493"/>
                      <a:gd name="T7" fmla="*/ 0 h 2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93" h="20">
                        <a:moveTo>
                          <a:pt x="0" y="0"/>
                        </a:moveTo>
                        <a:lnTo>
                          <a:pt x="1" y="20"/>
                        </a:lnTo>
                        <a:lnTo>
                          <a:pt x="493" y="1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3" name="Freeform 28">
                    <a:extLst>
                      <a:ext uri="{FF2B5EF4-FFF2-40B4-BE49-F238E27FC236}">
                        <a16:creationId xmlns:a16="http://schemas.microsoft.com/office/drawing/2014/main" id="{C53C00C7-88D9-2688-E611-99161B5B39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6" y="1405"/>
                    <a:ext cx="1130" cy="27"/>
                  </a:xfrm>
                  <a:custGeom>
                    <a:avLst/>
                    <a:gdLst>
                      <a:gd name="T0" fmla="*/ 0 w 715"/>
                      <a:gd name="T1" fmla="*/ 0 h 16"/>
                      <a:gd name="T2" fmla="*/ 2823 w 715"/>
                      <a:gd name="T3" fmla="*/ 0 h 16"/>
                      <a:gd name="T4" fmla="*/ 0 w 715"/>
                      <a:gd name="T5" fmla="*/ 0 h 1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15" h="16">
                        <a:moveTo>
                          <a:pt x="0" y="0"/>
                        </a:moveTo>
                        <a:cubicBezTo>
                          <a:pt x="715" y="0"/>
                          <a:pt x="715" y="0"/>
                          <a:pt x="715" y="0"/>
                        </a:cubicBezTo>
                        <a:cubicBezTo>
                          <a:pt x="715" y="0"/>
                          <a:pt x="123" y="16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4" name="Freeform 29">
                    <a:extLst>
                      <a:ext uri="{FF2B5EF4-FFF2-40B4-BE49-F238E27FC236}">
                        <a16:creationId xmlns:a16="http://schemas.microsoft.com/office/drawing/2014/main" id="{5D82B3DB-2078-0B04-248C-17000E738D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6" y="1732"/>
                    <a:ext cx="592" cy="33"/>
                  </a:xfrm>
                  <a:custGeom>
                    <a:avLst/>
                    <a:gdLst>
                      <a:gd name="T0" fmla="*/ 1470 w 375"/>
                      <a:gd name="T1" fmla="*/ 89 h 20"/>
                      <a:gd name="T2" fmla="*/ 0 w 375"/>
                      <a:gd name="T3" fmla="*/ 0 h 20"/>
                      <a:gd name="T4" fmla="*/ 1476 w 375"/>
                      <a:gd name="T5" fmla="*/ 0 h 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75" h="20">
                        <a:moveTo>
                          <a:pt x="374" y="20"/>
                        </a:moveTo>
                        <a:cubicBezTo>
                          <a:pt x="261" y="20"/>
                          <a:pt x="132" y="16"/>
                          <a:pt x="0" y="0"/>
                        </a:cubicBezTo>
                        <a:cubicBezTo>
                          <a:pt x="375" y="0"/>
                          <a:pt x="375" y="0"/>
                          <a:pt x="375" y="0"/>
                        </a:cubicBezTo>
                      </a:path>
                    </a:pathLst>
                  </a:custGeom>
                  <a:solidFill>
                    <a:srgbClr val="F49A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5" name="Freeform 30">
                    <a:extLst>
                      <a:ext uri="{FF2B5EF4-FFF2-40B4-BE49-F238E27FC236}">
                        <a16:creationId xmlns:a16="http://schemas.microsoft.com/office/drawing/2014/main" id="{C43F3392-A029-8ACC-64A8-234D23B87A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17" y="1732"/>
                    <a:ext cx="578" cy="33"/>
                  </a:xfrm>
                  <a:custGeom>
                    <a:avLst/>
                    <a:gdLst>
                      <a:gd name="T0" fmla="*/ 5 w 366"/>
                      <a:gd name="T1" fmla="*/ 0 h 20"/>
                      <a:gd name="T2" fmla="*/ 1442 w 366"/>
                      <a:gd name="T3" fmla="*/ 0 h 20"/>
                      <a:gd name="T4" fmla="*/ 0 w 366"/>
                      <a:gd name="T5" fmla="*/ 89 h 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6" h="20">
                        <a:moveTo>
                          <a:pt x="1" y="0"/>
                        </a:moveTo>
                        <a:cubicBezTo>
                          <a:pt x="366" y="0"/>
                          <a:pt x="366" y="0"/>
                          <a:pt x="366" y="0"/>
                        </a:cubicBezTo>
                        <a:cubicBezTo>
                          <a:pt x="366" y="0"/>
                          <a:pt x="213" y="19"/>
                          <a:pt x="0" y="20"/>
                        </a:cubicBezTo>
                      </a:path>
                    </a:pathLst>
                  </a:custGeom>
                  <a:solidFill>
                    <a:srgbClr val="3131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6" name="Freeform 31">
                    <a:extLst>
                      <a:ext uri="{FF2B5EF4-FFF2-40B4-BE49-F238E27FC236}">
                        <a16:creationId xmlns:a16="http://schemas.microsoft.com/office/drawing/2014/main" id="{107D8914-33CD-5602-2AFD-16C7C99DBB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770" cy="741"/>
                  </a:xfrm>
                  <a:custGeom>
                    <a:avLst/>
                    <a:gdLst>
                      <a:gd name="T0" fmla="*/ 1924 w 487"/>
                      <a:gd name="T1" fmla="*/ 2102 h 440"/>
                      <a:gd name="T2" fmla="*/ 666 w 487"/>
                      <a:gd name="T3" fmla="*/ 2102 h 440"/>
                      <a:gd name="T4" fmla="*/ 0 w 487"/>
                      <a:gd name="T5" fmla="*/ 1251 h 440"/>
                      <a:gd name="T6" fmla="*/ 0 w 487"/>
                      <a:gd name="T7" fmla="*/ 854 h 440"/>
                      <a:gd name="T8" fmla="*/ 666 w 487"/>
                      <a:gd name="T9" fmla="*/ 0 h 440"/>
                      <a:gd name="T10" fmla="*/ 177 w 487"/>
                      <a:gd name="T11" fmla="*/ 1061 h 440"/>
                      <a:gd name="T12" fmla="*/ 761 w 487"/>
                      <a:gd name="T13" fmla="*/ 1925 h 440"/>
                      <a:gd name="T14" fmla="*/ 1924 w 487"/>
                      <a:gd name="T15" fmla="*/ 2102 h 44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87" h="440">
                        <a:moveTo>
                          <a:pt x="487" y="440"/>
                        </a:move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168" y="0"/>
                          <a:pt x="38" y="12"/>
                          <a:pt x="45" y="222"/>
                        </a:cubicBezTo>
                        <a:cubicBezTo>
                          <a:pt x="50" y="366"/>
                          <a:pt x="90" y="403"/>
                          <a:pt x="192" y="403"/>
                        </a:cubicBezTo>
                        <a:cubicBezTo>
                          <a:pt x="293" y="403"/>
                          <a:pt x="487" y="440"/>
                          <a:pt x="487" y="440"/>
                        </a:cubicBezTo>
                        <a:close/>
                      </a:path>
                    </a:pathLst>
                  </a:custGeom>
                  <a:solidFill>
                    <a:srgbClr val="BF4B1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7" name="Freeform 32">
                    <a:extLst>
                      <a:ext uri="{FF2B5EF4-FFF2-40B4-BE49-F238E27FC236}">
                        <a16:creationId xmlns:a16="http://schemas.microsoft.com/office/drawing/2014/main" id="{BD571E4F-AA62-C16B-E0C1-8F70B11781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97" y="1470"/>
                    <a:ext cx="105" cy="346"/>
                  </a:xfrm>
                  <a:custGeom>
                    <a:avLst/>
                    <a:gdLst>
                      <a:gd name="T0" fmla="*/ 266 w 66"/>
                      <a:gd name="T1" fmla="*/ 484 h 205"/>
                      <a:gd name="T2" fmla="*/ 142 w 66"/>
                      <a:gd name="T3" fmla="*/ 986 h 205"/>
                      <a:gd name="T4" fmla="*/ 0 w 66"/>
                      <a:gd name="T5" fmla="*/ 484 h 205"/>
                      <a:gd name="T6" fmla="*/ 124 w 66"/>
                      <a:gd name="T7" fmla="*/ 0 h 205"/>
                      <a:gd name="T8" fmla="*/ 266 w 66"/>
                      <a:gd name="T9" fmla="*/ 484 h 2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205">
                        <a:moveTo>
                          <a:pt x="66" y="101"/>
                        </a:moveTo>
                        <a:cubicBezTo>
                          <a:pt x="66" y="141"/>
                          <a:pt x="54" y="205"/>
                          <a:pt x="35" y="205"/>
                        </a:cubicBezTo>
                        <a:cubicBezTo>
                          <a:pt x="17" y="205"/>
                          <a:pt x="0" y="141"/>
                          <a:pt x="0" y="101"/>
                        </a:cubicBezTo>
                        <a:cubicBezTo>
                          <a:pt x="0" y="61"/>
                          <a:pt x="13" y="0"/>
                          <a:pt x="31" y="0"/>
                        </a:cubicBezTo>
                        <a:cubicBezTo>
                          <a:pt x="49" y="0"/>
                          <a:pt x="66" y="61"/>
                          <a:pt x="66" y="101"/>
                        </a:cubicBezTo>
                        <a:close/>
                      </a:path>
                    </a:pathLst>
                  </a:custGeom>
                  <a:solidFill>
                    <a:srgbClr val="BF4B1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48" name="Oval 247">
                    <a:extLst>
                      <a:ext uri="{FF2B5EF4-FFF2-40B4-BE49-F238E27FC236}">
                        <a16:creationId xmlns:a16="http://schemas.microsoft.com/office/drawing/2014/main" id="{22F16A3C-05C6-BE4F-9D03-FC703C5642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99" y="1398"/>
                    <a:ext cx="26" cy="3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49" name="Oval 248">
                    <a:extLst>
                      <a:ext uri="{FF2B5EF4-FFF2-40B4-BE49-F238E27FC236}">
                        <a16:creationId xmlns:a16="http://schemas.microsoft.com/office/drawing/2014/main" id="{5FE6589F-4C9E-2862-976B-01EA960EB9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07" y="1452"/>
                    <a:ext cx="18" cy="2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50" name="Oval 249">
                    <a:extLst>
                      <a:ext uri="{FF2B5EF4-FFF2-40B4-BE49-F238E27FC236}">
                        <a16:creationId xmlns:a16="http://schemas.microsoft.com/office/drawing/2014/main" id="{99CD4A46-7585-D3E0-1A09-03DF0DAF66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15" y="1538"/>
                    <a:ext cx="27" cy="32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51" name="Freeform 36">
                    <a:extLst>
                      <a:ext uri="{FF2B5EF4-FFF2-40B4-BE49-F238E27FC236}">
                        <a16:creationId xmlns:a16="http://schemas.microsoft.com/office/drawing/2014/main" id="{51C7EEA9-868D-C8F8-5CB9-00E9C6F27E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4" y="1430"/>
                    <a:ext cx="67" cy="266"/>
                  </a:xfrm>
                  <a:custGeom>
                    <a:avLst/>
                    <a:gdLst>
                      <a:gd name="T0" fmla="*/ 73 w 42"/>
                      <a:gd name="T1" fmla="*/ 167 h 158"/>
                      <a:gd name="T2" fmla="*/ 97 w 42"/>
                      <a:gd name="T3" fmla="*/ 754 h 158"/>
                      <a:gd name="T4" fmla="*/ 136 w 42"/>
                      <a:gd name="T5" fmla="*/ 273 h 158"/>
                      <a:gd name="T6" fmla="*/ 0 w 42"/>
                      <a:gd name="T7" fmla="*/ 0 h 15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2" h="158">
                        <a:moveTo>
                          <a:pt x="18" y="35"/>
                        </a:moveTo>
                        <a:cubicBezTo>
                          <a:pt x="35" y="78"/>
                          <a:pt x="19" y="116"/>
                          <a:pt x="24" y="158"/>
                        </a:cubicBezTo>
                        <a:cubicBezTo>
                          <a:pt x="40" y="131"/>
                          <a:pt x="42" y="87"/>
                          <a:pt x="33" y="57"/>
                        </a:cubicBezTo>
                        <a:cubicBezTo>
                          <a:pt x="27" y="35"/>
                          <a:pt x="5" y="18"/>
                          <a:pt x="0" y="0"/>
                        </a:cubicBezTo>
                      </a:path>
                    </a:pathLst>
                  </a:cu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52" name="Oval 251">
                    <a:extLst>
                      <a:ext uri="{FF2B5EF4-FFF2-40B4-BE49-F238E27FC236}">
                        <a16:creationId xmlns:a16="http://schemas.microsoft.com/office/drawing/2014/main" id="{CB447A9D-710A-A070-6BFA-603623C309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3" y="1408"/>
                    <a:ext cx="58" cy="78"/>
                  </a:xfrm>
                  <a:prstGeom prst="ellipse">
                    <a:avLst/>
                  </a:pr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53" name="Oval 252">
                    <a:extLst>
                      <a:ext uri="{FF2B5EF4-FFF2-40B4-BE49-F238E27FC236}">
                        <a16:creationId xmlns:a16="http://schemas.microsoft.com/office/drawing/2014/main" id="{78C59C08-9F0C-23EA-244C-A318DD619C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0" y="1514"/>
                    <a:ext cx="28" cy="44"/>
                  </a:xfrm>
                  <a:prstGeom prst="ellipse">
                    <a:avLst/>
                  </a:prstGeom>
                  <a:solidFill>
                    <a:srgbClr val="F4B03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fr-FR" altLang="fr-FR" sz="1373"/>
                  </a:p>
                </p:txBody>
              </p:sp>
              <p:sp>
                <p:nvSpPr>
                  <p:cNvPr id="254" name="Freeform 39">
                    <a:extLst>
                      <a:ext uri="{FF2B5EF4-FFF2-40B4-BE49-F238E27FC236}">
                        <a16:creationId xmlns:a16="http://schemas.microsoft.com/office/drawing/2014/main" id="{51451160-2810-187A-EE6B-AAEFFAF9C1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5" y="1253"/>
                    <a:ext cx="1725" cy="741"/>
                  </a:xfrm>
                  <a:custGeom>
                    <a:avLst/>
                    <a:gdLst>
                      <a:gd name="T0" fmla="*/ 4305 w 1092"/>
                      <a:gd name="T1" fmla="*/ 1251 h 440"/>
                      <a:gd name="T2" fmla="*/ 3643 w 1092"/>
                      <a:gd name="T3" fmla="*/ 2102 h 440"/>
                      <a:gd name="T4" fmla="*/ 662 w 1092"/>
                      <a:gd name="T5" fmla="*/ 2102 h 440"/>
                      <a:gd name="T6" fmla="*/ 0 w 1092"/>
                      <a:gd name="T7" fmla="*/ 1251 h 440"/>
                      <a:gd name="T8" fmla="*/ 0 w 1092"/>
                      <a:gd name="T9" fmla="*/ 854 h 440"/>
                      <a:gd name="T10" fmla="*/ 662 w 1092"/>
                      <a:gd name="T11" fmla="*/ 0 h 440"/>
                      <a:gd name="T12" fmla="*/ 3643 w 1092"/>
                      <a:gd name="T13" fmla="*/ 0 h 440"/>
                      <a:gd name="T14" fmla="*/ 4305 w 1092"/>
                      <a:gd name="T15" fmla="*/ 854 h 440"/>
                      <a:gd name="T16" fmla="*/ 4305 w 1092"/>
                      <a:gd name="T17" fmla="*/ 1251 h 44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92" h="440">
                        <a:moveTo>
                          <a:pt x="1092" y="262"/>
                        </a:moveTo>
                        <a:cubicBezTo>
                          <a:pt x="1092" y="361"/>
                          <a:pt x="1017" y="440"/>
                          <a:pt x="924" y="440"/>
                        </a:cubicBezTo>
                        <a:cubicBezTo>
                          <a:pt x="168" y="440"/>
                          <a:pt x="168" y="440"/>
                          <a:pt x="168" y="440"/>
                        </a:cubicBezTo>
                        <a:cubicBezTo>
                          <a:pt x="75" y="440"/>
                          <a:pt x="0" y="361"/>
                          <a:pt x="0" y="262"/>
                        </a:cubicBezTo>
                        <a:cubicBezTo>
                          <a:pt x="0" y="179"/>
                          <a:pt x="0" y="179"/>
                          <a:pt x="0" y="179"/>
                        </a:cubicBezTo>
                        <a:cubicBezTo>
                          <a:pt x="0" y="80"/>
                          <a:pt x="75" y="0"/>
                          <a:pt x="168" y="0"/>
                        </a:cubicBezTo>
                        <a:cubicBezTo>
                          <a:pt x="924" y="0"/>
                          <a:pt x="924" y="0"/>
                          <a:pt x="924" y="0"/>
                        </a:cubicBezTo>
                        <a:cubicBezTo>
                          <a:pt x="1017" y="0"/>
                          <a:pt x="1092" y="80"/>
                          <a:pt x="1092" y="179"/>
                        </a:cubicBezTo>
                        <a:lnTo>
                          <a:pt x="1092" y="262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rgbClr val="333333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55" name="Freeform 40">
                    <a:extLst>
                      <a:ext uri="{FF2B5EF4-FFF2-40B4-BE49-F238E27FC236}">
                        <a16:creationId xmlns:a16="http://schemas.microsoft.com/office/drawing/2014/main" id="{6170C3EA-7F75-516B-58B5-090A4722F5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5" y="1261"/>
                    <a:ext cx="54" cy="144"/>
                  </a:xfrm>
                  <a:custGeom>
                    <a:avLst/>
                    <a:gdLst>
                      <a:gd name="T0" fmla="*/ 0 w 34"/>
                      <a:gd name="T1" fmla="*/ 0 h 85"/>
                      <a:gd name="T2" fmla="*/ 137 w 34"/>
                      <a:gd name="T3" fmla="*/ 413 h 85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4" h="85">
                        <a:moveTo>
                          <a:pt x="0" y="0"/>
                        </a:moveTo>
                        <a:cubicBezTo>
                          <a:pt x="0" y="0"/>
                          <a:pt x="29" y="38"/>
                          <a:pt x="34" y="85"/>
                        </a:cubicBezTo>
                      </a:path>
                    </a:pathLst>
                  </a:custGeom>
                  <a:noFill/>
                  <a:ln w="4763" cap="rnd">
                    <a:solidFill>
                      <a:srgbClr val="FCFCFC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  <p:sp>
                <p:nvSpPr>
                  <p:cNvPr id="256" name="Freeform 41">
                    <a:extLst>
                      <a:ext uri="{FF2B5EF4-FFF2-40B4-BE49-F238E27FC236}">
                        <a16:creationId xmlns:a16="http://schemas.microsoft.com/office/drawing/2014/main" id="{0EB44835-F341-CA1D-FC58-4BD890D21A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8" y="1743"/>
                    <a:ext cx="60" cy="236"/>
                  </a:xfrm>
                  <a:custGeom>
                    <a:avLst/>
                    <a:gdLst>
                      <a:gd name="T0" fmla="*/ 150 w 38"/>
                      <a:gd name="T1" fmla="*/ 0 h 140"/>
                      <a:gd name="T2" fmla="*/ 0 w 38"/>
                      <a:gd name="T3" fmla="*/ 671 h 140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38" h="140">
                        <a:moveTo>
                          <a:pt x="38" y="0"/>
                        </a:moveTo>
                        <a:cubicBezTo>
                          <a:pt x="38" y="0"/>
                          <a:pt x="31" y="94"/>
                          <a:pt x="0" y="140"/>
                        </a:cubicBezTo>
                      </a:path>
                    </a:pathLst>
                  </a:custGeom>
                  <a:noFill/>
                  <a:ln w="4763" cap="rnd">
                    <a:solidFill>
                      <a:srgbClr val="FCFCFC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defPPr>
                      <a:defRPr lang="fr-FR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 sz="1373"/>
                  </a:p>
                </p:txBody>
              </p:sp>
            </p:grpSp>
          </p:grp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051E1D7-82B9-24D5-9E5F-7C03FBC68BCE}"/>
                  </a:ext>
                </a:extLst>
              </p:cNvPr>
              <p:cNvSpPr txBox="1"/>
              <p:nvPr/>
            </p:nvSpPr>
            <p:spPr>
              <a:xfrm>
                <a:off x="540090" y="4165049"/>
                <a:ext cx="35917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Elementwise similarity</a:t>
                </a:r>
                <a:br>
                  <a:rPr lang="en-US" sz="1200" dirty="0"/>
                </a:br>
                <a:r>
                  <a:rPr lang="en-US" sz="1200" i="1" dirty="0"/>
                  <a:t>(cosine alignment + absolute difference)</a:t>
                </a:r>
                <a:endParaRPr lang="en-US" sz="1200" dirty="0"/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9F9D4671-48A0-E72E-0D17-F98D94FF0AC8}"/>
                  </a:ext>
                </a:extLst>
              </p:cNvPr>
              <p:cNvGrpSpPr/>
              <p:nvPr/>
            </p:nvGrpSpPr>
            <p:grpSpPr>
              <a:xfrm>
                <a:off x="1139279" y="4699826"/>
                <a:ext cx="2332191" cy="465899"/>
                <a:chOff x="1529803" y="4041823"/>
                <a:chExt cx="1579661" cy="210363"/>
              </a:xfrm>
            </p:grpSpPr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098C849F-8487-ABE7-8736-4588A47D1446}"/>
                    </a:ext>
                  </a:extLst>
                </p:cNvPr>
                <p:cNvSpPr/>
                <p:nvPr/>
              </p:nvSpPr>
              <p:spPr>
                <a:xfrm>
                  <a:off x="1717816" y="4041823"/>
                  <a:ext cx="1179355" cy="210363"/>
                </a:xfrm>
                <a:prstGeom prst="roundRect">
                  <a:avLst/>
                </a:prstGeom>
                <a:solidFill>
                  <a:srgbClr val="C7C7C7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50EDBD01-6089-7310-1811-70406074650F}"/>
                    </a:ext>
                  </a:extLst>
                </p:cNvPr>
                <p:cNvSpPr txBox="1"/>
                <p:nvPr/>
              </p:nvSpPr>
              <p:spPr>
                <a:xfrm>
                  <a:off x="1529803" y="4082092"/>
                  <a:ext cx="1579661" cy="1250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Pair feature vector</a:t>
                  </a:r>
                </a:p>
              </p:txBody>
            </p:sp>
          </p:grp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C663445C-F1B5-ADC3-6FE2-81941B898DC9}"/>
                  </a:ext>
                </a:extLst>
              </p:cNvPr>
              <p:cNvGrpSpPr/>
              <p:nvPr/>
            </p:nvGrpSpPr>
            <p:grpSpPr>
              <a:xfrm>
                <a:off x="453482" y="3360017"/>
                <a:ext cx="1537860" cy="283346"/>
                <a:chOff x="1143001" y="3645769"/>
                <a:chExt cx="1537860" cy="283346"/>
              </a:xfrm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C9FFABE7-3220-374A-F3AE-30B719DC67E2}"/>
                    </a:ext>
                  </a:extLst>
                </p:cNvPr>
                <p:cNvSpPr/>
                <p:nvPr/>
              </p:nvSpPr>
              <p:spPr>
                <a:xfrm>
                  <a:off x="1143001" y="3645769"/>
                  <a:ext cx="1528070" cy="277000"/>
                </a:xfrm>
                <a:prstGeom prst="roundRect">
                  <a:avLst/>
                </a:prstGeom>
                <a:solidFill>
                  <a:srgbClr val="8DC5C1"/>
                </a:solidFill>
                <a:ln>
                  <a:solidFill>
                    <a:srgbClr val="8DC5C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7BDB5164-ED91-DDA4-9778-374AE3921A50}"/>
                    </a:ext>
                  </a:extLst>
                </p:cNvPr>
                <p:cNvSpPr txBox="1"/>
                <p:nvPr/>
              </p:nvSpPr>
              <p:spPr>
                <a:xfrm>
                  <a:off x="1152790" y="3652116"/>
                  <a:ext cx="15280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Drug A feature set</a:t>
                  </a:r>
                </a:p>
              </p:txBody>
            </p:sp>
          </p:grp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17E5A7F8-1391-4059-1647-A4EEB580C968}"/>
                  </a:ext>
                </a:extLst>
              </p:cNvPr>
              <p:cNvGrpSpPr/>
              <p:nvPr/>
            </p:nvGrpSpPr>
            <p:grpSpPr>
              <a:xfrm>
                <a:off x="540090" y="2581756"/>
                <a:ext cx="1451252" cy="277405"/>
                <a:chOff x="3983018" y="5863838"/>
                <a:chExt cx="1451252" cy="277405"/>
              </a:xfrm>
            </p:grpSpPr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4BC60E7B-AC23-ECCB-FC0B-9AC9AB2B2B2F}"/>
                    </a:ext>
                  </a:extLst>
                </p:cNvPr>
                <p:cNvSpPr/>
                <p:nvPr/>
              </p:nvSpPr>
              <p:spPr>
                <a:xfrm>
                  <a:off x="3983018" y="5871126"/>
                  <a:ext cx="1415560" cy="270117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5F2B8A83-C2B5-8AAA-BFD4-2A12FCE9AF30}"/>
                    </a:ext>
                  </a:extLst>
                </p:cNvPr>
                <p:cNvSpPr txBox="1"/>
                <p:nvPr/>
              </p:nvSpPr>
              <p:spPr>
                <a:xfrm>
                  <a:off x="4038287" y="5863838"/>
                  <a:ext cx="13959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S-space (128D)</a:t>
                  </a:r>
                </a:p>
              </p:txBody>
            </p:sp>
          </p:grpSp>
          <p:sp>
            <p:nvSpPr>
              <p:cNvPr id="262" name="Arrow: Right 261">
                <a:extLst>
                  <a:ext uri="{FF2B5EF4-FFF2-40B4-BE49-F238E27FC236}">
                    <a16:creationId xmlns:a16="http://schemas.microsoft.com/office/drawing/2014/main" id="{C7DCF9C5-E564-626F-C350-FA5B7BB6E1BD}"/>
                  </a:ext>
                </a:extLst>
              </p:cNvPr>
              <p:cNvSpPr/>
              <p:nvPr/>
            </p:nvSpPr>
            <p:spPr>
              <a:xfrm rot="5400000">
                <a:off x="1136953" y="3078324"/>
                <a:ext cx="279902" cy="97092"/>
              </a:xfrm>
              <a:prstGeom prst="rightArrow">
                <a:avLst/>
              </a:prstGeom>
              <a:solidFill>
                <a:srgbClr val="1F77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/>
              </a:p>
            </p:txBody>
          </p:sp>
          <p:sp>
            <p:nvSpPr>
              <p:cNvPr id="263" name="Arrow: Right 262">
                <a:extLst>
                  <a:ext uri="{FF2B5EF4-FFF2-40B4-BE49-F238E27FC236}">
                    <a16:creationId xmlns:a16="http://schemas.microsoft.com/office/drawing/2014/main" id="{4ED81CBB-0A75-92DE-E4A7-2C15739C4CD9}"/>
                  </a:ext>
                </a:extLst>
              </p:cNvPr>
              <p:cNvSpPr/>
              <p:nvPr/>
            </p:nvSpPr>
            <p:spPr>
              <a:xfrm rot="3830900">
                <a:off x="1345442" y="3899165"/>
                <a:ext cx="279902" cy="97092"/>
              </a:xfrm>
              <a:prstGeom prst="rightArrow">
                <a:avLst/>
              </a:prstGeom>
              <a:solidFill>
                <a:srgbClr val="1F77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/>
              </a:p>
            </p:txBody>
          </p:sp>
          <p:grpSp>
            <p:nvGrpSpPr>
              <p:cNvPr id="219" name="Group 218">
                <a:extLst>
                  <a:ext uri="{FF2B5EF4-FFF2-40B4-BE49-F238E27FC236}">
                    <a16:creationId xmlns:a16="http://schemas.microsoft.com/office/drawing/2014/main" id="{A3A9BA00-5337-F037-9C62-2376EAC39994}"/>
                  </a:ext>
                </a:extLst>
              </p:cNvPr>
              <p:cNvGrpSpPr/>
              <p:nvPr/>
            </p:nvGrpSpPr>
            <p:grpSpPr>
              <a:xfrm>
                <a:off x="2685755" y="2567678"/>
                <a:ext cx="1462027" cy="276999"/>
                <a:chOff x="3983018" y="5864244"/>
                <a:chExt cx="1462027" cy="276999"/>
              </a:xfrm>
            </p:grpSpPr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B10B3CCF-C32D-C7B2-6B10-C9E265131446}"/>
                    </a:ext>
                  </a:extLst>
                </p:cNvPr>
                <p:cNvSpPr/>
                <p:nvPr/>
              </p:nvSpPr>
              <p:spPr>
                <a:xfrm>
                  <a:off x="3983018" y="5871126"/>
                  <a:ext cx="1415560" cy="270117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38136508-9ADB-FB5F-881B-0B937FF2B909}"/>
                    </a:ext>
                  </a:extLst>
                </p:cNvPr>
                <p:cNvSpPr txBox="1"/>
                <p:nvPr/>
              </p:nvSpPr>
              <p:spPr>
                <a:xfrm>
                  <a:off x="4049062" y="5864244"/>
                  <a:ext cx="13959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S-space (128D)</a:t>
                  </a:r>
                </a:p>
              </p:txBody>
            </p:sp>
          </p:grp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4D7DFC8E-258A-8498-CFCC-38AF543B9CD5}"/>
                  </a:ext>
                </a:extLst>
              </p:cNvPr>
              <p:cNvGrpSpPr/>
              <p:nvPr/>
            </p:nvGrpSpPr>
            <p:grpSpPr>
              <a:xfrm>
                <a:off x="2685755" y="3354721"/>
                <a:ext cx="1547650" cy="278258"/>
                <a:chOff x="1143001" y="3645769"/>
                <a:chExt cx="1547650" cy="278258"/>
              </a:xfrm>
            </p:grpSpPr>
            <p:sp>
              <p:nvSpPr>
                <p:cNvPr id="269" name="Rectangle: Rounded Corners 268">
                  <a:extLst>
                    <a:ext uri="{FF2B5EF4-FFF2-40B4-BE49-F238E27FC236}">
                      <a16:creationId xmlns:a16="http://schemas.microsoft.com/office/drawing/2014/main" id="{009A985E-EE70-90A4-F5C9-65AF42686A0D}"/>
                    </a:ext>
                  </a:extLst>
                </p:cNvPr>
                <p:cNvSpPr/>
                <p:nvPr/>
              </p:nvSpPr>
              <p:spPr>
                <a:xfrm>
                  <a:off x="1143001" y="3645769"/>
                  <a:ext cx="1528070" cy="277000"/>
                </a:xfrm>
                <a:prstGeom prst="roundRect">
                  <a:avLst/>
                </a:prstGeom>
                <a:solidFill>
                  <a:srgbClr val="8DC5C1"/>
                </a:solidFill>
                <a:ln>
                  <a:solidFill>
                    <a:srgbClr val="8DC5C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112F842B-775C-A221-AD82-94946915AACC}"/>
                    </a:ext>
                  </a:extLst>
                </p:cNvPr>
                <p:cNvSpPr txBox="1"/>
                <p:nvPr/>
              </p:nvSpPr>
              <p:spPr>
                <a:xfrm>
                  <a:off x="1162580" y="3647028"/>
                  <a:ext cx="15280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Drug B feature set</a:t>
                  </a:r>
                </a:p>
              </p:txBody>
            </p:sp>
          </p:grpSp>
          <p:sp>
            <p:nvSpPr>
              <p:cNvPr id="271" name="Arrow: Right 270">
                <a:extLst>
                  <a:ext uri="{FF2B5EF4-FFF2-40B4-BE49-F238E27FC236}">
                    <a16:creationId xmlns:a16="http://schemas.microsoft.com/office/drawing/2014/main" id="{913C53C8-E0E3-0E5A-2B84-5BA46EEC02F9}"/>
                  </a:ext>
                </a:extLst>
              </p:cNvPr>
              <p:cNvSpPr/>
              <p:nvPr/>
            </p:nvSpPr>
            <p:spPr>
              <a:xfrm rot="5400000">
                <a:off x="3255071" y="3066510"/>
                <a:ext cx="279902" cy="97092"/>
              </a:xfrm>
              <a:prstGeom prst="rightArrow">
                <a:avLst/>
              </a:prstGeom>
              <a:solidFill>
                <a:srgbClr val="1F77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/>
              </a:p>
            </p:txBody>
          </p:sp>
          <p:sp>
            <p:nvSpPr>
              <p:cNvPr id="272" name="Arrow: Right 271">
                <a:extLst>
                  <a:ext uri="{FF2B5EF4-FFF2-40B4-BE49-F238E27FC236}">
                    <a16:creationId xmlns:a16="http://schemas.microsoft.com/office/drawing/2014/main" id="{D54C503D-D8E4-FB2D-2973-78E035FBBD19}"/>
                  </a:ext>
                </a:extLst>
              </p:cNvPr>
              <p:cNvSpPr/>
              <p:nvPr/>
            </p:nvSpPr>
            <p:spPr>
              <a:xfrm rot="7209799">
                <a:off x="2966409" y="3893191"/>
                <a:ext cx="279902" cy="97092"/>
              </a:xfrm>
              <a:prstGeom prst="rightArrow">
                <a:avLst/>
              </a:prstGeom>
              <a:solidFill>
                <a:srgbClr val="1F77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73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E7179B-01ED-DAF5-7D45-5C78767F1B21}"/>
                  </a:ext>
                </a:extLst>
              </p:cNvPr>
              <p:cNvSpPr txBox="1"/>
              <p:nvPr/>
            </p:nvSpPr>
            <p:spPr>
              <a:xfrm>
                <a:off x="4489445" y="1840862"/>
                <a:ext cx="21812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Level E. </a:t>
                </a:r>
                <a:r>
                  <a:rPr lang="en-US" sz="1000" dirty="0"/>
                  <a:t>Clinics</a:t>
                </a:r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E7A80023-A051-E692-3F01-C678C3DB0A38}"/>
                  </a:ext>
                </a:extLst>
              </p:cNvPr>
              <p:cNvGrpSpPr/>
              <p:nvPr/>
            </p:nvGrpSpPr>
            <p:grpSpPr>
              <a:xfrm>
                <a:off x="3617889" y="1110868"/>
                <a:ext cx="3052785" cy="853105"/>
                <a:chOff x="3617889" y="1110868"/>
                <a:chExt cx="3052785" cy="853105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5A06BAA-40EF-03F8-E1D6-B833C24D9717}"/>
                    </a:ext>
                  </a:extLst>
                </p:cNvPr>
                <p:cNvSpPr txBox="1"/>
                <p:nvPr/>
              </p:nvSpPr>
              <p:spPr>
                <a:xfrm>
                  <a:off x="4489449" y="1110868"/>
                  <a:ext cx="218122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Level A. </a:t>
                  </a:r>
                  <a:r>
                    <a:rPr lang="en-US" sz="1000" dirty="0"/>
                    <a:t>Chemistry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1A33941-C7A1-63FC-F81D-D2CF8DACB9E3}"/>
                    </a:ext>
                  </a:extLst>
                </p:cNvPr>
                <p:cNvSpPr txBox="1"/>
                <p:nvPr/>
              </p:nvSpPr>
              <p:spPr>
                <a:xfrm>
                  <a:off x="4489449" y="1482990"/>
                  <a:ext cx="218122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Level C. </a:t>
                  </a:r>
                  <a:r>
                    <a:rPr lang="en-US" sz="1000" dirty="0"/>
                    <a:t>Networks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B2B5E47-FB6F-FC88-0244-97EFC1FB81A7}"/>
                    </a:ext>
                  </a:extLst>
                </p:cNvPr>
                <p:cNvSpPr txBox="1"/>
                <p:nvPr/>
              </p:nvSpPr>
              <p:spPr>
                <a:xfrm>
                  <a:off x="4489447" y="1664865"/>
                  <a:ext cx="218122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Level D. </a:t>
                  </a:r>
                  <a:r>
                    <a:rPr lang="en-US" sz="1000" dirty="0"/>
                    <a:t>Cells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7807953-5344-FE24-1F58-70F6EA319300}"/>
                    </a:ext>
                  </a:extLst>
                </p:cNvPr>
                <p:cNvSpPr txBox="1"/>
                <p:nvPr/>
              </p:nvSpPr>
              <p:spPr>
                <a:xfrm>
                  <a:off x="4489445" y="1292742"/>
                  <a:ext cx="218122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Level B. </a:t>
                  </a:r>
                  <a:r>
                    <a:rPr lang="en-US" sz="1000" dirty="0"/>
                    <a:t>Targets</a:t>
                  </a:r>
                </a:p>
              </p:txBody>
            </p: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3FF5737C-4D88-A576-9F8B-F1F94F1C9D16}"/>
                    </a:ext>
                  </a:extLst>
                </p:cNvPr>
                <p:cNvCxnSpPr>
                  <a:cxnSpLocks/>
                  <a:endCxn id="10" idx="1"/>
                </p:cNvCxnSpPr>
                <p:nvPr/>
              </p:nvCxnSpPr>
              <p:spPr>
                <a:xfrm>
                  <a:off x="3617891" y="1606100"/>
                  <a:ext cx="871558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Connector: Elbow 60">
                  <a:extLst>
                    <a:ext uri="{FF2B5EF4-FFF2-40B4-BE49-F238E27FC236}">
                      <a16:creationId xmlns:a16="http://schemas.microsoft.com/office/drawing/2014/main" id="{41CA4D77-F2CA-DA69-4E94-662FDD2857AA}"/>
                    </a:ext>
                  </a:extLst>
                </p:cNvPr>
                <p:cNvCxnSpPr>
                  <a:endCxn id="9" idx="1"/>
                </p:cNvCxnSpPr>
                <p:nvPr/>
              </p:nvCxnSpPr>
              <p:spPr>
                <a:xfrm flipV="1">
                  <a:off x="3617891" y="1233979"/>
                  <a:ext cx="871558" cy="204296"/>
                </a:xfrm>
                <a:prstGeom prst="bentConnector3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Connector: Elbow 62">
                  <a:extLst>
                    <a:ext uri="{FF2B5EF4-FFF2-40B4-BE49-F238E27FC236}">
                      <a16:creationId xmlns:a16="http://schemas.microsoft.com/office/drawing/2014/main" id="{4BED3EFF-FEC1-3684-3C3C-493D5DA57C0D}"/>
                    </a:ext>
                  </a:extLst>
                </p:cNvPr>
                <p:cNvCxnSpPr>
                  <a:endCxn id="13" idx="1"/>
                </p:cNvCxnSpPr>
                <p:nvPr/>
              </p:nvCxnSpPr>
              <p:spPr>
                <a:xfrm flipV="1">
                  <a:off x="3617891" y="1415853"/>
                  <a:ext cx="871554" cy="123110"/>
                </a:xfrm>
                <a:prstGeom prst="bentConnector3">
                  <a:avLst>
                    <a:gd name="adj1" fmla="val 57650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Connector: Elbow 65">
                  <a:extLst>
                    <a:ext uri="{FF2B5EF4-FFF2-40B4-BE49-F238E27FC236}">
                      <a16:creationId xmlns:a16="http://schemas.microsoft.com/office/drawing/2014/main" id="{D0884492-4E60-14B2-B7BB-51E6E4955C4A}"/>
                    </a:ext>
                  </a:extLst>
                </p:cNvPr>
                <p:cNvCxnSpPr>
                  <a:endCxn id="11" idx="1"/>
                </p:cNvCxnSpPr>
                <p:nvPr/>
              </p:nvCxnSpPr>
              <p:spPr>
                <a:xfrm>
                  <a:off x="3617891" y="1692275"/>
                  <a:ext cx="871556" cy="95701"/>
                </a:xfrm>
                <a:prstGeom prst="bentConnector3">
                  <a:avLst>
                    <a:gd name="adj1" fmla="val 57286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Connector: Elbow 67">
                  <a:extLst>
                    <a:ext uri="{FF2B5EF4-FFF2-40B4-BE49-F238E27FC236}">
                      <a16:creationId xmlns:a16="http://schemas.microsoft.com/office/drawing/2014/main" id="{D1DD0565-569B-0DB9-54BE-2157FECCE5CB}"/>
                    </a:ext>
                  </a:extLst>
                </p:cNvPr>
                <p:cNvCxnSpPr>
                  <a:cxnSpLocks/>
                  <a:endCxn id="12" idx="1"/>
                </p:cNvCxnSpPr>
                <p:nvPr/>
              </p:nvCxnSpPr>
              <p:spPr>
                <a:xfrm>
                  <a:off x="3617889" y="1767750"/>
                  <a:ext cx="871556" cy="196223"/>
                </a:xfrm>
                <a:prstGeom prst="bentConnector3">
                  <a:avLst>
                    <a:gd name="adj1" fmla="val 49636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8C4A0841-1169-AA78-544A-54B5162A7134}"/>
                  </a:ext>
                </a:extLst>
              </p:cNvPr>
              <p:cNvGrpSpPr/>
              <p:nvPr/>
            </p:nvGrpSpPr>
            <p:grpSpPr>
              <a:xfrm>
                <a:off x="540090" y="2245815"/>
                <a:ext cx="1415560" cy="277405"/>
                <a:chOff x="3983018" y="5871126"/>
                <a:chExt cx="1415560" cy="277405"/>
              </a:xfrm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552DE7E6-E167-EAEC-9CCF-FEC9B2EC15F2}"/>
                    </a:ext>
                  </a:extLst>
                </p:cNvPr>
                <p:cNvSpPr/>
                <p:nvPr/>
              </p:nvSpPr>
              <p:spPr>
                <a:xfrm>
                  <a:off x="3983018" y="5871126"/>
                  <a:ext cx="1415560" cy="270117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E4D61AB-D5AB-9128-2734-AE5553B9DC72}"/>
                    </a:ext>
                  </a:extLst>
                </p:cNvPr>
                <p:cNvSpPr txBox="1"/>
                <p:nvPr/>
              </p:nvSpPr>
              <p:spPr>
                <a:xfrm>
                  <a:off x="3992138" y="5871532"/>
                  <a:ext cx="13959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CC (3200D)</a:t>
                  </a:r>
                </a:p>
              </p:txBody>
            </p: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9E7836A7-8195-26C6-7A64-7C4C7A7C2119}"/>
                  </a:ext>
                </a:extLst>
              </p:cNvPr>
              <p:cNvGrpSpPr/>
              <p:nvPr/>
            </p:nvGrpSpPr>
            <p:grpSpPr>
              <a:xfrm>
                <a:off x="2685753" y="2221417"/>
                <a:ext cx="1415560" cy="276999"/>
                <a:chOff x="3983018" y="5867684"/>
                <a:chExt cx="1415560" cy="276999"/>
              </a:xfrm>
            </p:grpSpPr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2D07D7FE-82A2-6315-DBB5-31E55D8231E9}"/>
                    </a:ext>
                  </a:extLst>
                </p:cNvPr>
                <p:cNvSpPr/>
                <p:nvPr/>
              </p:nvSpPr>
              <p:spPr>
                <a:xfrm>
                  <a:off x="3983018" y="5871126"/>
                  <a:ext cx="1415560" cy="270117"/>
                </a:xfrm>
                <a:prstGeom prst="roundRect">
                  <a:avLst/>
                </a:prstGeom>
                <a:solidFill>
                  <a:srgbClr val="7BAFD4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1DF9BFE-F937-3135-9C41-9A73E20BB107}"/>
                    </a:ext>
                  </a:extLst>
                </p:cNvPr>
                <p:cNvSpPr txBox="1"/>
                <p:nvPr/>
              </p:nvSpPr>
              <p:spPr>
                <a:xfrm>
                  <a:off x="3992806" y="5867684"/>
                  <a:ext cx="139598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CC (3200D)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71490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1495</TotalTime>
  <Words>368</Words>
  <Application>Microsoft Office PowerPoint</Application>
  <PresentationFormat>Widescreen</PresentationFormat>
  <Paragraphs>53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84</cp:revision>
  <dcterms:created xsi:type="dcterms:W3CDTF">2025-11-03T17:29:49Z</dcterms:created>
  <dcterms:modified xsi:type="dcterms:W3CDTF">2026-04-18T19:17:16Z</dcterms:modified>
</cp:coreProperties>
</file>