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7C7"/>
    <a:srgbClr val="A7D7A0"/>
    <a:srgbClr val="7BAFD4"/>
    <a:srgbClr val="1F77B4"/>
    <a:srgbClr val="D73131"/>
    <a:srgbClr val="E8F1FA"/>
    <a:srgbClr val="E5CC66"/>
    <a:srgbClr val="FFF5CC"/>
    <a:srgbClr val="9BD6B0"/>
    <a:srgbClr val="E8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3F18-0B0B-4B4C-81C3-BEB9DEEB96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9D92-BD37-4C6A-A51F-53AB307C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6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E005-F297-646D-926E-EFDAEB74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2AC80-539A-3C46-7A4D-4FA7B09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DBB-A058-BFB3-CFE6-235710F2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7A28-AEF8-E50B-9703-A3AFB343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0EAF8-0B07-5318-BB61-703D01B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25E-009D-77AA-4DED-FEA561A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9BD8-CCB3-96CC-28D5-1658AF84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A9CD-4268-D796-F8CC-86A64FD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E35C-8325-1807-581A-0AA9C77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3D1A-2779-B619-40E3-69D2AA5D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5C2-FB3F-44AA-790E-2194535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6362-FE04-8AEC-4EDE-22C0F11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3430-66EA-9C45-A243-4B05B9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B19F-BD28-EC4D-EFB6-6CA4E20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AFF5-B99F-537F-D8AD-7BC890DC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EDA-E266-CE8E-A098-A95BF831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7F22-5822-9F27-8BB5-8DF5B94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809D2-19D1-FD65-036A-E06973D0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6C0E-58F0-7889-2CD9-362A107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A67-2F20-325C-1652-F426EB0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D8-081F-449E-9BD3-8781E92D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ECA-2612-CBB2-AC19-6B1D9A7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C6D67-4A58-7491-5D82-A9A9F18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B0B51-54D4-00B2-94F8-F45F8748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1F84-2B2F-3780-4558-1C8885EC3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269B0-AC9C-21B0-63BC-B054D64DB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B0E5-922A-7A3C-C9AA-570A5550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3961-5846-B3AB-7E49-E1E2AA8B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F5C8-594E-E85B-6425-D352CD15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2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5A50-91BC-E4ED-DF7C-95A6A093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97F9-0B5F-B7C8-D3D0-D3F73E6C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59BD3-20CA-0E66-41C7-210BE77E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88DB8-07F0-C459-D086-1B2E531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851F-05D7-A9E3-473E-6F8D48B0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0895-07C5-6D15-D645-1797532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3331-99FB-4C2D-BA74-6A67AC5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21C9-2A76-3293-7F8A-0635A9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43D-48CC-828B-F99D-186039FF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B1AC-2719-B3BD-F7D8-F9147F7D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145B-6FFA-661A-4F3C-7B0D008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6A2B-BBD6-D7A6-4819-AB51579F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FBE36-FA4D-7035-BD05-D5C04DE4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586-B1D3-9AA8-2290-E7EC042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13894-D98F-ABB6-626D-F2A3B94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9A41-59DF-156C-7BA8-54FFE3274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6280-3410-2FCF-3790-48B23A0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C5FA-C200-0E3A-9FFA-A05DDC9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0ECAE-18B6-5717-9308-F176C443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4530-0955-3AC2-600F-0147528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FB8B-6657-DCD0-30CE-FBD6CF0E7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F223-EA60-CB27-F499-8B6F51D3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CF33-D219-B4AE-CE7F-95FD1D7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5145D-D917-7DCD-E3F4-2C6CC9C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1F4EE-C482-5C8E-2FFB-4576D3BC2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70F5-CE28-4D41-F855-0834C2C6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FC6-D7D4-E1FD-EDD1-70E42581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5C76A-5AB7-A2B0-0D6F-53EB3CB5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287C8-7376-0175-7889-CA3419E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1DD8-674B-9C28-3F07-81F06FAC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6E2-B2EB-1588-8759-C50223F9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3759-00DA-ADF8-05FD-967629D4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D3E2-249C-484A-821A-68E36AE560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7038-0616-8CE7-E616-40CD2F3D4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FD96-DF5C-05D5-6011-70F7BF69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8CD087-EE14-4708-6F0C-DB4EC9F7F8CB}"/>
              </a:ext>
            </a:extLst>
          </p:cNvPr>
          <p:cNvSpPr/>
          <p:nvPr/>
        </p:nvSpPr>
        <p:spPr>
          <a:xfrm>
            <a:off x="591876" y="705182"/>
            <a:ext cx="1481560" cy="520861"/>
          </a:xfrm>
          <a:prstGeom prst="roundRect">
            <a:avLst/>
          </a:prstGeom>
          <a:solidFill>
            <a:srgbClr val="7BAFD4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4D234-4298-99BD-48AD-BDEB8550B169}"/>
              </a:ext>
            </a:extLst>
          </p:cNvPr>
          <p:cNvSpPr txBox="1"/>
          <p:nvPr/>
        </p:nvSpPr>
        <p:spPr>
          <a:xfrm>
            <a:off x="698942" y="818528"/>
            <a:ext cx="1267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Full dataset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602CFFB-0F75-7B22-B009-1DBB90319487}"/>
              </a:ext>
            </a:extLst>
          </p:cNvPr>
          <p:cNvSpPr/>
          <p:nvPr/>
        </p:nvSpPr>
        <p:spPr>
          <a:xfrm>
            <a:off x="2341393" y="780946"/>
            <a:ext cx="999114" cy="301171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D3725C-09D3-0214-7795-B5245D911893}"/>
              </a:ext>
            </a:extLst>
          </p:cNvPr>
          <p:cNvSpPr/>
          <p:nvPr/>
        </p:nvSpPr>
        <p:spPr>
          <a:xfrm>
            <a:off x="3516789" y="563596"/>
            <a:ext cx="3379312" cy="1996565"/>
          </a:xfrm>
          <a:prstGeom prst="roundRect">
            <a:avLst/>
          </a:prstGeom>
          <a:solidFill>
            <a:srgbClr val="C7C7C7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64F1B-934C-611D-C2D2-E38E78EAC717}"/>
              </a:ext>
            </a:extLst>
          </p:cNvPr>
          <p:cNvSpPr txBox="1"/>
          <p:nvPr/>
        </p:nvSpPr>
        <p:spPr>
          <a:xfrm>
            <a:off x="3829767" y="663010"/>
            <a:ext cx="35088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Outer CV split </a:t>
            </a:r>
            <a:r>
              <a:rPr lang="en-US" sz="1200" dirty="0"/>
              <a:t>(can be either CV1 or CV2):</a:t>
            </a:r>
          </a:p>
          <a:p>
            <a:endParaRPr lang="en-US" sz="1200" dirty="0"/>
          </a:p>
          <a:p>
            <a:r>
              <a:rPr lang="en-US" sz="1200" b="1" dirty="0"/>
              <a:t>CV1 (Pair-Held-Out):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5-fold StratifiedGroupKFold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By </a:t>
            </a:r>
            <a:r>
              <a:rPr lang="en-US" sz="1200" i="1" dirty="0"/>
              <a:t>Drug Pair</a:t>
            </a:r>
          </a:p>
          <a:p>
            <a:pPr marL="171450" indent="-171450">
              <a:buFontTx/>
              <a:buChar char="-"/>
            </a:pPr>
            <a:endParaRPr lang="en-US" sz="1200" dirty="0"/>
          </a:p>
          <a:p>
            <a:r>
              <a:rPr lang="en-US" sz="1200" b="1" dirty="0"/>
              <a:t>CV2 (Pair + Strain-Held-Out):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5-fold Brute-force search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By </a:t>
            </a:r>
            <a:r>
              <a:rPr lang="en-US" sz="1200" i="1" dirty="0"/>
              <a:t>Drug pair + Strain</a:t>
            </a:r>
          </a:p>
          <a:p>
            <a:pPr marL="171450" indent="-171450">
              <a:buFontTx/>
              <a:buChar char="-"/>
            </a:pPr>
            <a:endParaRPr lang="en-US" sz="1200" dirty="0"/>
          </a:p>
          <a:p>
            <a:pPr marL="171450" indent="-171450">
              <a:buFontTx/>
              <a:buChar char="-"/>
            </a:pPr>
            <a:endParaRPr lang="en-US" sz="1200" i="1" dirty="0"/>
          </a:p>
          <a:p>
            <a:pPr marL="171450" indent="-171450">
              <a:buFontTx/>
              <a:buChar char="-"/>
            </a:pPr>
            <a:endParaRPr lang="en-US" sz="1200" dirty="0"/>
          </a:p>
          <a:p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6BDABF-F46F-8108-D678-1051049AB159}"/>
              </a:ext>
            </a:extLst>
          </p:cNvPr>
          <p:cNvGrpSpPr/>
          <p:nvPr/>
        </p:nvGrpSpPr>
        <p:grpSpPr>
          <a:xfrm>
            <a:off x="3572405" y="2659575"/>
            <a:ext cx="5436644" cy="2903025"/>
            <a:chOff x="3556485" y="3349204"/>
            <a:chExt cx="5436644" cy="2903025"/>
          </a:xfrm>
        </p:grpSpPr>
        <p:sp>
          <p:nvSpPr>
            <p:cNvPr id="15" name="Arrow: Bent-Up 14">
              <a:extLst>
                <a:ext uri="{FF2B5EF4-FFF2-40B4-BE49-F238E27FC236}">
                  <a16:creationId xmlns:a16="http://schemas.microsoft.com/office/drawing/2014/main" id="{3BC0F5AD-9B10-2A81-37DB-A1855C815D91}"/>
                </a:ext>
              </a:extLst>
            </p:cNvPr>
            <p:cNvSpPr/>
            <p:nvPr/>
          </p:nvSpPr>
          <p:spPr>
            <a:xfrm rot="5400000">
              <a:off x="3640808" y="3264881"/>
              <a:ext cx="434684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0DEF52E-7990-80BC-E755-2B83455C86EB}"/>
                </a:ext>
              </a:extLst>
            </p:cNvPr>
            <p:cNvSpPr/>
            <p:nvPr/>
          </p:nvSpPr>
          <p:spPr>
            <a:xfrm>
              <a:off x="5962424" y="5619420"/>
              <a:ext cx="2932424" cy="632809"/>
            </a:xfrm>
            <a:prstGeom prst="roundRect">
              <a:avLst/>
            </a:prstGeom>
            <a:solidFill>
              <a:srgbClr val="C7C7C7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AD2FF74-606A-34CC-4E70-75483EC16A5D}"/>
                </a:ext>
              </a:extLst>
            </p:cNvPr>
            <p:cNvGrpSpPr/>
            <p:nvPr/>
          </p:nvGrpSpPr>
          <p:grpSpPr>
            <a:xfrm>
              <a:off x="4279067" y="3378393"/>
              <a:ext cx="1601971" cy="410189"/>
              <a:chOff x="4404686" y="1350647"/>
              <a:chExt cx="1518445" cy="410189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B5F00204-5BEF-324A-A290-00048828E55C}"/>
                  </a:ext>
                </a:extLst>
              </p:cNvPr>
              <p:cNvSpPr/>
              <p:nvPr/>
            </p:nvSpPr>
            <p:spPr>
              <a:xfrm>
                <a:off x="4404686" y="1350647"/>
                <a:ext cx="1427944" cy="410189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B458EE-685F-B964-2B42-CA138E426028}"/>
                  </a:ext>
                </a:extLst>
              </p:cNvPr>
              <p:cNvSpPr txBox="1"/>
              <p:nvPr/>
            </p:nvSpPr>
            <p:spPr>
              <a:xfrm>
                <a:off x="4495187" y="1417241"/>
                <a:ext cx="14279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Outer-Train (~80%)</a:t>
                </a:r>
              </a:p>
            </p:txBody>
          </p:sp>
        </p:grpSp>
        <p:sp>
          <p:nvSpPr>
            <p:cNvPr id="21" name="Arrow: Bent-Up 20">
              <a:extLst>
                <a:ext uri="{FF2B5EF4-FFF2-40B4-BE49-F238E27FC236}">
                  <a16:creationId xmlns:a16="http://schemas.microsoft.com/office/drawing/2014/main" id="{2A4F6405-C24C-9678-F2B2-3608540AD1A8}"/>
                </a:ext>
              </a:extLst>
            </p:cNvPr>
            <p:cNvSpPr/>
            <p:nvPr/>
          </p:nvSpPr>
          <p:spPr>
            <a:xfrm rot="5400000">
              <a:off x="2786565" y="4590309"/>
              <a:ext cx="2165799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402E9F-9A2D-4C84-D3C0-136CD36552B0}"/>
                </a:ext>
              </a:extLst>
            </p:cNvPr>
            <p:cNvGrpSpPr/>
            <p:nvPr/>
          </p:nvGrpSpPr>
          <p:grpSpPr>
            <a:xfrm>
              <a:off x="4298240" y="5660695"/>
              <a:ext cx="2069626" cy="410189"/>
              <a:chOff x="4703018" y="4370616"/>
              <a:chExt cx="2069626" cy="46136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8A0CD6D-B991-3C28-32D0-B1ADD683460C}"/>
                  </a:ext>
                </a:extLst>
              </p:cNvPr>
              <p:cNvSpPr/>
              <p:nvPr/>
            </p:nvSpPr>
            <p:spPr>
              <a:xfrm>
                <a:off x="4703018" y="4370616"/>
                <a:ext cx="1547958" cy="461364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C8B780-424C-5FD5-5A3B-EF570D6295E2}"/>
                  </a:ext>
                </a:extLst>
              </p:cNvPr>
              <p:cNvSpPr txBox="1"/>
              <p:nvPr/>
            </p:nvSpPr>
            <p:spPr>
              <a:xfrm>
                <a:off x="4819244" y="4446992"/>
                <a:ext cx="195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Outer-Test (~20%)</a:t>
                </a:r>
              </a:p>
            </p:txBody>
          </p:sp>
        </p:grpSp>
        <p:sp>
          <p:nvSpPr>
            <p:cNvPr id="24" name="Arrow: Bent-Up 23">
              <a:extLst>
                <a:ext uri="{FF2B5EF4-FFF2-40B4-BE49-F238E27FC236}">
                  <a16:creationId xmlns:a16="http://schemas.microsoft.com/office/drawing/2014/main" id="{675F1424-86DC-B41E-6261-BC281DFB521A}"/>
                </a:ext>
              </a:extLst>
            </p:cNvPr>
            <p:cNvSpPr/>
            <p:nvPr/>
          </p:nvSpPr>
          <p:spPr>
            <a:xfrm rot="5400000">
              <a:off x="4505932" y="3857584"/>
              <a:ext cx="410191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493C4C-E9BF-541F-191B-D8CB9E5B86E6}"/>
                </a:ext>
              </a:extLst>
            </p:cNvPr>
            <p:cNvGrpSpPr/>
            <p:nvPr/>
          </p:nvGrpSpPr>
          <p:grpSpPr>
            <a:xfrm>
              <a:off x="5127793" y="3920141"/>
              <a:ext cx="3767055" cy="995164"/>
              <a:chOff x="5953125" y="2509223"/>
              <a:chExt cx="3484450" cy="995164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3EFC110-FC04-B348-A60E-1F929AD2B5DC}"/>
                  </a:ext>
                </a:extLst>
              </p:cNvPr>
              <p:cNvSpPr/>
              <p:nvPr/>
            </p:nvSpPr>
            <p:spPr>
              <a:xfrm>
                <a:off x="5953125" y="2509223"/>
                <a:ext cx="3484450" cy="995164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75ECF0-A694-742E-EA62-3988C11BE563}"/>
                  </a:ext>
                </a:extLst>
              </p:cNvPr>
              <p:cNvSpPr txBox="1"/>
              <p:nvPr/>
            </p:nvSpPr>
            <p:spPr>
              <a:xfrm>
                <a:off x="6089806" y="2585520"/>
                <a:ext cx="32950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Inner CV split</a:t>
                </a:r>
                <a:r>
                  <a:rPr lang="en-US" sz="1200" dirty="0"/>
                  <a:t>: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/>
                  <a:t>3-fold StratifiedGroupKFold   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/>
                  <a:t>Grouped by </a:t>
                </a:r>
                <a:r>
                  <a:rPr lang="en-US" sz="1200" i="1" dirty="0"/>
                  <a:t>Drug Pair</a:t>
                </a:r>
                <a:endParaRPr lang="en-US" sz="1200" dirty="0"/>
              </a:p>
              <a:p>
                <a:r>
                  <a:rPr lang="en-US" sz="1200" dirty="0"/>
                  <a:t>-    Pick </a:t>
                </a:r>
                <a:r>
                  <a:rPr lang="en-US" sz="1200" dirty="0" err="1"/>
                  <a:t>best_params</a:t>
                </a:r>
                <a:endParaRPr lang="en-US" sz="12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154E590-9600-7192-D65E-F53765C00220}"/>
                </a:ext>
              </a:extLst>
            </p:cNvPr>
            <p:cNvGrpSpPr/>
            <p:nvPr/>
          </p:nvGrpSpPr>
          <p:grpSpPr>
            <a:xfrm>
              <a:off x="5148644" y="5049475"/>
              <a:ext cx="3844485" cy="461363"/>
              <a:chOff x="5308179" y="2870640"/>
              <a:chExt cx="3843374" cy="46136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9AA5C01-01CD-B019-CEB5-F8481DB10952}"/>
                  </a:ext>
                </a:extLst>
              </p:cNvPr>
              <p:cNvSpPr/>
              <p:nvPr/>
            </p:nvSpPr>
            <p:spPr>
              <a:xfrm>
                <a:off x="5308179" y="2870640"/>
                <a:ext cx="3724275" cy="461363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2B53C94-18F3-8E23-D46A-51399D59B83A}"/>
                  </a:ext>
                </a:extLst>
              </p:cNvPr>
              <p:cNvSpPr txBox="1"/>
              <p:nvPr/>
            </p:nvSpPr>
            <p:spPr>
              <a:xfrm>
                <a:off x="5410431" y="2957481"/>
                <a:ext cx="3741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Re-fit final model on ALL Outer-Train with best_params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401ED5-B4EF-A424-E1F9-E16C1A917038}"/>
                </a:ext>
              </a:extLst>
            </p:cNvPr>
            <p:cNvSpPr txBox="1"/>
            <p:nvPr/>
          </p:nvSpPr>
          <p:spPr>
            <a:xfrm>
              <a:off x="6068902" y="5703015"/>
              <a:ext cx="2151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Final evaluation (unseen)</a:t>
              </a:r>
            </a:p>
            <a:p>
              <a:r>
                <a:rPr lang="en-US" sz="1200" dirty="0"/>
                <a:t>- Train vs. Test overfitting check </a:t>
              </a:r>
            </a:p>
          </p:txBody>
        </p:sp>
        <p:sp>
          <p:nvSpPr>
            <p:cNvPr id="10" name="Arrow: Bent-Up 9">
              <a:extLst>
                <a:ext uri="{FF2B5EF4-FFF2-40B4-BE49-F238E27FC236}">
                  <a16:creationId xmlns:a16="http://schemas.microsoft.com/office/drawing/2014/main" id="{549D066F-7B02-7EC8-D188-206DA68813AF}"/>
                </a:ext>
              </a:extLst>
            </p:cNvPr>
            <p:cNvSpPr/>
            <p:nvPr/>
          </p:nvSpPr>
          <p:spPr>
            <a:xfrm rot="5400000">
              <a:off x="4213446" y="4618048"/>
              <a:ext cx="995164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37BCB35-2F78-E228-CF4E-EFC32F1E19FA}"/>
              </a:ext>
            </a:extLst>
          </p:cNvPr>
          <p:cNvSpPr txBox="1"/>
          <p:nvPr/>
        </p:nvSpPr>
        <p:spPr>
          <a:xfrm>
            <a:off x="327421" y="145748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D. </a:t>
            </a:r>
            <a:r>
              <a:rPr lang="en-US" sz="2000" dirty="0"/>
              <a:t>Nested cross validation scheme</a:t>
            </a:r>
          </a:p>
        </p:txBody>
      </p:sp>
    </p:spTree>
    <p:extLst>
      <p:ext uri="{BB962C8B-B14F-4D97-AF65-F5344CB8AC3E}">
        <p14:creationId xmlns:p14="http://schemas.microsoft.com/office/powerpoint/2010/main" val="271877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89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57</cp:revision>
  <dcterms:created xsi:type="dcterms:W3CDTF">2025-11-03T17:29:49Z</dcterms:created>
  <dcterms:modified xsi:type="dcterms:W3CDTF">2026-04-15T10:00:17Z</dcterms:modified>
</cp:coreProperties>
</file>